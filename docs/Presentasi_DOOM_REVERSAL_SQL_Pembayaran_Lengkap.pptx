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6905a4828314b1e" /><Relationship Type="http://schemas.openxmlformats.org/officeDocument/2006/relationships/extended-properties" Target="/docProps/app.xml" Id="R73b51c48988545c5" /><Relationship Type="http://schemas.openxmlformats.org/officeDocument/2006/relationships/officeDocument" Target="/ppt/presentation.xml" Id="Rc927c06765e54673" /></Relationships>
</file>

<file path=ppt/presentation.xml><?xml version="1.0" encoding="utf-8"?>
<p:presentation xmlns:p="http://schemas.openxmlformats.org/presentationml/2006/main">
  <p:sldMasterIdLst>
    <p:sldMasterId xmlns:r="http://schemas.openxmlformats.org/officeDocument/2006/relationships" id="2147483648" r:id="R98103c8f080a477c"/>
  </p:sldMasterIdLst>
  <p:notesMasterIdLst>
    <p:notesMasterId xmlns:r="http://schemas.openxmlformats.org/officeDocument/2006/relationships" r:id="R038ad32e21184560"/>
  </p:notesMasterIdLst>
  <p:sldIdLst>
    <p:sldId xmlns:r="http://schemas.openxmlformats.org/officeDocument/2006/relationships" id="256" r:id="R82ee8621bfbb4a01"/>
    <p:sldId xmlns:r="http://schemas.openxmlformats.org/officeDocument/2006/relationships" id="257" r:id="Ra97a6c49eb10488f"/>
    <p:sldId xmlns:r="http://schemas.openxmlformats.org/officeDocument/2006/relationships" id="258" r:id="Rd24d3c75b33c4a92"/>
    <p:sldId xmlns:r="http://schemas.openxmlformats.org/officeDocument/2006/relationships" id="259" r:id="Ra258d9b39deb45d5"/>
    <p:sldId xmlns:r="http://schemas.openxmlformats.org/officeDocument/2006/relationships" id="260" r:id="R172b2fb0472349db"/>
    <p:sldId xmlns:r="http://schemas.openxmlformats.org/officeDocument/2006/relationships" id="261" r:id="R400f76b1efac4a16"/>
    <p:sldId xmlns:r="http://schemas.openxmlformats.org/officeDocument/2006/relationships" id="262" r:id="R4b739477da8a4967"/>
    <p:sldId xmlns:r="http://schemas.openxmlformats.org/officeDocument/2006/relationships" id="263" r:id="R718274d4789c4219"/>
    <p:sldId xmlns:r="http://schemas.openxmlformats.org/officeDocument/2006/relationships" id="264" r:id="Rc12eb88360834ad0"/>
    <p:sldId xmlns:r="http://schemas.openxmlformats.org/officeDocument/2006/relationships" id="265" r:id="R59e64abe3d314f77"/>
    <p:sldId xmlns:r="http://schemas.openxmlformats.org/officeDocument/2006/relationships" id="266" r:id="R33e591a2b33741ba"/>
    <p:sldId xmlns:r="http://schemas.openxmlformats.org/officeDocument/2006/relationships" id="267" r:id="R28d56fd32a5246be"/>
    <p:sldId xmlns:r="http://schemas.openxmlformats.org/officeDocument/2006/relationships" id="268" r:id="R0dcd6e0981a744c0"/>
    <p:sldId xmlns:r="http://schemas.openxmlformats.org/officeDocument/2006/relationships" id="269" r:id="Rc3fba5c1402e4113"/>
    <p:sldId xmlns:r="http://schemas.openxmlformats.org/officeDocument/2006/relationships" id="270" r:id="R7fa64bcde3ff4b3c"/>
    <p:sldId xmlns:r="http://schemas.openxmlformats.org/officeDocument/2006/relationships" id="271" r:id="R78276d84be0c427b"/>
    <p:sldId xmlns:r="http://schemas.openxmlformats.org/officeDocument/2006/relationships" id="272" r:id="R5c34886feab245bc"/>
    <p:sldId xmlns:r="http://schemas.openxmlformats.org/officeDocument/2006/relationships" id="273" r:id="R0cc1d9827a1a4eae"/>
    <p:sldId xmlns:r="http://schemas.openxmlformats.org/officeDocument/2006/relationships" id="274" r:id="R0b22e00003684296"/>
    <p:sldId xmlns:r="http://schemas.openxmlformats.org/officeDocument/2006/relationships" id="275" r:id="R4d9357cc3b96435c"/>
    <p:sldId xmlns:r="http://schemas.openxmlformats.org/officeDocument/2006/relationships" id="276" r:id="R1fdbf49ce3f0476f"/>
    <p:sldId xmlns:r="http://schemas.openxmlformats.org/officeDocument/2006/relationships" id="277" r:id="R744b08015a4449a8"/>
    <p:sldId xmlns:r="http://schemas.openxmlformats.org/officeDocument/2006/relationships" id="278" r:id="R6e99ae4b42d14265"/>
    <p:sldId xmlns:r="http://schemas.openxmlformats.org/officeDocument/2006/relationships" id="279" r:id="R950e0309d36b48a6"/>
    <p:sldId xmlns:r="http://schemas.openxmlformats.org/officeDocument/2006/relationships" id="280" r:id="Red33280477104caa"/>
    <p:sldId xmlns:r="http://schemas.openxmlformats.org/officeDocument/2006/relationships" id="281" r:id="Raaddac36899f4ce9"/>
    <p:sldId xmlns:r="http://schemas.openxmlformats.org/officeDocument/2006/relationships" id="282" r:id="R78138d6cb765457f"/>
    <p:sldId xmlns:r="http://schemas.openxmlformats.org/officeDocument/2006/relationships" id="283" r:id="R7ab9d4787bdb4d54"/>
    <p:sldId xmlns:r="http://schemas.openxmlformats.org/officeDocument/2006/relationships" id="284" r:id="Rcca030326405402a"/>
    <p:sldId xmlns:r="http://schemas.openxmlformats.org/officeDocument/2006/relationships" id="285" r:id="R29233897a956461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747a3c36fb46a6" /><Relationship Type="http://schemas.openxmlformats.org/officeDocument/2006/relationships/slideMaster" Target="/ppt/slideMasters/slideMaster1.xml" Id="R98103c8f080a477c" /><Relationship Type="http://schemas.openxmlformats.org/officeDocument/2006/relationships/notesMaster" Target="/ppt/notesMasters/notesMaster1.xml" Id="R038ad32e21184560" /><Relationship Type="http://schemas.openxmlformats.org/officeDocument/2006/relationships/presProps" Target="/ppt/presProps.xml" Id="R21c5dce43c494d2c" /><Relationship Type="http://schemas.openxmlformats.org/officeDocument/2006/relationships/tableStyles" Target="/ppt/tableStyles.xml" Id="R927f59c2e0e44a14" /><Relationship Type="http://schemas.openxmlformats.org/officeDocument/2006/relationships/slide" Target="/ppt/slides/slide1.xml" Id="R82ee8621bfbb4a01" /><Relationship Type="http://schemas.openxmlformats.org/officeDocument/2006/relationships/slide" Target="/ppt/slides/slide2.xml" Id="Ra97a6c49eb10488f" /><Relationship Type="http://schemas.openxmlformats.org/officeDocument/2006/relationships/slide" Target="/ppt/slides/slide3.xml" Id="Rd24d3c75b33c4a92" /><Relationship Type="http://schemas.openxmlformats.org/officeDocument/2006/relationships/slide" Target="/ppt/slides/slide4.xml" Id="Ra258d9b39deb45d5" /><Relationship Type="http://schemas.openxmlformats.org/officeDocument/2006/relationships/slide" Target="/ppt/slides/slide5.xml" Id="R172b2fb0472349db" /><Relationship Type="http://schemas.openxmlformats.org/officeDocument/2006/relationships/slide" Target="/ppt/slides/slide6.xml" Id="R400f76b1efac4a16" /><Relationship Type="http://schemas.openxmlformats.org/officeDocument/2006/relationships/slide" Target="/ppt/slides/slide7.xml" Id="R4b739477da8a4967" /><Relationship Type="http://schemas.openxmlformats.org/officeDocument/2006/relationships/slide" Target="/ppt/slides/slide8.xml" Id="R718274d4789c4219" /><Relationship Type="http://schemas.openxmlformats.org/officeDocument/2006/relationships/slide" Target="/ppt/slides/slide9.xml" Id="Rc12eb88360834ad0" /><Relationship Type="http://schemas.openxmlformats.org/officeDocument/2006/relationships/slide" Target="/ppt/slides/slide10.xml" Id="R59e64abe3d314f77" /><Relationship Type="http://schemas.openxmlformats.org/officeDocument/2006/relationships/slide" Target="/ppt/slides/slide11.xml" Id="R33e591a2b33741ba" /><Relationship Type="http://schemas.openxmlformats.org/officeDocument/2006/relationships/slide" Target="/ppt/slides/slide12.xml" Id="R28d56fd32a5246be" /><Relationship Type="http://schemas.openxmlformats.org/officeDocument/2006/relationships/slide" Target="/ppt/slides/slide13.xml" Id="R0dcd6e0981a744c0" /><Relationship Type="http://schemas.openxmlformats.org/officeDocument/2006/relationships/slide" Target="/ppt/slides/slide14.xml" Id="Rc3fba5c1402e4113" /><Relationship Type="http://schemas.openxmlformats.org/officeDocument/2006/relationships/slide" Target="/ppt/slides/slide15.xml" Id="R7fa64bcde3ff4b3c" /><Relationship Type="http://schemas.openxmlformats.org/officeDocument/2006/relationships/slide" Target="/ppt/slides/slide16.xml" Id="R78276d84be0c427b" /><Relationship Type="http://schemas.openxmlformats.org/officeDocument/2006/relationships/slide" Target="/ppt/slides/slide17.xml" Id="R5c34886feab245bc" /><Relationship Type="http://schemas.openxmlformats.org/officeDocument/2006/relationships/slide" Target="/ppt/slides/slide18.xml" Id="R0cc1d9827a1a4eae" /><Relationship Type="http://schemas.openxmlformats.org/officeDocument/2006/relationships/slide" Target="/ppt/slides/slide19.xml" Id="R0b22e00003684296" /><Relationship Type="http://schemas.openxmlformats.org/officeDocument/2006/relationships/slide" Target="/ppt/slides/slide20.xml" Id="R4d9357cc3b96435c" /><Relationship Type="http://schemas.openxmlformats.org/officeDocument/2006/relationships/slide" Target="/ppt/slides/slide21.xml" Id="R1fdbf49ce3f0476f" /><Relationship Type="http://schemas.openxmlformats.org/officeDocument/2006/relationships/slide" Target="/ppt/slides/slide22.xml" Id="R744b08015a4449a8" /><Relationship Type="http://schemas.openxmlformats.org/officeDocument/2006/relationships/slide" Target="/ppt/slides/slide23.xml" Id="R6e99ae4b42d14265" /><Relationship Type="http://schemas.openxmlformats.org/officeDocument/2006/relationships/slide" Target="/ppt/slides/slide24.xml" Id="R950e0309d36b48a6" /><Relationship Type="http://schemas.openxmlformats.org/officeDocument/2006/relationships/slide" Target="/ppt/slides/slide25.xml" Id="Red33280477104caa" /><Relationship Type="http://schemas.openxmlformats.org/officeDocument/2006/relationships/slide" Target="/ppt/slides/slide26.xml" Id="Raaddac36899f4ce9" /><Relationship Type="http://schemas.openxmlformats.org/officeDocument/2006/relationships/slide" Target="/ppt/slides/slide27.xml" Id="R78138d6cb765457f" /><Relationship Type="http://schemas.openxmlformats.org/officeDocument/2006/relationships/slide" Target="/ppt/slides/slide28.xml" Id="R7ab9d4787bdb4d54" /><Relationship Type="http://schemas.openxmlformats.org/officeDocument/2006/relationships/slide" Target="/ppt/slides/slide29.xml" Id="Rcca030326405402a" /><Relationship Type="http://schemas.openxmlformats.org/officeDocument/2006/relationships/slide" Target="/ppt/slides/slide30.xml" Id="R29233897a95646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4f1f6133974b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f3b502586b47da" /><Relationship Type="http://schemas.openxmlformats.org/officeDocument/2006/relationships/notesMaster" Target="/ppt/notesMasters/notesMaster1.xml" Id="R8b88d35195f9424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025512dd5d42df" /><Relationship Type="http://schemas.openxmlformats.org/officeDocument/2006/relationships/notesMaster" Target="/ppt/notesMasters/notesMaster1.xml" Id="R8660b935afc344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49eca3657fcd4a50" /><Relationship Type="http://schemas.openxmlformats.org/officeDocument/2006/relationships/notesMaster" Target="/ppt/notesMasters/notesMaster1.xml" Id="R8d3cb4c44ce1400f"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104d2944154e82" /><Relationship Type="http://schemas.openxmlformats.org/officeDocument/2006/relationships/notesMaster" Target="/ppt/notesMasters/notesMaster1.xml" Id="Rd3bdef71960b415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f35d9ed8c8414b" /><Relationship Type="http://schemas.openxmlformats.org/officeDocument/2006/relationships/notesMaster" Target="/ppt/notesMasters/notesMaster1.xml" Id="R89ffe4d7e8b04a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7532eeaddf80463d" /><Relationship Type="http://schemas.openxmlformats.org/officeDocument/2006/relationships/notesMaster" Target="/ppt/notesMasters/notesMaster1.xml" Id="R1991334eef334e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1af6f4ecf44c48" /><Relationship Type="http://schemas.openxmlformats.org/officeDocument/2006/relationships/notesMaster" Target="/ppt/notesMasters/notesMaster1.xml" Id="Rb95ab8cb6d364543"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b41d69d748472c" /><Relationship Type="http://schemas.openxmlformats.org/officeDocument/2006/relationships/notesMaster" Target="/ppt/notesMasters/notesMaster1.xml" Id="R71a4c85e82a5431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1e778e8caad4365" /><Relationship Type="http://schemas.openxmlformats.org/officeDocument/2006/relationships/notesMaster" Target="/ppt/notesMasters/notesMaster1.xml" Id="R583f50a4d8d14fe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19379ce588a4b0f" /><Relationship Type="http://schemas.openxmlformats.org/officeDocument/2006/relationships/notesMaster" Target="/ppt/notesMasters/notesMaster1.xml" Id="Rcc9fbe02e5dd4a2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30d8c1313c441a1" /><Relationship Type="http://schemas.openxmlformats.org/officeDocument/2006/relationships/notesMaster" Target="/ppt/notesMasters/notesMaster1.xml" Id="R1d110e0ac05b46b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7a4bae6645a4ef6" /><Relationship Type="http://schemas.openxmlformats.org/officeDocument/2006/relationships/notesMaster" Target="/ppt/notesMasters/notesMaster1.xml" Id="R43092932aaba464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08b6f6d7deb48f0" /><Relationship Type="http://schemas.openxmlformats.org/officeDocument/2006/relationships/notesMaster" Target="/ppt/notesMasters/notesMaster1.xml" Id="R83634664922e4f4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ac43ff2b5fc410a" /><Relationship Type="http://schemas.openxmlformats.org/officeDocument/2006/relationships/notesMaster" Target="/ppt/notesMasters/notesMaster1.xml" Id="Rb92db97cd1324f0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499f9cc890e41dd" /><Relationship Type="http://schemas.openxmlformats.org/officeDocument/2006/relationships/notesMaster" Target="/ppt/notesMasters/notesMaster1.xml" Id="Rc57d964d4803482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8c15c0ca4af48ce" /><Relationship Type="http://schemas.openxmlformats.org/officeDocument/2006/relationships/notesMaster" Target="/ppt/notesMasters/notesMaster1.xml" Id="R646e193c8b94469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00e571f13f644be" /><Relationship Type="http://schemas.openxmlformats.org/officeDocument/2006/relationships/notesMaster" Target="/ppt/notesMasters/notesMaster1.xml" Id="R2fa3e19ac42f468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0d689a62ed147a1" /><Relationship Type="http://schemas.openxmlformats.org/officeDocument/2006/relationships/notesMaster" Target="/ppt/notesMasters/notesMaster1.xml" Id="R1e122066f97c417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3aebb1956d1471a" /><Relationship Type="http://schemas.openxmlformats.org/officeDocument/2006/relationships/notesMaster" Target="/ppt/notesMasters/notesMaster1.xml" Id="R7966632259c8454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15981cf51624e08" /><Relationship Type="http://schemas.openxmlformats.org/officeDocument/2006/relationships/notesMaster" Target="/ppt/notesMasters/notesMaster1.xml" Id="R9e91781bdcb6449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d0b07e44347483d" /><Relationship Type="http://schemas.openxmlformats.org/officeDocument/2006/relationships/notesMaster" Target="/ppt/notesMasters/notesMaster1.xml" Id="Re178675fa2014dc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ba2aa06aaa64130" /><Relationship Type="http://schemas.openxmlformats.org/officeDocument/2006/relationships/notesMaster" Target="/ppt/notesMasters/notesMaster1.xml" Id="R13c7e8d722f64d8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f2ffa9c6ba54fad" /><Relationship Type="http://schemas.openxmlformats.org/officeDocument/2006/relationships/notesMaster" Target="/ppt/notesMasters/notesMaster1.xml" Id="Ra418e48dca5f44c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367f0f6eac241f5" /><Relationship Type="http://schemas.openxmlformats.org/officeDocument/2006/relationships/notesMaster" Target="/ppt/notesMasters/notesMaster1.xml" Id="R5d076f568fd14ed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eaec85b8cab456a" /><Relationship Type="http://schemas.openxmlformats.org/officeDocument/2006/relationships/notesMaster" Target="/ppt/notesMasters/notesMaster1.xml" Id="R604c0767c85f41f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100d0b30c5a45d8" /><Relationship Type="http://schemas.openxmlformats.org/officeDocument/2006/relationships/notesMaster" Target="/ppt/notesMasters/notesMaster1.xml" Id="R09831e97264f49b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5cefab312b94b40" /><Relationship Type="http://schemas.openxmlformats.org/officeDocument/2006/relationships/notesMaster" Target="/ppt/notesMasters/notesMaster1.xml" Id="R618e50f1139c4f1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f16183a0c9742fb" /><Relationship Type="http://schemas.openxmlformats.org/officeDocument/2006/relationships/notesMaster" Target="/ppt/notesMasters/notesMaster1.xml" Id="R8e52c4dfff78412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dc0617f1fcd46b7" /><Relationship Type="http://schemas.openxmlformats.org/officeDocument/2006/relationships/notesMaster" Target="/ppt/notesMasters/notesMaster1.xml" Id="Rba8af2990d82455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cf5c259465d4c1c" /><Relationship Type="http://schemas.openxmlformats.org/officeDocument/2006/relationships/notesMaster" Target="/ppt/notesMasters/notesMaster1.xml" Id="Rd4ace31c18f84b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Presentasi ini menjelaskan website toko pakaian lokal yang mengikuti UI DOOM REVERSAL. Fokusnya adalah implementasi PHP sesuai materi PBW pertemuan 1 sampai 7. Aplikasi mencakup katalog, akun, keranjang dan checkout simulasi. Tidak ada pembayaran atau pengiriman nyata. Nama pembuat presentasi adalah Akbar Rais Fadilla, NPM 4524210007. Versi final menggunakan MySQL/MariaDB melalui PDO.</a:t>
            </a:r>
          </a:p>
          <a:p xmlns:a="http://schemas.openxmlformats.org/drawingml/2006/main">
            <a:r>
              <a:t/>
            </a:r>
          </a:p>
          <a:p xmlns:a="http://schemas.openxmlformats.org/drawingml/2006/main">
            <a:r>
              <a:t>Source proyek: Source DOOM REVERSAL PHP MySQL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Katalog memiliki 13 produk di tabel products. Register masuk ke users. Checkout menyimpan orders dan order_items. Login dan cart tetap memakai session PHP. Kids segera hadir karena referensi tidak memiliki produk anak. Semua halaman memakai PHP native dan aset lokal. Database dapat dilihat melalui phpMyAdmin. Checkout tetap simulasi. Diskon 10% aktif saat subtotal minimal Rp 900.000. Pembayaran demo memakai tabel payments.</a:t>
            </a:r>
          </a:p>
          <a:p xmlns:a="http://schemas.openxmlformats.org/drawingml/2006/main">
            <a:r>
              <a:t/>
            </a:r>
          </a:p>
          <a:p xmlns:a="http://schemas.openxmlformats.org/drawingml/2006/main">
            <a:r>
              <a:t>Source proyek: database/doom_reversal.sql; includes/actions.php; includes/bootstrap.php</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Gambar di slide ini adalah mockup katalog dari ZIP, bukan screenshot hasil aplikasi. Website mengambil logo dan foto produk dari mockup, kemudian membuat ulang komponen menjadi HTML yang bisa berinteraksi. Perubahan meliputi pencarian, pagination, form akun dengan password dan keranjang. Label, fokus keyboard dan kondisi kosong membantu pengguna memahami langkah berikutnya. Responsive breakpoint berada pada 1000 dan 650 piksel. CSS sudah disusun untuk layar kecil, tetapi aplikasi awal belum diperiksa secara visual melalui browser.</a:t>
            </a:r>
          </a:p>
          <a:p xmlns:a="http://schemas.openxmlformats.org/drawingml/2006/main">
            <a:r>
              <a:t/>
            </a:r>
          </a:p>
          <a:p xmlns:a="http://schemas.openxmlformats.org/drawingml/2006/main">
            <a:r>
              <a:t>Source proyek: assets/style.css; includes/layout.php; index.php</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Apache menerima permintaan localhost lalu menjalankan PHP. db() membuka koneksi PDO MySQL berdasarkan config/database.php. PHP membaca produk dari products, memvalidasi input dan mengirim HTML. CSS mengatur tampilan dan JavaScript mengubah tampilan password. Status login dan cart ada pada session di server, sementara data persisten berada pada SQL. Browser membawa cookie ID sesi. Harga serta total dihitung di PHP.</a:t>
            </a:r>
          </a:p>
          <a:p xmlns:a="http://schemas.openxmlformats.org/drawingml/2006/main">
            <a:r>
              <a:t/>
            </a:r>
          </a:p>
          <a:p xmlns:a="http://schemas.openxmlformats.org/drawingml/2006/main">
            <a:r>
              <a:t>Source proyek: includes/database.php; includes/bootstrap.php; index.php</a:t>
            </a:r>
          </a:p>
          <a:p xmlns:a="http://schemas.openxmlformats.org/drawingml/2006/main">
            <a:r>
              <a:t>https://www.php.net/manual/en/intro-whatis.php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index.php memuat bootstrap, actions dan layout sebelum HTML. database.php menyediakan koneksi PDO yang digunakan ulang. config/database.php menyimpan pengaturan localhost. products.php membaca tabel products menjadi array dengan ID sebagai key. actions.php memakai prepared statements untuk register/login dan satu transaksi untuk checkout. SQL import membuat schema dan seed. Tidak ada penyimpanan store.php pada versi SQL ini.</a:t>
            </a:r>
          </a:p>
          <a:p xmlns:a="http://schemas.openxmlformats.org/drawingml/2006/main">
            <a:r>
              <a:t/>
            </a:r>
          </a:p>
          <a:p xmlns:a="http://schemas.openxmlformats.org/drawingml/2006/main">
            <a:r>
              <a:t>Source proyek: Folder doom-reversal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Tabel users menyimpan akun. products menyimpan katalog. orders menyimpan header transaksi dan order_items menyimpan detail. Foreign key order_items.order_id memakai cascade delete jika order dihapus. Foreign key product_id memakai SET NULL jika produk dihapus sehingga snapshot nama dan harga masih ada. users.id dan code serta email menggunakan key yang tepat. Keranjang dan status login tidak memiliki tabel SQL pada versi ini. payments mempunyai unique order_id. Pending dibuat saat checkout. Konfirmasi demo menyimpan metode dan referensi. COD tetap cod_pending tanpa paid_at.</a:t>
            </a:r>
          </a:p>
          <a:p xmlns:a="http://schemas.openxmlformats.org/drawingml/2006/main">
            <a:r>
              <a:t/>
            </a:r>
          </a:p>
          <a:p xmlns:a="http://schemas.openxmlformats.org/drawingml/2006/main">
            <a:r>
              <a:t>Source proyek: database/doom_reversal.sql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db() menggunakan static connection. Pada pemanggilan pertama, konfigurasi dimuat dan DSN disusun dari host, port, database serta charset utf8mb4. new PDO membuka koneksi. Error mode exception memungkinkan try/catch. FETCH_ASSOC menghasilkan key kolom pada hasil. EMULATE_PREPARES false meminta prepared statements native. Pada request yang sama, pemanggilan db berikutnya memakai objek yang sudah ada. File config adalah PHP sehingga isi kredensial tidak dicetak sebagai file teks bila Apache memproses PHP dengan benar.</a:t>
            </a:r>
          </a:p>
          <a:p xmlns:a="http://schemas.openxmlformats.org/drawingml/2006/main">
            <a:r>
              <a:t/>
            </a:r>
          </a:p>
          <a:p xmlns:a="http://schemas.openxmlformats.org/drawingml/2006/main">
            <a:r>
              <a:t>Source proyek: includes/database.php</a:t>
            </a:r>
          </a:p>
          <a:p xmlns:a="http://schemas.openxmlformats.org/drawingml/2006/main">
            <a:r>
              <a:t>https://www.php.net/manual/en/pdo.construct.php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Urutan require penting: bootstrap memulai session dan memuat produk, actions memproses POST, kemudian layout menyediakan fungsi tampilan. Variabel page berasal dari query string, contohnya index.php?page=catalog. Operator ?? memberi nilai cadangan ketika parameter tidak ada. Ternary memilih page yang valid sebagai string atau home. Daftar allowed mencegah nama route sembarang, dan route yang tidak dikenal menghasilkan HTTP 404. Aksi yang berhasil memanggil go untuk redirect sehingga refresh tidak langsung mengulang POST.</a:t>
            </a:r>
          </a:p>
          <a:p xmlns:a="http://schemas.openxmlformats.org/drawingml/2006/main">
            <a:r>
              <a:t/>
            </a:r>
          </a:p>
          <a:p xmlns:a="http://schemas.openxmlformats.org/drawingml/2006/main">
            <a:r>
              <a:t>Source proyek: index.php, bagian awal</a:t>
            </a:r>
          </a:p>
          <a:p xmlns:a="http://schemas.openxmlformats.org/drawingml/2006/main">
            <a:r>
              <a:t>https://www.php.net/manual/en/reserved.variables.get.php</a:t>
            </a:r>
          </a:p>
          <a:p xmlns:a="http://schemas.openxmlformats.org/drawingml/2006/main">
            <a:r>
              <a:t>https://www.php.net/manual/en/reserved.variables.post.php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products.php mengirim SELECT id, name, category, color, price, image, available FROM products ORDER BY id. fetchAll memberi array baris hasil query. ID dan price dikonversi menjadi integer agar operasi serta key konsisten. available menjadi boolean. Data dimasukkan ke products berdasarkan id. SIZES tetap konstanta PHP. Array tersebut merupakan representasi sementara di memory, sedangkan sumber persisten katalog adalah SQL. available bukan jumlah stok.</a:t>
            </a:r>
          </a:p>
          <a:p xmlns:a="http://schemas.openxmlformats.org/drawingml/2006/main">
            <a:r>
              <a:t/>
            </a:r>
          </a:p>
          <a:p xmlns:a="http://schemas.openxmlformats.org/drawingml/2006/main">
            <a:r>
              <a:t>Source proyek: includes/products.php; database/doom_reversal.sql</a:t>
            </a:r>
          </a:p>
          <a:p xmlns:a="http://schemas.openxmlformats.org/drawingml/2006/main">
            <a:r>
              <a:t>https://www.php.net/manual/en/language.types.array.php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Nama session dibuat khusus DOOMREVERSALSESSID agar lebih jelas saat beberapa aplikasi localhost berjalan. session_start menghubungkan request dengan data sesi di server. Cookie diberi HttpOnly dan SameSite Lax. Secure aktif ketika koneksi HTTPS terdeteksi. Akun yang sudah login disimpan sebagai array user tanpa hash password. Cart menyimpan ID produk, ukuran dan jumlah. Logout menghapus user serta memperbarui session ID, tetapi tidak menghapus cart. Masa login mengikuti sesi browser dan konfigurasi PHP. Tidak ada token remember me persisten.</a:t>
            </a:r>
          </a:p>
          <a:p xmlns:a="http://schemas.openxmlformats.org/drawingml/2006/main">
            <a:r>
              <a:t/>
            </a:r>
          </a:p>
          <a:p xmlns:a="http://schemas.openxmlformats.org/drawingml/2006/main">
            <a:r>
              <a:t>Source proyek: includes/bootstrap.php; includes/actions.php</a:t>
            </a:r>
          </a:p>
          <a:p xmlns:a="http://schemas.openxmlformats.org/drawingml/2006/main">
            <a:r>
              <a:t>https://www.php.net/manual/en/function.session-start.php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Katalog membaca category, q dan sort dari GET. foreach memasukkan produk yang cocok kategori serta query ke list. stripos mengembalikan posisi atau false. Perbandingan !== false penting karena posisi nol tetap berarti ditemukan. Setelah pengurutan, jumlah halaman adalah pembulatan ke atas count(list) dibagi enam. max membuat halaman minimal satu dan min membatasi page yang terlalu besar. array_slice mengambil bagian list sesuai offset. Filter tetap disertakan pada tautan pagination melalui http_build_query.</a:t>
            </a:r>
          </a:p>
          <a:p xmlns:a="http://schemas.openxmlformats.org/drawingml/2006/main">
            <a:r>
              <a:t/>
            </a:r>
          </a:p>
          <a:p xmlns:a="http://schemas.openxmlformats.org/drawingml/2006/main">
            <a:r>
              <a:t>Source proyek: index.php, cabang catalog</a:t>
            </a:r>
          </a:p>
          <a:p xmlns:a="http://schemas.openxmlformats.org/drawingml/2006/main">
            <a:r>
              <a:t>https://www.php.net/manual/en/function.stripos.php</a:t>
            </a:r>
          </a:p>
          <a:p xmlns:a="http://schemas.openxmlformats.org/drawingml/2006/main">
            <a:r>
              <a:t>https://www.php.net/manual/en/function.array-slice.php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detail mengirim action add, id, size, qty dan token CSRF. Server mengecek apakah ID ada di katalog, ukuran masuk SIZES dan jumlah integer 1 sampai 20. Key adalah gabungan ID dan ukuran, contohnya 1-M. Produk sama dengan ukuran berbeda harus menjadi baris berbeda. Produk sama dengan ukuran yang sama ditambah ke jumlah lama. Cek old + qty mencegah penambahan berulang melampaui batas 20. Harga tidak dikirim sebagai nilai yang dipercaya dari browser.</a:t>
            </a:r>
          </a:p>
          <a:p xmlns:a="http://schemas.openxmlformats.org/drawingml/2006/main">
            <a:r>
              <a:t/>
            </a:r>
          </a:p>
          <a:p xmlns:a="http://schemas.openxmlformats.org/drawingml/2006/main">
            <a:r>
              <a:t>Source proyek: includes/actions.php, action add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Fungsi cartRows mengubah data session yang ringkas menjadi baris siap tampil. keys berisi key keranjang, seperti 1-M dan 1-L. Counter i dimulai nol. Selama i lebih kecil dari banyaknya key, fungsi mengambil entry, mencari detail produk dan menghitung price dikali qty. Jika produk masih ada, hasilnya dimasukkan ke rows. Increment i++ memastikan loop selesai. Potongan ini menampilkan kerangka while dari fungsi asli. Bagian pembentukan rows tidak ditampilkan lengkap agar mudah dibaca.</a:t>
            </a:r>
          </a:p>
          <a:p xmlns:a="http://schemas.openxmlformats.org/drawingml/2006/main">
            <a:r>
              <a:t/>
            </a:r>
          </a:p>
          <a:p xmlns:a="http://schemas.openxmlformats.org/drawingml/2006/main">
            <a:r>
              <a:t>Source proyek: includes/bootstrap.php, cartRows()</a:t>
            </a:r>
          </a:p>
          <a:p xmlns:a="http://schemas.openxmlformats.org/drawingml/2006/main">
            <a:r>
              <a:t>https://www.php.net/manual/en/control-structures.while.php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Fungsi totals menerima baris dari cartRows. for memiliki inisialisasi i=0, kondisi i&lt;count(rows) dan update i++. Setiap subtotal ditambahkan melalui +=. DISCOUNT_THRESHOLD bernilai 900000 dan DISCOUNT_RATE bernilai float 0.10. Jika syarat terpenuhi, round menghitung diskon lalu hasil dikonversi ke integer rupiah. Jika tidak terpenuhi, diskon nol. Fungsi mengembalikan array subtotal, discount dan total. Keranjang, checkout serta riwayat memakai perhitungan yang sama.</a:t>
            </a:r>
          </a:p>
          <a:p xmlns:a="http://schemas.openxmlformats.org/drawingml/2006/main">
            <a:r>
              <a:t/>
            </a:r>
          </a:p>
          <a:p xmlns:a="http://schemas.openxmlformats.org/drawingml/2006/main">
            <a:r>
              <a:t>Source proyek: includes/bootstrap.php, totals()</a:t>
            </a:r>
          </a:p>
          <a:p xmlns:a="http://schemas.openxmlformats.org/drawingml/2006/main">
            <a:r>
              <a:t>https://www.php.net/manual/en/control-structures.for.php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Contoh ini dapat dipakai saat demo. Pilih satu produk ukuran M dengan jumlah dua dan ukuran L dengan jumlah satu. Sistem menampilkan dua baris varian. Subtotalnya 600000 + 300000 = 900000. Karena syarat menggunakan &gt;=, tepat Rp 900.000 sudah memperoleh diskon. Diskon adalah 900000 dikali 0.10 = 90000. Total menjadi 810000. Pengiriman dalam demo gratis dan bukan hasil integrasi ongkir nyata. Dengan dua hoodie, subtotal 600000 dan diskon nol.</a:t>
            </a:r>
          </a:p>
          <a:p xmlns:a="http://schemas.openxmlformats.org/drawingml/2006/main">
            <a:r>
              <a:t/>
            </a:r>
          </a:p>
          <a:p xmlns:a="http://schemas.openxmlformats.org/drawingml/2006/main">
            <a:r>
              <a:t>Source proyek: includes/bootstrap.php, konstanta dan totals()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Checkout membuat candidate code dengan prefix DR, tanggal ymd dan enam digit hex acak. Prepared SELECT mencari kode yang sama. do-while mengulang jika fetch menemukan row. Tabel orders juga mempunyai unique key code agar database menolak duplikat yang mungkin lolos karena race antar koneksi. Jika INSERT gagal, transaksi rollback dan pengguna dapat mencoba lagi. Loop ini memperlihatkan alasan minimal satu eksekusi tanpa menggunakan simulasi konfirmasi yang tidak diperlukan.</a:t>
            </a:r>
          </a:p>
          <a:p xmlns:a="http://schemas.openxmlformats.org/drawingml/2006/main">
            <a:r>
              <a:t/>
            </a:r>
          </a:p>
          <a:p xmlns:a="http://schemas.openxmlformats.org/drawingml/2006/main">
            <a:r>
              <a:t>Source proyek: includes/actions.php, checkout; SQL unique key</a:t>
            </a:r>
          </a:p>
          <a:p xmlns:a="http://schemas.openxmlformats.org/drawingml/2006/main">
            <a:r>
              <a:t>https://www.php.net/manual/en/control-structures.do.while.php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 merupakan array dua dimensi, misalnya satu baris berisi S, 100 cm dan 66 cm. Loop luar i memilih baris. Loop dalam j mengakses sel pada baris tersebut. Kode membentuk tr dan td agar data menjadi tabel. Pada index.php asli, sintaks alternatif for dan endfor bercampur dengan HTML. Potongan slide menampilkan logika yang sama dalam bentuk echo untuk memperjelas struktur, sehingga ini padanan belajar dan bukan salinan literal. Angka ukuran merupakan ilustrasi tugas, bukan spesifikasi produk resmi.</a:t>
            </a:r>
          </a:p>
          <a:p xmlns:a="http://schemas.openxmlformats.org/drawingml/2006/main">
            <a:r>
              <a:t/>
            </a:r>
          </a:p>
          <a:p xmlns:a="http://schemas.openxmlformats.org/drawingml/2006/main">
            <a:r>
              <a:t>Source proyek: index.php, Size &amp; Fit</a:t>
            </a:r>
          </a:p>
          <a:p xmlns:a="http://schemas.openxmlformats.org/drawingml/2006/main">
            <a:r>
              <a:t>https://www.php.net/manual/en/control-structures.for.php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Register memvalidasi input lalu SELECT untuk mengecek email terdaftar. Email dinormalisasi dengan strtolower. INSERT menggunakan placeholder agar nilai input menjadi data. password_hash menghasilkan hash, bukan password teks. Unique key users.email menangani duplikat termasuk race. lastInsertId menjadi ID akun baru. Session ID diperbarui dan session user hanya berisi id, name serta email. strlen memeriksa byte dan field melakukan trim, sehingga dukungan password masih mempunyai batas untuk Unicode dan spasi ujung.</a:t>
            </a:r>
          </a:p>
          <a:p xmlns:a="http://schemas.openxmlformats.org/drawingml/2006/main">
            <a:r>
              <a:t/>
            </a:r>
          </a:p>
          <a:p xmlns:a="http://schemas.openxmlformats.org/drawingml/2006/main">
            <a:r>
              <a:t>Source proyek: includes/actions.php, register; users</a:t>
            </a:r>
          </a:p>
          <a:p xmlns:a="http://schemas.openxmlformats.org/drawingml/2006/main">
            <a:r>
              <a:t>https://www.php.net/manual/en/function.password-hash.php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Login memakai prepared SELECT id, name, email, password_hash FROM users WHERE email = ?. execute menerima email dan fetch mengambil akun. password_verify mengecek input terhadap hash. Pesan kegagalan sama untuk akun tidak ditemukan dan password salah. Lima kegagalan memblokir sesi selama 60 detik. Login sukses mengganti ID session, menghapus hash dari array user dan menyimpan user pada session. Login tidak membuat row log terpisah. Rate limit masih per sesi dan password input di-trim.</a:t>
            </a:r>
          </a:p>
          <a:p xmlns:a="http://schemas.openxmlformats.org/drawingml/2006/main">
            <a:r>
              <a:t/>
            </a:r>
          </a:p>
          <a:p xmlns:a="http://schemas.openxmlformats.org/drawingml/2006/main">
            <a:r>
              <a:t>Source proyek: includes/actions.php, login; users</a:t>
            </a:r>
          </a:p>
          <a:p xmlns:a="http://schemas.openxmlformats.org/drawingml/2006/main">
            <a:r>
              <a:t>https://www.php.net/manual/en/function.password-verify.php</a:t>
            </a:r>
          </a:p>
          <a:p xmlns:a="http://schemas.openxmlformats.org/drawingml/2006/main">
            <a:r>
              <a:t>https://www.php.net/manual/en/function.session-regenerate-id.php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Checkout membutuhkan user dan cart. Server membentuk rows dari katalog SQL yang sudah dimuat dan menghitung totals. Data penerima divalidasi. Transaksi INSERT orders lalu for INSERT order_items menyimpan snapshot nama, warna, image serta unit_price. Commit baru mengosongkan cart. Jika ada kegagalan, rollback mempertahankan cart. Riwayat memakai WHERE user_id = ? dengan ID dari session. Detail pesanan dibaca melalui order_id dari hasil milik user tersebut. Potongan query slide diringkas ke kolom penting, sedangkan source asli mengambil juga alamat serta komponen total. Setelah commit, pengguna diarahkan ke page payment. Satu row payments pending dibuat dalam transaksi checkout yang sama. Riwayat menyediakan tautan melanjutkan pembayaran atau melihat bukti simulasi.</a:t>
            </a:r>
          </a:p>
          <a:p xmlns:a="http://schemas.openxmlformats.org/drawingml/2006/main">
            <a:r>
              <a:t/>
            </a:r>
          </a:p>
          <a:p xmlns:a="http://schemas.openxmlformats.org/drawingml/2006/main">
            <a:r>
              <a:t>Source proyek: includes/actions.php, checkout; index.php, account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Pembayaran berjalan setelah checkout, bukan sebelum order dibuat. Jumlah pembayaran diambil dari orders.total di server. Halaman payment hanya dapat diakses pemilik order. Bank dan e-wallet tidak memakai rekening, QR, OTP atau API nyata. Pengguna mengonfirmasi simulasi dan status menjadi paid_demo. COD menyimpan metode serta referensi tetapi paid_at tetap null dan status cod_pending. Halaman menampilkan nomor pesanan, metode, referensi dan ringkasan serta tombol cetak. Riwayat menyediakan tombol untuk pembayaran yang tertunda.</a:t>
            </a:r>
          </a:p>
          <a:p xmlns:a="http://schemas.openxmlformats.org/drawingml/2006/main">
            <a:r>
              <a:t/>
            </a:r>
          </a:p>
          <a:p xmlns:a="http://schemas.openxmlformats.org/drawingml/2006/main">
            <a:r>
              <a:t>Source proyek: includes/actions.php; index.php, payment; tabel payments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Action pay memvalidasi session, token CSRF dan metode whitelist bank, ewallet atau cod. SELECT orders JOIN payments memakai order ID serta user ID dari session, lalu FOR UPDATE menahan request kedua sampai transaksi selesai. Jika status tidak pending, konfirmasi ditolak. Nominal memakai total database, tidak percaya input pengguna. Reference DEMO dihasilkan acak. UPDATE payments menggunakan syarat pending dan orders diberi status terkait. Commit atau rollback menjaga konsistensi. Request ulang tidak mencetak transaksi baru. Potongan ini adalah ringkasan guard status.</a:t>
            </a:r>
          </a:p>
          <a:p xmlns:a="http://schemas.openxmlformats.org/drawingml/2006/main">
            <a:r>
              <a:t/>
            </a:r>
          </a:p>
          <a:p xmlns:a="http://schemas.openxmlformats.org/drawingml/2006/main">
            <a:r>
              <a:t>Source proyek: includes/actions.php, action pay</a:t>
            </a:r>
          </a:p>
          <a:p xmlns:a="http://schemas.openxmlformats.org/drawingml/2006/main">
            <a:r>
              <a:t>https://www.php.net/manual/en/pdo.begintransaction.php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PDO menghubungkan PHP dan MySQL. Native prepared statements diaktifkan dengan ATTR_EMULATE_PREPARES false. Placeholder hanya dipakai untuk nilai, bukan nama tabel atau kolom. Query berinput pengguna memakai prepare dan execute. Checkout menggunakan InnoDB dan satu transaksi untuk header serta seluruh detail. Commit menyelesaikan transaksi, rollBack membatalkan perubahan bila INSERT gagal. Jangan menjalankan DDL seperti CREATE TABLE di transaksi checkout karena MySQL dapat melakukan implicit commit. Import schema dilakukan terpisah sebelum aplikasi dipakai.</a:t>
            </a:r>
          </a:p>
          <a:p xmlns:a="http://schemas.openxmlformats.org/drawingml/2006/main">
            <a:r>
              <a:t/>
            </a:r>
          </a:p>
          <a:p xmlns:a="http://schemas.openxmlformats.org/drawingml/2006/main">
            <a:r>
              <a:t>Source proyek: includes/database.php; includes/actions.php; SQL</a:t>
            </a:r>
          </a:p>
          <a:p xmlns:a="http://schemas.openxmlformats.org/drawingml/2006/main">
            <a:r>
              <a:t>https://www.php.net/manual/en/pdo.prepare.php</a:t>
            </a:r>
          </a:p>
          <a:p xmlns:a="http://schemas.openxmlformats.org/drawingml/2006/main">
            <a:r>
              <a:t>https://www.php.net/manual/en/pdo.begintransaction.php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csrf membuat token acak 32 byte dan menyimpannya di session. tokenField mencetak hidden input. validCsrf hanya menerima nilai token string dan memakai hash_equals untuk membandingkan dengan token sesi. Token yang salah menghasilkan HTTP 403. Fungsi e memakai htmlspecialchars ENT_QUOTES UTF-8, contohnya nama berisi tag script tampil sebagai teks. Escaping berlaku untuk konteks teks HTML dan atribut yang diberi tanda kutip. Fungsi e tidak menjadi sanitizer universal untuk JavaScript, CSS atau URL. CSRF tidak menggantikan cek user, ukuran dan jumlah. Aplikasi belum mempunyai hardening penuh untuk hosting publik.</a:t>
            </a:r>
          </a:p>
          <a:p xmlns:a="http://schemas.openxmlformats.org/drawingml/2006/main">
            <a:r>
              <a:t/>
            </a:r>
          </a:p>
          <a:p xmlns:a="http://schemas.openxmlformats.org/drawingml/2006/main">
            <a:r>
              <a:t>Source proyek: includes/bootstrap.php; includes/actions.php</a:t>
            </a:r>
          </a:p>
          <a:p xmlns:a="http://schemas.openxmlformats.org/drawingml/2006/main">
            <a:r>
              <a:t>https://www.php.net/manual/en/function.htmlspecialchars.php</a:t>
            </a:r>
          </a:p>
          <a:p xmlns:a="http://schemas.openxmlformats.org/drawingml/2006/main">
            <a:r>
              <a:t>https://www.php.net/manual/en/function.hash-equals.php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grid katalog menggunakan tiga kolom pada desktop dan dua kolom pada lebar maksimal 650 piksel. Detail serta cart-layout berubah menjadi satu kolom. Preferensi reduced-motion menghilangkan transisi. app.js mencari tombol dengan data-password, mengambil input berdasarkan ID dan mengganti type antara password dan text. Teks Show atau Hide serta aria-label turut berubah. Karena server menjalankan transaksi, aplikasi masih memiliki alur inti ketika JavaScript tidak aktif. Potongan CSS di slide merupakan cuplikan aturan asli yang dipisah baris agar mudah dibaca.</a:t>
            </a:r>
          </a:p>
          <a:p xmlns:a="http://schemas.openxmlformats.org/drawingml/2006/main">
            <a:r>
              <a:t/>
            </a:r>
          </a:p>
          <a:p xmlns:a="http://schemas.openxmlformats.org/drawingml/2006/main">
            <a:r>
              <a:t>Source proyek: assets/style.css; assets/app.js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 PDF pengguna menjadi dasar implementasi, bukan daftar seluruh tugas yang harus diwujudkan sebagai halaman baru. Pertemuan 1 terlihat pada PHP dan HTML dinamis. Pertemuan 2 pada fungsi prosedural dan pemisahan include. Pertemuan 3 pada tipe data serta konstanta. Pertemuan 4 pada operator dan string. Pertemuan 5 pada cartRows dengan while. Pertemuan 6 pada kode order dengan do-while. Pertemuan 7 pada for di katalog, perhitungan dan laporan, termasuk nested for untuk tabel ukuran. Session dan hashing melengkapi alur aplikasi.</a:t>
            </a:r>
          </a:p>
          <a:p xmlns:a="http://schemas.openxmlformats.org/drawingml/2006/main">
            <a:r>
              <a:t/>
            </a:r>
          </a:p>
          <a:p xmlns:a="http://schemas.openxmlformats.org/drawingml/2006/main">
            <a:r>
              <a:t>Source proyek: Tujuh PDF PBW pengguna; source aplikasi</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XAMPP menaruh doom-reversal pada C:\xampp\htdocs dan Laragon pada C:\laragon\www. Nyalakan web server dan MySQL. Import SQL melalui phpMyAdmin atau HeidiSQL bila phpMyAdmin Laragon tidak tersedia. SQL membuat database doom_reversal, lima tabel dan 13 produk. Konfigurasi awal 127.0.0.1 port3306 root password kosong adalah default lokal. Buka localhost/doom-reversal. Demo register lalu Browse users, pilih dua varian hoodie jumlah total tiga, cek diskon, checkout dan Browse orders serta order_items. Status login dan cart tetap session, sehingga tidak muncul sebagai tabel. Setelah checkout, pilih pembayaran bank demo, konfirmasi dan lihat Bukti transaksi simulasi. Periksa row payments melalui phpMyAdmin. COD tidak menjadi lunas.</a:t>
            </a:r>
          </a:p>
          <a:p xmlns:a="http://schemas.openxmlformats.org/drawingml/2006/main">
            <a:r>
              <a:t/>
            </a:r>
          </a:p>
          <a:p xmlns:a="http://schemas.openxmlformats.org/drawingml/2006/main">
            <a:r>
              <a:t>Source proyek: README.md; config/database.php; database/doom_reversal.sql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Versi SQL memakai unique key dan foreign key serta transaksi, tetapi checkout tetap simulasi. Tidak ada payment gateway, reset email, admin atau jumlah stok. Keranjang tersimpan di session sehingga belum persisten lintas perangkat. Rate limit login per sesi mudah dilewati dengan sesi baru. Root tanpa password adalah default lokal, bukan akun produksi. Pengembangan lanjut perlu akun SQL terbatas, backup, migrasi, token reset dan kontrol akses. Versi file lama tidak otomatis dimigrasi ke SQL. Data produk serta transaksi versi final dapat diperiksa melalui phpMyAdmin. Bank dan e-wallet dapat menjadi paid_demo lewat konfirmasi tugas. COD menjadi cod_pending, bukan lunas. Tidak ada rekening atau QR nyata.</a:t>
            </a:r>
          </a:p>
          <a:p xmlns:a="http://schemas.openxmlformats.org/drawingml/2006/main">
            <a:r>
              <a:t/>
            </a:r>
          </a:p>
          <a:p xmlns:a="http://schemas.openxmlformats.org/drawingml/2006/main">
            <a:r>
              <a:t>Source proyek: README.md; SQL; includes/actions.php</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Jika dosen bertanya lokasi data, sebutkan register masuk users, katalog products, checkout header orders dan detail order_items. Login membaca users lalu membuat status sesi, bukan row login baru. Cart tetap session karena belum final. Satu user dapat mempunyai banyak orders, satu order banyak items dan item dapat mengacu produk. Prepared statements memisahkan query dari input. Transaksi mencegah header order tersimpan tanpa detail saat gagal. PHP native dipilih agar konsep dasar serta SQL terlihat langsung. Pembayaran masuk payments. Konfirmasi ulang menolak status yang bukan pending, sehingga tidak membuat pembayaran ganda.</a:t>
            </a:r>
          </a:p>
          <a:p xmlns:a="http://schemas.openxmlformats.org/drawingml/2006/main">
            <a:r>
              <a:t/>
            </a:r>
          </a:p>
          <a:p xmlns:a="http://schemas.openxmlformats.org/drawingml/2006/main">
            <a:r>
              <a:t>Source proyek: Source aplikasi; SQL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 tujuh PDF dan UI pengguna menjadi sumber utama. Source final menggunakan PDO MySQL, bukan file JSON. Potongan kode dirapikan dan diberi label bila dipadatkan atau dijadikan padanan belajar. Dokumentasi PHP memvalidasi kontrol alur, session, prepared statements, transaction dan hashing. Tujuan akhir adalah demo toko lokal berbasis materi PBW, lengkap dengan schema SQL yang dapat dilihat di phpMyAdmin.</a:t>
            </a:r>
          </a:p>
          <a:p xmlns:a="http://schemas.openxmlformats.org/drawingml/2006/main">
            <a:r>
              <a:t/>
            </a:r>
          </a:p>
          <a:p xmlns:a="http://schemas.openxmlformats.org/drawingml/2006/main">
            <a:r>
              <a:t>Source proyek: Source DOOM REVERSAL PHP MySQL</a:t>
            </a:r>
          </a:p>
          <a:p xmlns:a="http://schemas.openxmlformats.org/drawingml/2006/main">
            <a:r>
              <a:t>https://www.php.net/manual/en/pdo.prepare.php</a:t>
            </a:r>
          </a:p>
          <a:p xmlns:a="http://schemas.openxmlformats.org/drawingml/2006/main">
            <a:r>
              <a:t>https://www.php.net/manual/en/pdo.begintransaction.php</a:t>
            </a:r>
          </a:p>
          <a:p xmlns:a="http://schemas.openxmlformats.org/drawingml/2006/main">
            <a:r>
              <a:t>https://www.php.net/manual/en/function.session-start.php</a:t>
            </a:r>
          </a:p>
          <a:p xmlns:a="http://schemas.openxmlformats.org/drawingml/2006/main">
            <a:r>
              <a:t>https://www.php.net/manual/en/function.password-hash.php</a:t>
            </a:r>
          </a:p>
          <a:p xmlns:a="http://schemas.openxmlformats.org/drawingml/2006/main">
            <a:r>
              <a:t>https://www.php.net/manual/en/function.password-verify.php</a:t>
            </a:r>
          </a:p>
          <a:p xmlns:a="http://schemas.openxmlformats.org/drawingml/2006/main">
            <a:r>
              <a:t>https://www.php.net/manual/en/language.control-structures.php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193437bce641e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3a1a53d32524a6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269e1bfb4294e4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63b9721be314b6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2984b18a311459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e98ff3b99a248f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737E0D-AB4D-4F4F-B8A1-29F9AE1D82FE}"/>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0ECEB71-DA8D-4BA4-8339-691B58C8D949}"/>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341CC51-8D9B-4AC4-A1FF-177577D85D6E}"/>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D12A29-BD9F-47A1-A998-9B31E9BBD1F1}"/>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CE933AD-0444-40D8-89C0-AC0712EBED5D}"/>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207E4BF-FC75-4B12-BAD3-ED02EA3725C9}"/>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1226113-51F3-4C6C-B886-CA736CAD0C34}"/>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A66BAF2-3DBD-46FC-965D-85FCEACD2986}"/>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86612F-6F1A-47FD-8FB2-2C887D7723F2}"/>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6F15541-8A6C-449D-9E11-9422CA5C8F46}"/>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d1885966884eb6" /><Relationship Type="http://schemas.openxmlformats.org/officeDocument/2006/relationships/slideLayout" Target="/ppt/slideLayouts/slideLayout1.xml" Id="R4f9100280aa047d3" /><Relationship Type="http://schemas.openxmlformats.org/officeDocument/2006/relationships/slideLayout" Target="/ppt/slideLayouts/slideLayout2.xml" Id="R350feb95c9f74413" /><Relationship Type="http://schemas.openxmlformats.org/officeDocument/2006/relationships/slideLayout" Target="/ppt/slideLayouts/slideLayout3.xml" Id="R0510353ba26a4322" /><Relationship Type="http://schemas.openxmlformats.org/officeDocument/2006/relationships/slideLayout" Target="/ppt/slideLayouts/slideLayout4.xml" Id="Rc5ad1d92e1cd4f16" /><Relationship Type="http://schemas.openxmlformats.org/officeDocument/2006/relationships/slideLayout" Target="/ppt/slideLayouts/slideLayout5.xml" Id="Rdd03f6475f6d4132" /><Relationship Type="http://schemas.openxmlformats.org/officeDocument/2006/relationships/slideLayout" Target="/ppt/slideLayouts/slideLayout6.xml" Id="Rfccff2c4edbd45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9100280aa047d3"/>
    <p:sldLayoutId xmlns:r="http://schemas.openxmlformats.org/officeDocument/2006/relationships" id="2147483650" r:id="R350feb95c9f74413"/>
    <p:sldLayoutId xmlns:r="http://schemas.openxmlformats.org/officeDocument/2006/relationships" id="2147483651" r:id="R0510353ba26a4322"/>
    <p:sldLayoutId xmlns:r="http://schemas.openxmlformats.org/officeDocument/2006/relationships" id="2147483652" r:id="Rc5ad1d92e1cd4f16"/>
    <p:sldLayoutId xmlns:r="http://schemas.openxmlformats.org/officeDocument/2006/relationships" id="2147483653" r:id="Rdd03f6475f6d4132"/>
    <p:sldLayoutId xmlns:r="http://schemas.openxmlformats.org/officeDocument/2006/relationships" id="2147483654" r:id="Rfccff2c4edbd45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c63115f34314011" /><Relationship Type="http://schemas.openxmlformats.org/officeDocument/2006/relationships/image" Target="/ppt/media/image.jpeg" Id="Rf4db4820cf944343" /><Relationship Type="http://schemas.openxmlformats.org/officeDocument/2006/relationships/notesSlide" Target="/ppt/notesSlides/notesSlide1.xml" Id="R5d5f9c80609545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e6ed9c6974346ee" /><Relationship Type="http://schemas.openxmlformats.org/officeDocument/2006/relationships/notesSlide" Target="/ppt/notesSlides/notesSlide2.xml" Id="Ra74c979eb2b245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808d93e48294024" /><Relationship Type="http://schemas.openxmlformats.org/officeDocument/2006/relationships/image" Target="/ppt/media/image.png" Id="R8a4c0f9815f04158" /><Relationship Type="http://schemas.openxmlformats.org/officeDocument/2006/relationships/notesSlide" Target="/ppt/notesSlides/notesSlide3.xml" Id="R654d21122ea74d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3113348227242db" /><Relationship Type="http://schemas.openxmlformats.org/officeDocument/2006/relationships/notesSlide" Target="/ppt/notesSlides/notesSlide4.xml" Id="Rd4e3628b747c41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0688fe4e1fe4a4f" /><Relationship Type="http://schemas.openxmlformats.org/officeDocument/2006/relationships/notesSlide" Target="/ppt/notesSlides/notesSlide5.xml" Id="R379bd80920c248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6d8167e3a9a46e2" /><Relationship Type="http://schemas.openxmlformats.org/officeDocument/2006/relationships/notesSlide" Target="/ppt/notesSlides/notesSlide6.xml" Id="Ree1118c249e34f1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9fe1257ae174a7a" /><Relationship Type="http://schemas.openxmlformats.org/officeDocument/2006/relationships/notesSlide" Target="/ppt/notesSlides/notesSlide7.xml" Id="R3900544fd8464b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00b325a34044a13" /><Relationship Type="http://schemas.openxmlformats.org/officeDocument/2006/relationships/notesSlide" Target="/ppt/notesSlides/notesSlide8.xml" Id="Rda311eed40f94b6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752bcf023974d71" /><Relationship Type="http://schemas.openxmlformats.org/officeDocument/2006/relationships/notesSlide" Target="/ppt/notesSlides/notesSlide9.xml" Id="Ra345e784463441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26e3a3a38b04505" /><Relationship Type="http://schemas.openxmlformats.org/officeDocument/2006/relationships/notesSlide" Target="/ppt/notesSlides/notesSlide10.xml" Id="R00bd035305d74c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3ac2721a68d4e2c" /><Relationship Type="http://schemas.openxmlformats.org/officeDocument/2006/relationships/notesSlide" Target="/ppt/notesSlides/notesSlide11.xml" Id="R5aade576099d47b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120d407aa584622" /><Relationship Type="http://schemas.openxmlformats.org/officeDocument/2006/relationships/notesSlide" Target="/ppt/notesSlides/notesSlide12.xml" Id="Rdd52d698bc004df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d6ce7384a2a4548" /><Relationship Type="http://schemas.openxmlformats.org/officeDocument/2006/relationships/notesSlide" Target="/ppt/notesSlides/notesSlide13.xml" Id="R1ce041fc8c97446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21afc8ac2074638" /><Relationship Type="http://schemas.openxmlformats.org/officeDocument/2006/relationships/notesSlide" Target="/ppt/notesSlides/notesSlide14.xml" Id="Rbaf980b3146b4ff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6e511a4d83d45c7" /><Relationship Type="http://schemas.openxmlformats.org/officeDocument/2006/relationships/notesSlide" Target="/ppt/notesSlides/notesSlide15.xml" Id="R6c8ec11962cb4b9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0a112805b0241a2" /><Relationship Type="http://schemas.openxmlformats.org/officeDocument/2006/relationships/notesSlide" Target="/ppt/notesSlides/notesSlide16.xml" Id="R2146cbfe2c9a46f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f9503d729f84d2e" /><Relationship Type="http://schemas.openxmlformats.org/officeDocument/2006/relationships/notesSlide" Target="/ppt/notesSlides/notesSlide17.xml" Id="R80a64ab346af4ce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3d304806c3a4346" /><Relationship Type="http://schemas.openxmlformats.org/officeDocument/2006/relationships/notesSlide" Target="/ppt/notesSlides/notesSlide18.xml" Id="R7467a90164624fb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1559e866a504d5e" /><Relationship Type="http://schemas.openxmlformats.org/officeDocument/2006/relationships/notesSlide" Target="/ppt/notesSlides/notesSlide19.xml" Id="Read211258b354be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c342a2d892a4239" /><Relationship Type="http://schemas.openxmlformats.org/officeDocument/2006/relationships/notesSlide" Target="/ppt/notesSlides/notesSlide20.xml" Id="R6aabffd8c2f645b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755d7a561174d4c" /><Relationship Type="http://schemas.openxmlformats.org/officeDocument/2006/relationships/notesSlide" Target="/ppt/notesSlides/notesSlide21.xml" Id="R7e350f30bd9143a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3fd2aba835a428f" /><Relationship Type="http://schemas.openxmlformats.org/officeDocument/2006/relationships/notesSlide" Target="/ppt/notesSlides/notesSlide22.xml" Id="R0b2240affa49420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67b5779f8df46c7" /><Relationship Type="http://schemas.openxmlformats.org/officeDocument/2006/relationships/notesSlide" Target="/ppt/notesSlides/notesSlide23.xml" Id="Rb67f8b3059e74b7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c96a8f1f4ca4835" /><Relationship Type="http://schemas.openxmlformats.org/officeDocument/2006/relationships/notesSlide" Target="/ppt/notesSlides/notesSlide24.xml" Id="R7b3f42103f3f40e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dd50bb5ca0d4319" /><Relationship Type="http://schemas.openxmlformats.org/officeDocument/2006/relationships/notesSlide" Target="/ppt/notesSlides/notesSlide25.xml" Id="R63bdd74397da42e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78e36b080da41b4" /><Relationship Type="http://schemas.openxmlformats.org/officeDocument/2006/relationships/notesSlide" Target="/ppt/notesSlides/notesSlide26.xml" Id="R4a79cf6c701b482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1e94e8c40ae64c2a" /><Relationship Type="http://schemas.openxmlformats.org/officeDocument/2006/relationships/notesSlide" Target="/ppt/notesSlides/notesSlide27.xml" Id="R05a84d12d6794be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378900035c14dde" /><Relationship Type="http://schemas.openxmlformats.org/officeDocument/2006/relationships/notesSlide" Target="/ppt/notesSlides/notesSlide28.xml" Id="Rae5581b25fe64e7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4aa09ed4fd964d1e" /><Relationship Type="http://schemas.openxmlformats.org/officeDocument/2006/relationships/notesSlide" Target="/ppt/notesSlides/notesSlide29.xml" Id="R33f50701c5d8448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5e9e4733ed5499c" /><Relationship Type="http://schemas.openxmlformats.org/officeDocument/2006/relationships/notesSlide" Target="/ppt/notesSlides/notesSlide30.xml" Id="R926d798558d14ad1" /></Relationships>
</file>

<file path=ppt/slides/slide1.xml><?xml version="1.0" encoding="utf-8"?>
<p:sld xmlns:p="http://schemas.openxmlformats.org/presentationml/2006/main">
  <p:cSld>
    <p:bg>
      <p:bgPr>
        <a:solidFill xmlns:a="http://schemas.openxmlformats.org/drawingml/2006/main">
          <a:srgbClr val="101112"/>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AA407B23-537A-4D30-BE1E-8115FCC67509}"/>
              </a:ext>
            </a:extLst>
          </p:cNvPr>
          <p:cNvPicPr>
            <a:picLocks xmlns:a="http://schemas.openxmlformats.org/drawingml/2006/main" noChangeAspect="1"/>
          </p:cNvPicPr>
          <p:nvPr/>
        </p:nvPicPr>
        <p:blipFill>
          <a:blip xmlns:r="http://schemas.openxmlformats.org/officeDocument/2006/relationships" xmlns:a="http://schemas.openxmlformats.org/drawingml/2006/main" r:embed="Rf4db4820cf944343"/>
          <a:srcRect xmlns:a="http://schemas.openxmlformats.org/drawingml/2006/main" l="8205" t="0" r="8205" b="0"/>
          <a:stretch xmlns:a="http://schemas.openxmlformats.org/drawingml/2006/main">
            <a:fillRect l="0" t="0" r="0" b="0"/>
          </a:stretch>
        </p:blipFill>
        <p:spPr>
          <a:xfrm xmlns:a="http://schemas.openxmlformats.org/drawingml/2006/main">
            <a:off x="9525000" y="0"/>
            <a:ext cx="5715000" cy="8572500"/>
          </a:xfrm>
          <a:prstGeom xmlns:a="http://schemas.openxmlformats.org/drawingml/2006/main" prst="rect">
            <a:avLst/>
          </a:prstGeom>
        </p:spPr>
      </p:pic>
      <p:sp>
        <p:nvSpPr>
          <p:cNvPr id="2" name="cover-title">
            <a:extLst xmlns:a="http://schemas.openxmlformats.org/drawingml/2006/main">
              <a:ext uri="{FF2B5EF4-FFF2-40B4-BE49-F238E27FC236}">
                <a16:creationId xmlns:a16="http://schemas.microsoft.com/office/drawing/2014/main" id="{D6C8DCEA-6D7F-4B30-AE66-725BB2BAA16C}"/>
              </a:ext>
            </a:extLst>
          </p:cNvPr>
          <p:cNvSpPr>
            <a:spLocks xmlns:a="http://schemas.openxmlformats.org/drawingml/2006/main" noGrp="1"/>
          </p:cNvSpPr>
          <p:nvPr/>
        </p:nvSpPr>
        <p:spPr>
          <a:xfrm xmlns:a="http://schemas.openxmlformats.org/drawingml/2006/main">
            <a:off x="762000" y="2095500"/>
            <a:ext cx="8286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5400" b="1">
                <a:solidFill>
                  <a:srgbClr val="FFFFFF"/>
                </a:solidFill>
                <a:latin typeface="DejaVu Sans"/>
                <a:ea typeface="DejaVu Sans"/>
                <a:cs typeface="DejaVu Sans"/>
              </a:defRPr>
            </a:defPPr>
          </a:lstStyle>
          <a:p xmlns:a="http://schemas.openxmlformats.org/drawingml/2006/main">
            <a:pPr>
              <a:defRPr sz="5400" b="1">
                <a:solidFill>
                  <a:srgbClr val="FFFFFF"/>
                </a:solidFill>
                <a:latin typeface="DejaVu Sans"/>
                <a:ea typeface="DejaVu Sans"/>
                <a:cs typeface="DejaVu Sans"/>
              </a:defRPr>
            </a:pPr>
            <a:r>
              <a:rPr sz="5400" b="1">
                <a:solidFill>
                  <a:srgbClr val="FFFFFF"/>
                </a:solidFill>
                <a:latin typeface="DejaVu Sans"/>
                <a:ea typeface="DejaVu Sans"/>
                <a:cs typeface="DejaVu Sans"/>
              </a:rPr>
              <a:t>DOOM REVERSAL</a:t>
            </a:r>
          </a:p>
        </p:txBody>
      </p:sp>
      <p:sp>
        <p:nvSpPr>
          <p:cNvPr id="3" name="cover-subtitle">
            <a:extLst xmlns:a="http://schemas.openxmlformats.org/drawingml/2006/main">
              <a:ext uri="{FF2B5EF4-FFF2-40B4-BE49-F238E27FC236}">
                <a16:creationId xmlns:a16="http://schemas.microsoft.com/office/drawing/2014/main" id="{42F0485F-D33C-4CF5-B2E6-5988986F6056}"/>
              </a:ext>
            </a:extLst>
          </p:cNvPr>
          <p:cNvSpPr>
            <a:spLocks xmlns:a="http://schemas.openxmlformats.org/drawingml/2006/main" noGrp="1"/>
          </p:cNvSpPr>
          <p:nvPr/>
        </p:nvSpPr>
        <p:spPr>
          <a:xfrm xmlns:a="http://schemas.openxmlformats.org/drawingml/2006/main">
            <a:off x="800100" y="3276600"/>
            <a:ext cx="7620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0">
                <a:solidFill>
                  <a:srgbClr val="FFFFFF"/>
                </a:solidFill>
                <a:latin typeface="DejaVu Sans"/>
                <a:ea typeface="DejaVu Sans"/>
                <a:cs typeface="DejaVu Sans"/>
              </a:defRPr>
            </a:defPPr>
          </a:lstStyle>
          <a:p xmlns:a="http://schemas.openxmlformats.org/drawingml/2006/main">
            <a:pPr>
              <a:defRPr sz="2700" b="0">
                <a:solidFill>
                  <a:srgbClr val="FFFFFF"/>
                </a:solidFill>
                <a:latin typeface="DejaVu Sans"/>
                <a:ea typeface="DejaVu Sans"/>
                <a:cs typeface="DejaVu Sans"/>
              </a:defRPr>
            </a:pPr>
            <a:r>
              <a:rPr sz="2700" b="0">
                <a:solidFill>
                  <a:srgbClr val="FFFFFF"/>
                </a:solidFill>
                <a:latin typeface="DejaVu Sans"/>
                <a:ea typeface="DejaVu Sans"/>
                <a:cs typeface="DejaVu Sans"/>
              </a:rPr>
              <a:t>Website toko pakaian dengan PHP native dan MySQL</a:t>
            </a:r>
          </a:p>
        </p:txBody>
      </p:sp>
      <p:sp>
        <p:nvSpPr>
          <p:cNvPr id="4" name="author">
            <a:extLst xmlns:a="http://schemas.openxmlformats.org/drawingml/2006/main">
              <a:ext uri="{FF2B5EF4-FFF2-40B4-BE49-F238E27FC236}">
                <a16:creationId xmlns:a16="http://schemas.microsoft.com/office/drawing/2014/main" id="{0B85C840-739F-475D-AA45-1DEED2286883}"/>
              </a:ext>
            </a:extLst>
          </p:cNvPr>
          <p:cNvSpPr>
            <a:spLocks xmlns:a="http://schemas.openxmlformats.org/drawingml/2006/main" noGrp="1"/>
          </p:cNvSpPr>
          <p:nvPr/>
        </p:nvSpPr>
        <p:spPr>
          <a:xfrm xmlns:a="http://schemas.openxmlformats.org/drawingml/2006/main">
            <a:off x="800100" y="6572250"/>
            <a:ext cx="7429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0">
                <a:solidFill>
                  <a:srgbClr val="B5B7BB"/>
                </a:solidFill>
                <a:latin typeface="DejaVu Sans"/>
                <a:ea typeface="DejaVu Sans"/>
                <a:cs typeface="DejaVu Sans"/>
              </a:defRPr>
            </a:defPPr>
          </a:lstStyle>
          <a:p xmlns:a="http://schemas.openxmlformats.org/drawingml/2006/main">
            <a:pPr>
              <a:defRPr sz="1950" b="0">
                <a:solidFill>
                  <a:srgbClr val="B5B7BB"/>
                </a:solidFill>
                <a:latin typeface="DejaVu Sans"/>
                <a:ea typeface="DejaVu Sans"/>
                <a:cs typeface="DejaVu Sans"/>
              </a:defRPr>
            </a:pPr>
            <a:r>
              <a:rPr sz="1950" b="0">
                <a:solidFill>
                  <a:srgbClr val="B5B7BB"/>
                </a:solidFill>
                <a:latin typeface="DejaVu Sans"/>
                <a:ea typeface="DejaVu Sans"/>
                <a:cs typeface="DejaVu Sans"/>
              </a:rPr>
              <a:t>Akbar Rais Fadilla</a:t>
            </a:r>
          </a:p>
          <a:p xmlns:a="http://schemas.openxmlformats.org/drawingml/2006/main">
            <a:pPr>
              <a:defRPr sz="1950" b="0">
                <a:solidFill>
                  <a:srgbClr val="B5B7BB"/>
                </a:solidFill>
                <a:latin typeface="DejaVu Sans"/>
                <a:ea typeface="DejaVu Sans"/>
                <a:cs typeface="DejaVu Sans"/>
              </a:defRPr>
            </a:pPr>
            <a:r>
              <a:rPr sz="1950" b="0">
                <a:solidFill>
                  <a:srgbClr val="B5B7BB"/>
                </a:solidFill>
                <a:latin typeface="DejaVu Sans"/>
                <a:ea typeface="DejaVu Sans"/>
                <a:cs typeface="DejaVu Sans"/>
              </a:rPr>
              <a:t>NPM 4524210007</a:t>
            </a:r>
          </a:p>
        </p:txBody>
      </p:sp>
      <p:sp>
        <p:nvSpPr>
          <p:cNvPr id="5" name="page-number">
            <a:extLst xmlns:a="http://schemas.openxmlformats.org/drawingml/2006/main">
              <a:ext uri="{FF2B5EF4-FFF2-40B4-BE49-F238E27FC236}">
                <a16:creationId xmlns:a16="http://schemas.microsoft.com/office/drawing/2014/main" id="{EBE5AB01-0DDB-431F-B6C2-BE394A74ACC1}"/>
              </a:ext>
            </a:extLst>
          </p:cNvPr>
          <p:cNvSpPr>
            <a:spLocks xmlns:a="http://schemas.openxmlformats.org/drawingml/2006/main" noGrp="1"/>
          </p:cNvSpPr>
          <p:nvPr/>
        </p:nvSpPr>
        <p:spPr>
          <a:xfrm xmlns:a="http://schemas.openxmlformats.org/drawingml/2006/main">
            <a:off x="14097000" y="79819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888888"/>
                </a:solidFill>
                <a:latin typeface="DejaVu Sans"/>
                <a:ea typeface="DejaVu Sans"/>
                <a:cs typeface="DejaVu Sans"/>
              </a:defRPr>
            </a:defPPr>
          </a:lstStyle>
          <a:p xmlns:a="http://schemas.openxmlformats.org/drawingml/2006/main">
            <a:pPr>
              <a:defRPr sz="1350" b="0">
                <a:solidFill>
                  <a:srgbClr val="888888"/>
                </a:solidFill>
                <a:latin typeface="DejaVu Sans"/>
                <a:ea typeface="DejaVu Sans"/>
                <a:cs typeface="DejaVu Sans"/>
              </a:defRPr>
            </a:pPr>
            <a:r>
              <a:rPr sz="1350" b="0">
                <a:solidFill>
                  <a:srgbClr val="888888"/>
                </a:solidFill>
                <a:latin typeface="DejaVu Sans"/>
                <a:ea typeface="DejaVu Sans"/>
                <a:cs typeface="DejaVu Sans"/>
              </a:rPr>
              <a:t>01</a:t>
            </a:r>
          </a:p>
        </p:txBody>
      </p:sp>
    </p:spTree>
    <p:extLst>
      <p:ext uri="{BB962C8B-B14F-4D97-AF65-F5344CB8AC3E}">
        <p14:creationId xmlns:p14="http://schemas.microsoft.com/office/powerpoint/2010/main" val="184487667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C67B21F7-2384-4432-BD77-7DE8DB7AA31F}"/>
              </a:ext>
            </a:extLst>
          </p:cNvPr>
          <p:cNvSpPr>
            <a:spLocks xmlns:a="http://schemas.openxmlformats.org/drawingml/2006/main" noGrp="1"/>
          </p:cNvSpPr>
          <p:nvPr/>
        </p:nvSpPr>
        <p:spPr>
          <a:xfrm xmlns:a="http://schemas.openxmlformats.org/drawingml/2006/main">
            <a:off x="762000" y="609600"/>
            <a:ext cx="1371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111111"/>
                </a:solidFill>
                <a:latin typeface="DejaVu Sans"/>
                <a:ea typeface="DejaVu Sans"/>
                <a:cs typeface="DejaVu Sans"/>
              </a:defRPr>
            </a:defPPr>
          </a:lstStyle>
          <a:p xmlns:a="http://schemas.openxmlformats.org/drawingml/2006/main">
            <a:pPr>
              <a:defRPr sz="3600" b="1">
                <a:solidFill>
                  <a:srgbClr val="111111"/>
                </a:solidFill>
                <a:latin typeface="DejaVu Sans"/>
                <a:ea typeface="DejaVu Sans"/>
                <a:cs typeface="DejaVu Sans"/>
              </a:defRPr>
            </a:pPr>
            <a:r>
              <a:rPr sz="3600" b="1">
                <a:solidFill>
                  <a:srgbClr val="111111"/>
                </a:solidFill>
                <a:latin typeface="DejaVu Sans"/>
                <a:ea typeface="DejaVu Sans"/>
                <a:cs typeface="DejaVu Sans"/>
              </a:rPr>
              <a:t>Gambaran aplikasi</a:t>
            </a:r>
          </a:p>
        </p:txBody>
      </p:sp>
      <p:sp>
        <p:nvSpPr>
          <p:cNvPr id="2" name="index-0">
            <a:extLst xmlns:a="http://schemas.openxmlformats.org/drawingml/2006/main">
              <a:ext uri="{FF2B5EF4-FFF2-40B4-BE49-F238E27FC236}">
                <a16:creationId xmlns:a16="http://schemas.microsoft.com/office/drawing/2014/main" id="{C54CDF6B-1F56-489C-A3B4-04565DFDEAC7}"/>
              </a:ext>
            </a:extLst>
          </p:cNvPr>
          <p:cNvSpPr>
            <a:spLocks xmlns:a="http://schemas.openxmlformats.org/drawingml/2006/main" noGrp="1"/>
          </p:cNvSpPr>
          <p:nvPr/>
        </p:nvSpPr>
        <p:spPr>
          <a:xfrm xmlns:a="http://schemas.openxmlformats.org/drawingml/2006/main">
            <a:off x="762000" y="2114550"/>
            <a:ext cx="781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D82929"/>
                </a:solidFill>
                <a:latin typeface="DejaVu Sans"/>
                <a:ea typeface="DejaVu Sans"/>
                <a:cs typeface="DejaVu Sans"/>
              </a:defRPr>
            </a:defPPr>
          </a:lstStyle>
          <a:p xmlns:a="http://schemas.openxmlformats.org/drawingml/2006/main">
            <a:pPr>
              <a:defRPr sz="1875" b="1">
                <a:solidFill>
                  <a:srgbClr val="D82929"/>
                </a:solidFill>
                <a:latin typeface="DejaVu Sans"/>
                <a:ea typeface="DejaVu Sans"/>
                <a:cs typeface="DejaVu Sans"/>
              </a:defRPr>
            </a:pPr>
            <a:r>
              <a:rPr sz="1875" b="1">
                <a:solidFill>
                  <a:srgbClr val="D82929"/>
                </a:solidFill>
                <a:latin typeface="DejaVu Sans"/>
                <a:ea typeface="DejaVu Sans"/>
                <a:cs typeface="DejaVu Sans"/>
              </a:rPr>
              <a:t>01</a:t>
            </a:r>
          </a:p>
        </p:txBody>
      </p:sp>
      <p:sp>
        <p:nvSpPr>
          <p:cNvPr id="3" name="point-0">
            <a:extLst xmlns:a="http://schemas.openxmlformats.org/drawingml/2006/main">
              <a:ext uri="{FF2B5EF4-FFF2-40B4-BE49-F238E27FC236}">
                <a16:creationId xmlns:a16="http://schemas.microsoft.com/office/drawing/2014/main" id="{B8F018F5-53B5-4014-9439-4E3517DE2A43}"/>
              </a:ext>
            </a:extLst>
          </p:cNvPr>
          <p:cNvSpPr>
            <a:spLocks xmlns:a="http://schemas.openxmlformats.org/drawingml/2006/main" noGrp="1"/>
          </p:cNvSpPr>
          <p:nvPr/>
        </p:nvSpPr>
        <p:spPr>
          <a:xfrm xmlns:a="http://schemas.openxmlformats.org/drawingml/2006/main">
            <a:off x="1809750" y="2076450"/>
            <a:ext cx="12192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111111"/>
                </a:solidFill>
                <a:latin typeface="DejaVu Sans"/>
                <a:ea typeface="DejaVu Sans"/>
                <a:cs typeface="DejaVu Sans"/>
              </a:defRPr>
            </a:defPPr>
          </a:lstStyle>
          <a:p xmlns:a="http://schemas.openxmlformats.org/drawingml/2006/main">
            <a:pPr>
              <a:defRPr sz="2550" b="0">
                <a:solidFill>
                  <a:srgbClr val="111111"/>
                </a:solidFill>
                <a:latin typeface="DejaVu Sans"/>
                <a:ea typeface="DejaVu Sans"/>
                <a:cs typeface="DejaVu Sans"/>
              </a:defRPr>
            </a:pPr>
            <a:r>
              <a:rPr sz="2550" b="0">
                <a:solidFill>
                  <a:srgbClr val="111111"/>
                </a:solidFill>
                <a:latin typeface="DejaVu Sans"/>
                <a:ea typeface="DejaVu Sans"/>
                <a:cs typeface="DejaVu Sans"/>
              </a:rPr>
              <a:t>13 produk dalam koleksi Men, Women, dan Pants</a:t>
            </a:r>
          </a:p>
        </p:txBody>
      </p:sp>
      <p:sp>
        <p:nvSpPr>
          <p:cNvPr id="4" name="index-1">
            <a:extLst xmlns:a="http://schemas.openxmlformats.org/drawingml/2006/main">
              <a:ext uri="{FF2B5EF4-FFF2-40B4-BE49-F238E27FC236}">
                <a16:creationId xmlns:a16="http://schemas.microsoft.com/office/drawing/2014/main" id="{36E97A63-13BD-4275-B7B7-45F1C4CCD99D}"/>
              </a:ext>
            </a:extLst>
          </p:cNvPr>
          <p:cNvSpPr>
            <a:spLocks xmlns:a="http://schemas.openxmlformats.org/drawingml/2006/main" noGrp="1"/>
          </p:cNvSpPr>
          <p:nvPr/>
        </p:nvSpPr>
        <p:spPr>
          <a:xfrm xmlns:a="http://schemas.openxmlformats.org/drawingml/2006/main">
            <a:off x="762000" y="3495675"/>
            <a:ext cx="781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D82929"/>
                </a:solidFill>
                <a:latin typeface="DejaVu Sans"/>
                <a:ea typeface="DejaVu Sans"/>
                <a:cs typeface="DejaVu Sans"/>
              </a:defRPr>
            </a:defPPr>
          </a:lstStyle>
          <a:p xmlns:a="http://schemas.openxmlformats.org/drawingml/2006/main">
            <a:pPr>
              <a:defRPr sz="1875" b="1">
                <a:solidFill>
                  <a:srgbClr val="D82929"/>
                </a:solidFill>
                <a:latin typeface="DejaVu Sans"/>
                <a:ea typeface="DejaVu Sans"/>
                <a:cs typeface="DejaVu Sans"/>
              </a:defRPr>
            </a:pPr>
            <a:r>
              <a:rPr sz="1875" b="1">
                <a:solidFill>
                  <a:srgbClr val="D82929"/>
                </a:solidFill>
                <a:latin typeface="DejaVu Sans"/>
                <a:ea typeface="DejaVu Sans"/>
                <a:cs typeface="DejaVu Sans"/>
              </a:rPr>
              <a:t>02</a:t>
            </a:r>
          </a:p>
        </p:txBody>
      </p:sp>
      <p:sp>
        <p:nvSpPr>
          <p:cNvPr id="5" name="point-1">
            <a:extLst xmlns:a="http://schemas.openxmlformats.org/drawingml/2006/main">
              <a:ext uri="{FF2B5EF4-FFF2-40B4-BE49-F238E27FC236}">
                <a16:creationId xmlns:a16="http://schemas.microsoft.com/office/drawing/2014/main" id="{2DAEC1D5-8D3D-486E-9FEA-49A836A26255}"/>
              </a:ext>
            </a:extLst>
          </p:cNvPr>
          <p:cNvSpPr>
            <a:spLocks xmlns:a="http://schemas.openxmlformats.org/drawingml/2006/main" noGrp="1"/>
          </p:cNvSpPr>
          <p:nvPr/>
        </p:nvSpPr>
        <p:spPr>
          <a:xfrm xmlns:a="http://schemas.openxmlformats.org/drawingml/2006/main">
            <a:off x="1809750" y="3457575"/>
            <a:ext cx="12192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111111"/>
                </a:solidFill>
                <a:latin typeface="DejaVu Sans"/>
                <a:ea typeface="DejaVu Sans"/>
                <a:cs typeface="DejaVu Sans"/>
              </a:defRPr>
            </a:defPPr>
          </a:lstStyle>
          <a:p xmlns:a="http://schemas.openxmlformats.org/drawingml/2006/main">
            <a:pPr>
              <a:defRPr sz="2550" b="0">
                <a:solidFill>
                  <a:srgbClr val="111111"/>
                </a:solidFill>
                <a:latin typeface="DejaVu Sans"/>
                <a:ea typeface="DejaVu Sans"/>
                <a:cs typeface="DejaVu Sans"/>
              </a:defRPr>
            </a:pPr>
            <a:r>
              <a:rPr sz="2550" b="0">
                <a:solidFill>
                  <a:srgbClr val="111111"/>
                </a:solidFill>
                <a:latin typeface="DejaVu Sans"/>
                <a:ea typeface="DejaVu Sans"/>
                <a:cs typeface="DejaVu Sans"/>
              </a:rPr>
              <a:t>Pencarian, pagination, dan pilihan ukuran</a:t>
            </a:r>
          </a:p>
        </p:txBody>
      </p:sp>
      <p:sp>
        <p:nvSpPr>
          <p:cNvPr id="6" name="index-2">
            <a:extLst xmlns:a="http://schemas.openxmlformats.org/drawingml/2006/main">
              <a:ext uri="{FF2B5EF4-FFF2-40B4-BE49-F238E27FC236}">
                <a16:creationId xmlns:a16="http://schemas.microsoft.com/office/drawing/2014/main" id="{BA71E00F-0103-48BE-B3FD-D38F5633F63C}"/>
              </a:ext>
            </a:extLst>
          </p:cNvPr>
          <p:cNvSpPr>
            <a:spLocks xmlns:a="http://schemas.openxmlformats.org/drawingml/2006/main" noGrp="1"/>
          </p:cNvSpPr>
          <p:nvPr/>
        </p:nvSpPr>
        <p:spPr>
          <a:xfrm xmlns:a="http://schemas.openxmlformats.org/drawingml/2006/main">
            <a:off x="762000" y="4876800"/>
            <a:ext cx="781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D82929"/>
                </a:solidFill>
                <a:latin typeface="DejaVu Sans"/>
                <a:ea typeface="DejaVu Sans"/>
                <a:cs typeface="DejaVu Sans"/>
              </a:defRPr>
            </a:defPPr>
          </a:lstStyle>
          <a:p xmlns:a="http://schemas.openxmlformats.org/drawingml/2006/main">
            <a:pPr>
              <a:defRPr sz="1875" b="1">
                <a:solidFill>
                  <a:srgbClr val="D82929"/>
                </a:solidFill>
                <a:latin typeface="DejaVu Sans"/>
                <a:ea typeface="DejaVu Sans"/>
                <a:cs typeface="DejaVu Sans"/>
              </a:defRPr>
            </a:pPr>
            <a:r>
              <a:rPr sz="1875" b="1">
                <a:solidFill>
                  <a:srgbClr val="D82929"/>
                </a:solidFill>
                <a:latin typeface="DejaVu Sans"/>
                <a:ea typeface="DejaVu Sans"/>
                <a:cs typeface="DejaVu Sans"/>
              </a:rPr>
              <a:t>03</a:t>
            </a:r>
          </a:p>
        </p:txBody>
      </p:sp>
      <p:sp>
        <p:nvSpPr>
          <p:cNvPr id="7" name="point-2">
            <a:extLst xmlns:a="http://schemas.openxmlformats.org/drawingml/2006/main">
              <a:ext uri="{FF2B5EF4-FFF2-40B4-BE49-F238E27FC236}">
                <a16:creationId xmlns:a16="http://schemas.microsoft.com/office/drawing/2014/main" id="{7A8609A4-C207-434D-B603-2A95242AF5A4}"/>
              </a:ext>
            </a:extLst>
          </p:cNvPr>
          <p:cNvSpPr>
            <a:spLocks xmlns:a="http://schemas.openxmlformats.org/drawingml/2006/main" noGrp="1"/>
          </p:cNvSpPr>
          <p:nvPr/>
        </p:nvSpPr>
        <p:spPr>
          <a:xfrm xmlns:a="http://schemas.openxmlformats.org/drawingml/2006/main">
            <a:off x="1809750" y="4838700"/>
            <a:ext cx="12192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111111"/>
                </a:solidFill>
                <a:latin typeface="DejaVu Sans"/>
                <a:ea typeface="DejaVu Sans"/>
                <a:cs typeface="DejaVu Sans"/>
              </a:defRPr>
            </a:defPPr>
          </a:lstStyle>
          <a:p xmlns:a="http://schemas.openxmlformats.org/drawingml/2006/main">
            <a:pPr>
              <a:defRPr sz="2550" b="0">
                <a:solidFill>
                  <a:srgbClr val="111111"/>
                </a:solidFill>
                <a:latin typeface="DejaVu Sans"/>
                <a:ea typeface="DejaVu Sans"/>
                <a:cs typeface="DejaVu Sans"/>
              </a:defRPr>
            </a:pPr>
            <a:r>
              <a:rPr sz="2550" b="0">
                <a:solidFill>
                  <a:srgbClr val="111111"/>
                </a:solidFill>
                <a:latin typeface="DejaVu Sans"/>
                <a:ea typeface="DejaVu Sans"/>
                <a:cs typeface="DejaVu Sans"/>
              </a:rPr>
              <a:t>Akun, keranjang, riwayat, dan pembayaran simulasi</a:t>
            </a:r>
          </a:p>
        </p:txBody>
      </p:sp>
      <p:sp>
        <p:nvSpPr>
          <p:cNvPr id="8" name="index-3">
            <a:extLst xmlns:a="http://schemas.openxmlformats.org/drawingml/2006/main">
              <a:ext uri="{FF2B5EF4-FFF2-40B4-BE49-F238E27FC236}">
                <a16:creationId xmlns:a16="http://schemas.microsoft.com/office/drawing/2014/main" id="{97FE3B6F-061A-4623-8200-BA95A473B580}"/>
              </a:ext>
            </a:extLst>
          </p:cNvPr>
          <p:cNvSpPr>
            <a:spLocks xmlns:a="http://schemas.openxmlformats.org/drawingml/2006/main" noGrp="1"/>
          </p:cNvSpPr>
          <p:nvPr/>
        </p:nvSpPr>
        <p:spPr>
          <a:xfrm xmlns:a="http://schemas.openxmlformats.org/drawingml/2006/main">
            <a:off x="762000" y="6257925"/>
            <a:ext cx="781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D82929"/>
                </a:solidFill>
                <a:latin typeface="DejaVu Sans"/>
                <a:ea typeface="DejaVu Sans"/>
                <a:cs typeface="DejaVu Sans"/>
              </a:defRPr>
            </a:defPPr>
          </a:lstStyle>
          <a:p xmlns:a="http://schemas.openxmlformats.org/drawingml/2006/main">
            <a:pPr>
              <a:defRPr sz="1875" b="1">
                <a:solidFill>
                  <a:srgbClr val="D82929"/>
                </a:solidFill>
                <a:latin typeface="DejaVu Sans"/>
                <a:ea typeface="DejaVu Sans"/>
                <a:cs typeface="DejaVu Sans"/>
              </a:defRPr>
            </a:pPr>
            <a:r>
              <a:rPr sz="1875" b="1">
                <a:solidFill>
                  <a:srgbClr val="D82929"/>
                </a:solidFill>
                <a:latin typeface="DejaVu Sans"/>
                <a:ea typeface="DejaVu Sans"/>
                <a:cs typeface="DejaVu Sans"/>
              </a:rPr>
              <a:t>04</a:t>
            </a:r>
          </a:p>
        </p:txBody>
      </p:sp>
      <p:sp>
        <p:nvSpPr>
          <p:cNvPr id="9" name="point-3">
            <a:extLst xmlns:a="http://schemas.openxmlformats.org/drawingml/2006/main">
              <a:ext uri="{FF2B5EF4-FFF2-40B4-BE49-F238E27FC236}">
                <a16:creationId xmlns:a16="http://schemas.microsoft.com/office/drawing/2014/main" id="{8F78A876-1E2D-4E81-B717-5C743194515E}"/>
              </a:ext>
            </a:extLst>
          </p:cNvPr>
          <p:cNvSpPr>
            <a:spLocks xmlns:a="http://schemas.openxmlformats.org/drawingml/2006/main" noGrp="1"/>
          </p:cNvSpPr>
          <p:nvPr/>
        </p:nvSpPr>
        <p:spPr>
          <a:xfrm xmlns:a="http://schemas.openxmlformats.org/drawingml/2006/main">
            <a:off x="1809750" y="6219825"/>
            <a:ext cx="12192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111111"/>
                </a:solidFill>
                <a:latin typeface="DejaVu Sans"/>
                <a:ea typeface="DejaVu Sans"/>
                <a:cs typeface="DejaVu Sans"/>
              </a:defRPr>
            </a:defPPr>
          </a:lstStyle>
          <a:p xmlns:a="http://schemas.openxmlformats.org/drawingml/2006/main">
            <a:pPr>
              <a:defRPr sz="2550" b="0">
                <a:solidFill>
                  <a:srgbClr val="111111"/>
                </a:solidFill>
                <a:latin typeface="DejaVu Sans"/>
                <a:ea typeface="DejaVu Sans"/>
                <a:cs typeface="DejaVu Sans"/>
              </a:defRPr>
            </a:pPr>
            <a:r>
              <a:rPr sz="2550" b="0">
                <a:solidFill>
                  <a:srgbClr val="111111"/>
                </a:solidFill>
                <a:latin typeface="DejaVu Sans"/>
                <a:ea typeface="DejaVu Sans"/>
                <a:cs typeface="DejaVu Sans"/>
              </a:rPr>
              <a:t>Diskon otomatis 10% mulai Rp 900.000</a:t>
            </a:r>
          </a:p>
        </p:txBody>
      </p:sp>
      <p:sp>
        <p:nvSpPr>
          <p:cNvPr id="10" name="source-label">
            <a:extLst xmlns:a="http://schemas.openxmlformats.org/drawingml/2006/main">
              <a:ext uri="{FF2B5EF4-FFF2-40B4-BE49-F238E27FC236}">
                <a16:creationId xmlns:a16="http://schemas.microsoft.com/office/drawing/2014/main" id="{A19F1DCD-8E22-4A94-8964-C8D01974B25D}"/>
              </a:ext>
            </a:extLst>
          </p:cNvPr>
          <p:cNvSpPr>
            <a:spLocks xmlns:a="http://schemas.openxmlformats.org/drawingml/2006/main" noGrp="1"/>
          </p:cNvSpPr>
          <p:nvPr/>
        </p:nvSpPr>
        <p:spPr>
          <a:xfrm xmlns:a="http://schemas.openxmlformats.org/drawingml/2006/main">
            <a:off x="762000" y="7981950"/>
            <a:ext cx="1266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62656A"/>
                </a:solidFill>
                <a:latin typeface="DejaVu Sans"/>
                <a:ea typeface="DejaVu Sans"/>
                <a:cs typeface="DejaVu Sans"/>
              </a:defRPr>
            </a:defPPr>
          </a:lstStyle>
          <a:p xmlns:a="http://schemas.openxmlformats.org/drawingml/2006/main">
            <a:pPr>
              <a:defRPr sz="1275" b="0">
                <a:solidFill>
                  <a:srgbClr val="62656A"/>
                </a:solidFill>
                <a:latin typeface="DejaVu Sans"/>
                <a:ea typeface="DejaVu Sans"/>
                <a:cs typeface="DejaVu Sans"/>
              </a:defRPr>
            </a:pPr>
            <a:r>
              <a:rPr sz="1275" b="0">
                <a:solidFill>
                  <a:srgbClr val="62656A"/>
                </a:solidFill>
                <a:latin typeface="DejaVu Sans"/>
                <a:ea typeface="DejaVu Sans"/>
                <a:cs typeface="DejaVu Sans"/>
              </a:rPr>
              <a:t>Source: database/doom_reversal.sql; includes/actions.php; includes/bootstrap.php</a:t>
            </a:r>
          </a:p>
        </p:txBody>
      </p:sp>
      <p:sp>
        <p:nvSpPr>
          <p:cNvPr id="11" name="page-number">
            <a:extLst xmlns:a="http://schemas.openxmlformats.org/drawingml/2006/main">
              <a:ext uri="{FF2B5EF4-FFF2-40B4-BE49-F238E27FC236}">
                <a16:creationId xmlns:a16="http://schemas.microsoft.com/office/drawing/2014/main" id="{DB66F52A-CF0A-4479-9630-4E6879A803BC}"/>
              </a:ext>
            </a:extLst>
          </p:cNvPr>
          <p:cNvSpPr>
            <a:spLocks xmlns:a="http://schemas.openxmlformats.org/drawingml/2006/main" noGrp="1"/>
          </p:cNvSpPr>
          <p:nvPr/>
        </p:nvSpPr>
        <p:spPr>
          <a:xfrm xmlns:a="http://schemas.openxmlformats.org/drawingml/2006/main">
            <a:off x="14097000" y="79819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777777"/>
                </a:solidFill>
                <a:latin typeface="DejaVu Sans"/>
                <a:ea typeface="DejaVu Sans"/>
                <a:cs typeface="DejaVu Sans"/>
              </a:defRPr>
            </a:defPPr>
          </a:lstStyle>
          <a:p xmlns:a="http://schemas.openxmlformats.org/drawingml/2006/main">
            <a:pPr>
              <a:defRPr sz="1350" b="0">
                <a:solidFill>
                  <a:srgbClr val="777777"/>
                </a:solidFill>
                <a:latin typeface="DejaVu Sans"/>
                <a:ea typeface="DejaVu Sans"/>
                <a:cs typeface="DejaVu Sans"/>
              </a:defRPr>
            </a:pPr>
            <a:r>
              <a:rPr sz="1350" b="0">
                <a:solidFill>
                  <a:srgbClr val="777777"/>
                </a:solidFill>
                <a:latin typeface="DejaVu Sans"/>
                <a:ea typeface="DejaVu Sans"/>
                <a:cs typeface="DejaVu Sans"/>
              </a:rPr>
              <a:t>02</a:t>
            </a:r>
          </a:p>
        </p:txBody>
      </p:sp>
    </p:spTree>
    <p:extLst>
      <p:ext uri="{BB962C8B-B14F-4D97-AF65-F5344CB8AC3E}">
        <p14:creationId xmlns:p14="http://schemas.microsoft.com/office/powerpoint/2010/main" val="208778194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E12A30C8-C87E-437C-83A5-BF0953EE3E64}"/>
              </a:ext>
            </a:extLst>
          </p:cNvPr>
          <p:cNvSpPr>
            <a:spLocks xmlns:a="http://schemas.openxmlformats.org/drawingml/2006/main" noGrp="1"/>
          </p:cNvSpPr>
          <p:nvPr/>
        </p:nvSpPr>
        <p:spPr>
          <a:xfrm xmlns:a="http://schemas.openxmlformats.org/drawingml/2006/main">
            <a:off x="762000" y="609600"/>
            <a:ext cx="1371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111111"/>
                </a:solidFill>
                <a:latin typeface="DejaVu Sans"/>
                <a:ea typeface="DejaVu Sans"/>
                <a:cs typeface="DejaVu Sans"/>
              </a:defRPr>
            </a:defPPr>
          </a:lstStyle>
          <a:p xmlns:a="http://schemas.openxmlformats.org/drawingml/2006/main">
            <a:pPr>
              <a:defRPr sz="3600" b="1">
                <a:solidFill>
                  <a:srgbClr val="111111"/>
                </a:solidFill>
                <a:latin typeface="DejaVu Sans"/>
                <a:ea typeface="DejaVu Sans"/>
                <a:cs typeface="DejaVu Sans"/>
              </a:defRPr>
            </a:pPr>
            <a:r>
              <a:rPr sz="3600" b="1">
                <a:solidFill>
                  <a:srgbClr val="111111"/>
                </a:solidFill>
                <a:latin typeface="DejaVu Sans"/>
                <a:ea typeface="DejaVu Sans"/>
                <a:cs typeface="DejaVu Sans"/>
              </a:rPr>
              <a:t>UI dan pengalaman pengguna</a:t>
            </a:r>
          </a:p>
        </p:txBody>
      </p:sp>
      <p:pic>
        <p:nvPicPr>
          <p:cNvPr id="2" name="">
            <a:extLst xmlns:a="http://schemas.openxmlformats.org/drawingml/2006/main">
              <a:ext uri="{FF2B5EF4-FFF2-40B4-BE49-F238E27FC236}">
                <a16:creationId xmlns:a16="http://schemas.microsoft.com/office/drawing/2014/main" id="{40C04007-9B32-415B-8FBE-E687A33ABF67}"/>
              </a:ext>
            </a:extLst>
          </p:cNvPr>
          <p:cNvPicPr>
            <a:picLocks xmlns:a="http://schemas.openxmlformats.org/drawingml/2006/main" noChangeAspect="1"/>
          </p:cNvPicPr>
          <p:nvPr/>
        </p:nvPicPr>
        <p:blipFill>
          <a:blip xmlns:r="http://schemas.openxmlformats.org/officeDocument/2006/relationships" xmlns:a="http://schemas.openxmlformats.org/drawingml/2006/main" r:embed="R8a4c0f9815f04158"/>
          <a:stretch xmlns:a="http://schemas.openxmlformats.org/drawingml/2006/main"/>
        </p:blipFill>
        <p:spPr>
          <a:xfrm xmlns:a="http://schemas.openxmlformats.org/drawingml/2006/main">
            <a:off x="9941745" y="1762125"/>
            <a:ext cx="2881260" cy="5334000"/>
          </a:xfrm>
          <a:prstGeom xmlns:a="http://schemas.openxmlformats.org/drawingml/2006/main" prst="rect">
            <a:avLst/>
          </a:prstGeom>
        </p:spPr>
      </p:pic>
      <p:sp>
        <p:nvSpPr>
          <p:cNvPr id="3" name="point-0">
            <a:extLst xmlns:a="http://schemas.openxmlformats.org/drawingml/2006/main">
              <a:ext uri="{FF2B5EF4-FFF2-40B4-BE49-F238E27FC236}">
                <a16:creationId xmlns:a16="http://schemas.microsoft.com/office/drawing/2014/main" id="{682816BB-7117-4E8B-9BDE-FDB4381CFDCA}"/>
              </a:ext>
            </a:extLst>
          </p:cNvPr>
          <p:cNvSpPr>
            <a:spLocks xmlns:a="http://schemas.openxmlformats.org/drawingml/2006/main" noGrp="1"/>
          </p:cNvSpPr>
          <p:nvPr/>
        </p:nvSpPr>
        <p:spPr>
          <a:xfrm xmlns:a="http://schemas.openxmlformats.org/drawingml/2006/main">
            <a:off x="762000" y="2238375"/>
            <a:ext cx="6477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11111"/>
                </a:solidFill>
                <a:latin typeface="DejaVu Sans"/>
                <a:ea typeface="DejaVu Sans"/>
                <a:cs typeface="DejaVu Sans"/>
              </a:defRPr>
            </a:defPPr>
          </a:lstStyle>
          <a:p xmlns:a="http://schemas.openxmlformats.org/drawingml/2006/main">
            <a:pPr>
              <a:defRPr sz="2250" b="0">
                <a:solidFill>
                  <a:srgbClr val="111111"/>
                </a:solidFill>
                <a:latin typeface="DejaVu Sans"/>
                <a:ea typeface="DejaVu Sans"/>
                <a:cs typeface="DejaVu Sans"/>
              </a:defRPr>
            </a:pPr>
            <a:r>
              <a:rPr sz="2250" b="0">
                <a:solidFill>
                  <a:srgbClr val="111111"/>
                </a:solidFill>
                <a:latin typeface="DejaVu Sans"/>
                <a:ea typeface="DejaVu Sans"/>
                <a:cs typeface="DejaVu Sans"/>
              </a:rPr>
              <a:t>Foto besar dan warna hitam-putih mengikuti referensi</a:t>
            </a:r>
          </a:p>
        </p:txBody>
      </p:sp>
      <p:sp>
        <p:nvSpPr>
          <p:cNvPr id="4" name="point-1">
            <a:extLst xmlns:a="http://schemas.openxmlformats.org/drawingml/2006/main">
              <a:ext uri="{FF2B5EF4-FFF2-40B4-BE49-F238E27FC236}">
                <a16:creationId xmlns:a16="http://schemas.microsoft.com/office/drawing/2014/main" id="{11831EDD-86B8-4BF9-A456-861CA693565C}"/>
              </a:ext>
            </a:extLst>
          </p:cNvPr>
          <p:cNvSpPr>
            <a:spLocks xmlns:a="http://schemas.openxmlformats.org/drawingml/2006/main" noGrp="1"/>
          </p:cNvSpPr>
          <p:nvPr/>
        </p:nvSpPr>
        <p:spPr>
          <a:xfrm xmlns:a="http://schemas.openxmlformats.org/drawingml/2006/main">
            <a:off x="762000" y="3495675"/>
            <a:ext cx="6477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11111"/>
                </a:solidFill>
                <a:latin typeface="DejaVu Sans"/>
                <a:ea typeface="DejaVu Sans"/>
                <a:cs typeface="DejaVu Sans"/>
              </a:defRPr>
            </a:defPPr>
          </a:lstStyle>
          <a:p xmlns:a="http://schemas.openxmlformats.org/drawingml/2006/main">
            <a:pPr>
              <a:defRPr sz="2250" b="0">
                <a:solidFill>
                  <a:srgbClr val="111111"/>
                </a:solidFill>
                <a:latin typeface="DejaVu Sans"/>
                <a:ea typeface="DejaVu Sans"/>
                <a:cs typeface="DejaVu Sans"/>
              </a:defRPr>
            </a:pPr>
            <a:r>
              <a:rPr sz="2250" b="0">
                <a:solidFill>
                  <a:srgbClr val="111111"/>
                </a:solidFill>
                <a:latin typeface="DejaVu Sans"/>
                <a:ea typeface="DejaVu Sans"/>
                <a:cs typeface="DejaVu Sans"/>
              </a:rPr>
              <a:t>Navigasi koleksi selalu tersedia</a:t>
            </a:r>
          </a:p>
        </p:txBody>
      </p:sp>
      <p:sp>
        <p:nvSpPr>
          <p:cNvPr id="5" name="point-2">
            <a:extLst xmlns:a="http://schemas.openxmlformats.org/drawingml/2006/main">
              <a:ext uri="{FF2B5EF4-FFF2-40B4-BE49-F238E27FC236}">
                <a16:creationId xmlns:a16="http://schemas.microsoft.com/office/drawing/2014/main" id="{52BB5A28-7E51-4F38-ACBF-1FDA20AE1C29}"/>
              </a:ext>
            </a:extLst>
          </p:cNvPr>
          <p:cNvSpPr>
            <a:spLocks xmlns:a="http://schemas.openxmlformats.org/drawingml/2006/main" noGrp="1"/>
          </p:cNvSpPr>
          <p:nvPr/>
        </p:nvSpPr>
        <p:spPr>
          <a:xfrm xmlns:a="http://schemas.openxmlformats.org/drawingml/2006/main">
            <a:off x="762000" y="4752975"/>
            <a:ext cx="6477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11111"/>
                </a:solidFill>
                <a:latin typeface="DejaVu Sans"/>
                <a:ea typeface="DejaVu Sans"/>
                <a:cs typeface="DejaVu Sans"/>
              </a:defRPr>
            </a:defPPr>
          </a:lstStyle>
          <a:p xmlns:a="http://schemas.openxmlformats.org/drawingml/2006/main">
            <a:pPr>
              <a:defRPr sz="2250" b="0">
                <a:solidFill>
                  <a:srgbClr val="111111"/>
                </a:solidFill>
                <a:latin typeface="DejaVu Sans"/>
                <a:ea typeface="DejaVu Sans"/>
                <a:cs typeface="DejaVu Sans"/>
              </a:defRPr>
            </a:pPr>
            <a:r>
              <a:rPr sz="2250" b="0">
                <a:solidFill>
                  <a:srgbClr val="111111"/>
                </a:solidFill>
                <a:latin typeface="DejaVu Sans"/>
                <a:ea typeface="DejaVu Sans"/>
                <a:cs typeface="DejaVu Sans"/>
              </a:rPr>
              <a:t>Form memakai label dan pesan kesalahan</a:t>
            </a:r>
          </a:p>
        </p:txBody>
      </p:sp>
      <p:sp>
        <p:nvSpPr>
          <p:cNvPr id="6" name="point-3">
            <a:extLst xmlns:a="http://schemas.openxmlformats.org/drawingml/2006/main">
              <a:ext uri="{FF2B5EF4-FFF2-40B4-BE49-F238E27FC236}">
                <a16:creationId xmlns:a16="http://schemas.microsoft.com/office/drawing/2014/main" id="{F3B096C8-936E-492F-B0F3-3EAD8BA8612E}"/>
              </a:ext>
            </a:extLst>
          </p:cNvPr>
          <p:cNvSpPr>
            <a:spLocks xmlns:a="http://schemas.openxmlformats.org/drawingml/2006/main" noGrp="1"/>
          </p:cNvSpPr>
          <p:nvPr/>
        </p:nvSpPr>
        <p:spPr>
          <a:xfrm xmlns:a="http://schemas.openxmlformats.org/drawingml/2006/main">
            <a:off x="762000" y="6010275"/>
            <a:ext cx="6477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11111"/>
                </a:solidFill>
                <a:latin typeface="DejaVu Sans"/>
                <a:ea typeface="DejaVu Sans"/>
                <a:cs typeface="DejaVu Sans"/>
              </a:defRPr>
            </a:defPPr>
          </a:lstStyle>
          <a:p xmlns:a="http://schemas.openxmlformats.org/drawingml/2006/main">
            <a:pPr>
              <a:defRPr sz="2250" b="0">
                <a:solidFill>
                  <a:srgbClr val="111111"/>
                </a:solidFill>
                <a:latin typeface="DejaVu Sans"/>
                <a:ea typeface="DejaVu Sans"/>
                <a:cs typeface="DejaVu Sans"/>
              </a:defRPr>
            </a:pPr>
            <a:r>
              <a:rPr sz="2250" b="0">
                <a:solidFill>
                  <a:srgbClr val="111111"/>
                </a:solidFill>
                <a:latin typeface="DejaVu Sans"/>
                <a:ea typeface="DejaVu Sans"/>
                <a:cs typeface="DejaVu Sans"/>
              </a:rPr>
              <a:t>CSS menyesuaikan susunan pada layar kecil</a:t>
            </a:r>
          </a:p>
        </p:txBody>
      </p:sp>
      <p:sp>
        <p:nvSpPr>
          <p:cNvPr id="7" name="image-caption">
            <a:extLst xmlns:a="http://schemas.openxmlformats.org/drawingml/2006/main">
              <a:ext uri="{FF2B5EF4-FFF2-40B4-BE49-F238E27FC236}">
                <a16:creationId xmlns:a16="http://schemas.microsoft.com/office/drawing/2014/main" id="{28ED2F51-BE59-43B6-8563-6F3F7C38A806}"/>
              </a:ext>
            </a:extLst>
          </p:cNvPr>
          <p:cNvSpPr>
            <a:spLocks xmlns:a="http://schemas.openxmlformats.org/drawingml/2006/main" noGrp="1"/>
          </p:cNvSpPr>
          <p:nvPr/>
        </p:nvSpPr>
        <p:spPr>
          <a:xfrm xmlns:a="http://schemas.openxmlformats.org/drawingml/2006/main">
            <a:off x="8286750" y="7277100"/>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62656A"/>
                </a:solidFill>
                <a:latin typeface="DejaVu Sans"/>
                <a:ea typeface="DejaVu Sans"/>
                <a:cs typeface="DejaVu Sans"/>
              </a:defRPr>
            </a:defPPr>
          </a:lstStyle>
          <a:p xmlns:a="http://schemas.openxmlformats.org/drawingml/2006/main">
            <a:pPr>
              <a:defRPr sz="1350" b="0">
                <a:solidFill>
                  <a:srgbClr val="62656A"/>
                </a:solidFill>
                <a:latin typeface="DejaVu Sans"/>
                <a:ea typeface="DejaVu Sans"/>
                <a:cs typeface="DejaVu Sans"/>
              </a:defRPr>
            </a:pPr>
            <a:r>
              <a:rPr sz="1350" b="0">
                <a:solidFill>
                  <a:srgbClr val="62656A"/>
                </a:solidFill>
                <a:latin typeface="DejaVu Sans"/>
                <a:ea typeface="DejaVu Sans"/>
                <a:cs typeface="DejaVu Sans"/>
              </a:rPr>
              <a:t>Mockup dari ZIP pengguna, bukan screenshot hasil aplikasi.</a:t>
            </a:r>
          </a:p>
        </p:txBody>
      </p:sp>
      <p:sp>
        <p:nvSpPr>
          <p:cNvPr id="8" name="source-label">
            <a:extLst xmlns:a="http://schemas.openxmlformats.org/drawingml/2006/main">
              <a:ext uri="{FF2B5EF4-FFF2-40B4-BE49-F238E27FC236}">
                <a16:creationId xmlns:a16="http://schemas.microsoft.com/office/drawing/2014/main" id="{C74AE553-337F-403D-9FF1-85483992504D}"/>
              </a:ext>
            </a:extLst>
          </p:cNvPr>
          <p:cNvSpPr>
            <a:spLocks xmlns:a="http://schemas.openxmlformats.org/drawingml/2006/main" noGrp="1"/>
          </p:cNvSpPr>
          <p:nvPr/>
        </p:nvSpPr>
        <p:spPr>
          <a:xfrm xmlns:a="http://schemas.openxmlformats.org/drawingml/2006/main">
            <a:off x="762000" y="7981950"/>
            <a:ext cx="1266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62656A"/>
                </a:solidFill>
                <a:latin typeface="DejaVu Sans"/>
                <a:ea typeface="DejaVu Sans"/>
                <a:cs typeface="DejaVu Sans"/>
              </a:defRPr>
            </a:defPPr>
          </a:lstStyle>
          <a:p xmlns:a="http://schemas.openxmlformats.org/drawingml/2006/main">
            <a:pPr>
              <a:defRPr sz="1275" b="0">
                <a:solidFill>
                  <a:srgbClr val="62656A"/>
                </a:solidFill>
                <a:latin typeface="DejaVu Sans"/>
                <a:ea typeface="DejaVu Sans"/>
                <a:cs typeface="DejaVu Sans"/>
              </a:defRPr>
            </a:pPr>
            <a:r>
              <a:rPr sz="1275" b="0">
                <a:solidFill>
                  <a:srgbClr val="62656A"/>
                </a:solidFill>
                <a:latin typeface="DejaVu Sans"/>
                <a:ea typeface="DejaVu Sans"/>
                <a:cs typeface="DejaVu Sans"/>
              </a:rPr>
              <a:t>Source: assets/style.css; includes/layout.php; index.php</a:t>
            </a:r>
          </a:p>
        </p:txBody>
      </p:sp>
      <p:sp>
        <p:nvSpPr>
          <p:cNvPr id="9" name="page-number">
            <a:extLst xmlns:a="http://schemas.openxmlformats.org/drawingml/2006/main">
              <a:ext uri="{FF2B5EF4-FFF2-40B4-BE49-F238E27FC236}">
                <a16:creationId xmlns:a16="http://schemas.microsoft.com/office/drawing/2014/main" id="{BF8B1D34-2EED-4092-84DD-E744F2257B79}"/>
              </a:ext>
            </a:extLst>
          </p:cNvPr>
          <p:cNvSpPr>
            <a:spLocks xmlns:a="http://schemas.openxmlformats.org/drawingml/2006/main" noGrp="1"/>
          </p:cNvSpPr>
          <p:nvPr/>
        </p:nvSpPr>
        <p:spPr>
          <a:xfrm xmlns:a="http://schemas.openxmlformats.org/drawingml/2006/main">
            <a:off x="14097000" y="79819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777777"/>
                </a:solidFill>
                <a:latin typeface="DejaVu Sans"/>
                <a:ea typeface="DejaVu Sans"/>
                <a:cs typeface="DejaVu Sans"/>
              </a:defRPr>
            </a:defPPr>
          </a:lstStyle>
          <a:p xmlns:a="http://schemas.openxmlformats.org/drawingml/2006/main">
            <a:pPr>
              <a:defRPr sz="1350" b="0">
                <a:solidFill>
                  <a:srgbClr val="777777"/>
                </a:solidFill>
                <a:latin typeface="DejaVu Sans"/>
                <a:ea typeface="DejaVu Sans"/>
                <a:cs typeface="DejaVu Sans"/>
              </a:defRPr>
            </a:pPr>
            <a:r>
              <a:rPr sz="1350" b="0">
                <a:solidFill>
                  <a:srgbClr val="777777"/>
                </a:solidFill>
                <a:latin typeface="DejaVu Sans"/>
                <a:ea typeface="DejaVu Sans"/>
                <a:cs typeface="DejaVu Sans"/>
              </a:rPr>
              <a:t>03</a:t>
            </a:r>
          </a:p>
        </p:txBody>
      </p:sp>
    </p:spTree>
    <p:extLst>
      <p:ext uri="{BB962C8B-B14F-4D97-AF65-F5344CB8AC3E}">
        <p14:creationId xmlns:p14="http://schemas.microsoft.com/office/powerpoint/2010/main" val="6253988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14AD7F48-59FB-41A1-8890-2F6BFBF42C2E}"/>
              </a:ext>
            </a:extLst>
          </p:cNvPr>
          <p:cNvSpPr>
            <a:spLocks xmlns:a="http://schemas.openxmlformats.org/drawingml/2006/main" noGrp="1"/>
          </p:cNvSpPr>
          <p:nvPr/>
        </p:nvSpPr>
        <p:spPr>
          <a:xfrm xmlns:a="http://schemas.openxmlformats.org/drawingml/2006/main">
            <a:off x="762000" y="609600"/>
            <a:ext cx="1371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111111"/>
                </a:solidFill>
                <a:latin typeface="DejaVu Sans"/>
                <a:ea typeface="DejaVu Sans"/>
                <a:cs typeface="DejaVu Sans"/>
              </a:defRPr>
            </a:defPPr>
          </a:lstStyle>
          <a:p xmlns:a="http://schemas.openxmlformats.org/drawingml/2006/main">
            <a:pPr>
              <a:defRPr sz="3600" b="1">
                <a:solidFill>
                  <a:srgbClr val="111111"/>
                </a:solidFill>
                <a:latin typeface="DejaVu Sans"/>
                <a:ea typeface="DejaVu Sans"/>
                <a:cs typeface="DejaVu Sans"/>
              </a:defRPr>
            </a:pPr>
            <a:r>
              <a:rPr sz="3600" b="1">
                <a:solidFill>
                  <a:srgbClr val="111111"/>
                </a:solidFill>
                <a:latin typeface="DejaVu Sans"/>
                <a:ea typeface="DejaVu Sans"/>
                <a:cs typeface="DejaVu Sans"/>
              </a:rPr>
              <a:t>Peran setiap teknologi</a:t>
            </a:r>
          </a:p>
        </p:txBody>
      </p:sp>
      <p:sp>
        <p:nvSpPr>
          <p:cNvPr id="2" name="index-0">
            <a:extLst xmlns:a="http://schemas.openxmlformats.org/drawingml/2006/main">
              <a:ext uri="{FF2B5EF4-FFF2-40B4-BE49-F238E27FC236}">
                <a16:creationId xmlns:a16="http://schemas.microsoft.com/office/drawing/2014/main" id="{E48E4ECC-3465-4827-87EE-D48D4BA213F3}"/>
              </a:ext>
            </a:extLst>
          </p:cNvPr>
          <p:cNvSpPr>
            <a:spLocks xmlns:a="http://schemas.openxmlformats.org/drawingml/2006/main" noGrp="1"/>
          </p:cNvSpPr>
          <p:nvPr/>
        </p:nvSpPr>
        <p:spPr>
          <a:xfrm xmlns:a="http://schemas.openxmlformats.org/drawingml/2006/main">
            <a:off x="762000" y="2114550"/>
            <a:ext cx="781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D82929"/>
                </a:solidFill>
                <a:latin typeface="DejaVu Sans"/>
                <a:ea typeface="DejaVu Sans"/>
                <a:cs typeface="DejaVu Sans"/>
              </a:defRPr>
            </a:defPPr>
          </a:lstStyle>
          <a:p xmlns:a="http://schemas.openxmlformats.org/drawingml/2006/main">
            <a:pPr>
              <a:defRPr sz="1875" b="1">
                <a:solidFill>
                  <a:srgbClr val="D82929"/>
                </a:solidFill>
                <a:latin typeface="DejaVu Sans"/>
                <a:ea typeface="DejaVu Sans"/>
                <a:cs typeface="DejaVu Sans"/>
              </a:defRPr>
            </a:pPr>
            <a:r>
              <a:rPr sz="1875" b="1">
                <a:solidFill>
                  <a:srgbClr val="D82929"/>
                </a:solidFill>
                <a:latin typeface="DejaVu Sans"/>
                <a:ea typeface="DejaVu Sans"/>
                <a:cs typeface="DejaVu Sans"/>
              </a:rPr>
              <a:t>01</a:t>
            </a:r>
          </a:p>
        </p:txBody>
      </p:sp>
      <p:sp>
        <p:nvSpPr>
          <p:cNvPr id="3" name="point-0">
            <a:extLst xmlns:a="http://schemas.openxmlformats.org/drawingml/2006/main">
              <a:ext uri="{FF2B5EF4-FFF2-40B4-BE49-F238E27FC236}">
                <a16:creationId xmlns:a16="http://schemas.microsoft.com/office/drawing/2014/main" id="{EC9CA470-500E-49F9-A3ED-41650C56F1CB}"/>
              </a:ext>
            </a:extLst>
          </p:cNvPr>
          <p:cNvSpPr>
            <a:spLocks xmlns:a="http://schemas.openxmlformats.org/drawingml/2006/main" noGrp="1"/>
          </p:cNvSpPr>
          <p:nvPr/>
        </p:nvSpPr>
        <p:spPr>
          <a:xfrm xmlns:a="http://schemas.openxmlformats.org/drawingml/2006/main">
            <a:off x="1809750" y="2076450"/>
            <a:ext cx="12192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111111"/>
                </a:solidFill>
                <a:latin typeface="DejaVu Sans"/>
                <a:ea typeface="DejaVu Sans"/>
                <a:cs typeface="DejaVu Sans"/>
              </a:defRPr>
            </a:defPPr>
          </a:lstStyle>
          <a:p xmlns:a="http://schemas.openxmlformats.org/drawingml/2006/main">
            <a:pPr>
              <a:defRPr sz="2550" b="0">
                <a:solidFill>
                  <a:srgbClr val="111111"/>
                </a:solidFill>
                <a:latin typeface="DejaVu Sans"/>
                <a:ea typeface="DejaVu Sans"/>
                <a:cs typeface="DejaVu Sans"/>
              </a:defRPr>
            </a:pPr>
            <a:r>
              <a:rPr sz="2550" b="0">
                <a:solidFill>
                  <a:srgbClr val="111111"/>
                </a:solidFill>
                <a:latin typeface="DejaVu Sans"/>
                <a:ea typeface="DejaVu Sans"/>
                <a:cs typeface="DejaVu Sans"/>
              </a:rPr>
              <a:t>Browser menampilkan HTML, CSS, dan JavaScript</a:t>
            </a:r>
          </a:p>
        </p:txBody>
      </p:sp>
      <p:sp>
        <p:nvSpPr>
          <p:cNvPr id="4" name="index-1">
            <a:extLst xmlns:a="http://schemas.openxmlformats.org/drawingml/2006/main">
              <a:ext uri="{FF2B5EF4-FFF2-40B4-BE49-F238E27FC236}">
                <a16:creationId xmlns:a16="http://schemas.microsoft.com/office/drawing/2014/main" id="{79E69319-D597-429F-BF10-AD9BD59307F0}"/>
              </a:ext>
            </a:extLst>
          </p:cNvPr>
          <p:cNvSpPr>
            <a:spLocks xmlns:a="http://schemas.openxmlformats.org/drawingml/2006/main" noGrp="1"/>
          </p:cNvSpPr>
          <p:nvPr/>
        </p:nvSpPr>
        <p:spPr>
          <a:xfrm xmlns:a="http://schemas.openxmlformats.org/drawingml/2006/main">
            <a:off x="762000" y="3495675"/>
            <a:ext cx="781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D82929"/>
                </a:solidFill>
                <a:latin typeface="DejaVu Sans"/>
                <a:ea typeface="DejaVu Sans"/>
                <a:cs typeface="DejaVu Sans"/>
              </a:defRPr>
            </a:defPPr>
          </a:lstStyle>
          <a:p xmlns:a="http://schemas.openxmlformats.org/drawingml/2006/main">
            <a:pPr>
              <a:defRPr sz="1875" b="1">
                <a:solidFill>
                  <a:srgbClr val="D82929"/>
                </a:solidFill>
                <a:latin typeface="DejaVu Sans"/>
                <a:ea typeface="DejaVu Sans"/>
                <a:cs typeface="DejaVu Sans"/>
              </a:defRPr>
            </a:pPr>
            <a:r>
              <a:rPr sz="1875" b="1">
                <a:solidFill>
                  <a:srgbClr val="D82929"/>
                </a:solidFill>
                <a:latin typeface="DejaVu Sans"/>
                <a:ea typeface="DejaVu Sans"/>
                <a:cs typeface="DejaVu Sans"/>
              </a:rPr>
              <a:t>02</a:t>
            </a:r>
          </a:p>
        </p:txBody>
      </p:sp>
      <p:sp>
        <p:nvSpPr>
          <p:cNvPr id="5" name="point-1">
            <a:extLst xmlns:a="http://schemas.openxmlformats.org/drawingml/2006/main">
              <a:ext uri="{FF2B5EF4-FFF2-40B4-BE49-F238E27FC236}">
                <a16:creationId xmlns:a16="http://schemas.microsoft.com/office/drawing/2014/main" id="{7D06399A-7E8D-4465-AA63-352E881490F3}"/>
              </a:ext>
            </a:extLst>
          </p:cNvPr>
          <p:cNvSpPr>
            <a:spLocks xmlns:a="http://schemas.openxmlformats.org/drawingml/2006/main" noGrp="1"/>
          </p:cNvSpPr>
          <p:nvPr/>
        </p:nvSpPr>
        <p:spPr>
          <a:xfrm xmlns:a="http://schemas.openxmlformats.org/drawingml/2006/main">
            <a:off x="1809750" y="3457575"/>
            <a:ext cx="12192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111111"/>
                </a:solidFill>
                <a:latin typeface="DejaVu Sans"/>
                <a:ea typeface="DejaVu Sans"/>
                <a:cs typeface="DejaVu Sans"/>
              </a:defRPr>
            </a:defPPr>
          </a:lstStyle>
          <a:p xmlns:a="http://schemas.openxmlformats.org/drawingml/2006/main">
            <a:pPr>
              <a:defRPr sz="2550" b="0">
                <a:solidFill>
                  <a:srgbClr val="111111"/>
                </a:solidFill>
                <a:latin typeface="DejaVu Sans"/>
                <a:ea typeface="DejaVu Sans"/>
                <a:cs typeface="DejaVu Sans"/>
              </a:defRPr>
            </a:pPr>
            <a:r>
              <a:rPr sz="2550" b="0">
                <a:solidFill>
                  <a:srgbClr val="111111"/>
                </a:solidFill>
                <a:latin typeface="DejaVu Sans"/>
                <a:ea typeface="DejaVu Sans"/>
                <a:cs typeface="DejaVu Sans"/>
              </a:rPr>
              <a:t>Apache menjalankan PHP untuk memproses request</a:t>
            </a:r>
          </a:p>
        </p:txBody>
      </p:sp>
      <p:sp>
        <p:nvSpPr>
          <p:cNvPr id="6" name="index-2">
            <a:extLst xmlns:a="http://schemas.openxmlformats.org/drawingml/2006/main">
              <a:ext uri="{FF2B5EF4-FFF2-40B4-BE49-F238E27FC236}">
                <a16:creationId xmlns:a16="http://schemas.microsoft.com/office/drawing/2014/main" id="{9CAE9728-0B4D-4C56-B25A-6419BB370517}"/>
              </a:ext>
            </a:extLst>
          </p:cNvPr>
          <p:cNvSpPr>
            <a:spLocks xmlns:a="http://schemas.openxmlformats.org/drawingml/2006/main" noGrp="1"/>
          </p:cNvSpPr>
          <p:nvPr/>
        </p:nvSpPr>
        <p:spPr>
          <a:xfrm xmlns:a="http://schemas.openxmlformats.org/drawingml/2006/main">
            <a:off x="762000" y="4876800"/>
            <a:ext cx="781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D82929"/>
                </a:solidFill>
                <a:latin typeface="DejaVu Sans"/>
                <a:ea typeface="DejaVu Sans"/>
                <a:cs typeface="DejaVu Sans"/>
              </a:defRPr>
            </a:defPPr>
          </a:lstStyle>
          <a:p xmlns:a="http://schemas.openxmlformats.org/drawingml/2006/main">
            <a:pPr>
              <a:defRPr sz="1875" b="1">
                <a:solidFill>
                  <a:srgbClr val="D82929"/>
                </a:solidFill>
                <a:latin typeface="DejaVu Sans"/>
                <a:ea typeface="DejaVu Sans"/>
                <a:cs typeface="DejaVu Sans"/>
              </a:defRPr>
            </a:pPr>
            <a:r>
              <a:rPr sz="1875" b="1">
                <a:solidFill>
                  <a:srgbClr val="D82929"/>
                </a:solidFill>
                <a:latin typeface="DejaVu Sans"/>
                <a:ea typeface="DejaVu Sans"/>
                <a:cs typeface="DejaVu Sans"/>
              </a:rPr>
              <a:t>03</a:t>
            </a:r>
          </a:p>
        </p:txBody>
      </p:sp>
      <p:sp>
        <p:nvSpPr>
          <p:cNvPr id="7" name="point-2">
            <a:extLst xmlns:a="http://schemas.openxmlformats.org/drawingml/2006/main">
              <a:ext uri="{FF2B5EF4-FFF2-40B4-BE49-F238E27FC236}">
                <a16:creationId xmlns:a16="http://schemas.microsoft.com/office/drawing/2014/main" id="{79521BB7-A673-4621-A2F2-2301C7678D4C}"/>
              </a:ext>
            </a:extLst>
          </p:cNvPr>
          <p:cNvSpPr>
            <a:spLocks xmlns:a="http://schemas.openxmlformats.org/drawingml/2006/main" noGrp="1"/>
          </p:cNvSpPr>
          <p:nvPr/>
        </p:nvSpPr>
        <p:spPr>
          <a:xfrm xmlns:a="http://schemas.openxmlformats.org/drawingml/2006/main">
            <a:off x="1809750" y="4838700"/>
            <a:ext cx="12192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111111"/>
                </a:solidFill>
                <a:latin typeface="DejaVu Sans"/>
                <a:ea typeface="DejaVu Sans"/>
                <a:cs typeface="DejaVu Sans"/>
              </a:defRPr>
            </a:defPPr>
          </a:lstStyle>
          <a:p xmlns:a="http://schemas.openxmlformats.org/drawingml/2006/main">
            <a:pPr>
              <a:defRPr sz="2550" b="0">
                <a:solidFill>
                  <a:srgbClr val="111111"/>
                </a:solidFill>
                <a:latin typeface="DejaVu Sans"/>
                <a:ea typeface="DejaVu Sans"/>
                <a:cs typeface="DejaVu Sans"/>
              </a:defRPr>
            </a:pPr>
            <a:r>
              <a:rPr sz="2550" b="0">
                <a:solidFill>
                  <a:srgbClr val="111111"/>
                </a:solidFill>
                <a:latin typeface="DejaVu Sans"/>
                <a:ea typeface="DejaVu Sans"/>
                <a:cs typeface="DejaVu Sans"/>
              </a:rPr>
              <a:t>PDO mengirim query ke MySQL/MariaDB</a:t>
            </a:r>
          </a:p>
        </p:txBody>
      </p:sp>
      <p:sp>
        <p:nvSpPr>
          <p:cNvPr id="8" name="index-3">
            <a:extLst xmlns:a="http://schemas.openxmlformats.org/drawingml/2006/main">
              <a:ext uri="{FF2B5EF4-FFF2-40B4-BE49-F238E27FC236}">
                <a16:creationId xmlns:a16="http://schemas.microsoft.com/office/drawing/2014/main" id="{3692FF6F-8AAB-46F3-BE01-110E9CD23059}"/>
              </a:ext>
            </a:extLst>
          </p:cNvPr>
          <p:cNvSpPr>
            <a:spLocks xmlns:a="http://schemas.openxmlformats.org/drawingml/2006/main" noGrp="1"/>
          </p:cNvSpPr>
          <p:nvPr/>
        </p:nvSpPr>
        <p:spPr>
          <a:xfrm xmlns:a="http://schemas.openxmlformats.org/drawingml/2006/main">
            <a:off x="762000" y="6257925"/>
            <a:ext cx="781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D82929"/>
                </a:solidFill>
                <a:latin typeface="DejaVu Sans"/>
                <a:ea typeface="DejaVu Sans"/>
                <a:cs typeface="DejaVu Sans"/>
              </a:defRPr>
            </a:defPPr>
          </a:lstStyle>
          <a:p xmlns:a="http://schemas.openxmlformats.org/drawingml/2006/main">
            <a:pPr>
              <a:defRPr sz="1875" b="1">
                <a:solidFill>
                  <a:srgbClr val="D82929"/>
                </a:solidFill>
                <a:latin typeface="DejaVu Sans"/>
                <a:ea typeface="DejaVu Sans"/>
                <a:cs typeface="DejaVu Sans"/>
              </a:defRPr>
            </a:pPr>
            <a:r>
              <a:rPr sz="1875" b="1">
                <a:solidFill>
                  <a:srgbClr val="D82929"/>
                </a:solidFill>
                <a:latin typeface="DejaVu Sans"/>
                <a:ea typeface="DejaVu Sans"/>
                <a:cs typeface="DejaVu Sans"/>
              </a:rPr>
              <a:t>04</a:t>
            </a:r>
          </a:p>
        </p:txBody>
      </p:sp>
      <p:sp>
        <p:nvSpPr>
          <p:cNvPr id="9" name="point-3">
            <a:extLst xmlns:a="http://schemas.openxmlformats.org/drawingml/2006/main">
              <a:ext uri="{FF2B5EF4-FFF2-40B4-BE49-F238E27FC236}">
                <a16:creationId xmlns:a16="http://schemas.microsoft.com/office/drawing/2014/main" id="{42905F86-20BF-45ED-A723-2B0F202BE5AA}"/>
              </a:ext>
            </a:extLst>
          </p:cNvPr>
          <p:cNvSpPr>
            <a:spLocks xmlns:a="http://schemas.openxmlformats.org/drawingml/2006/main" noGrp="1"/>
          </p:cNvSpPr>
          <p:nvPr/>
        </p:nvSpPr>
        <p:spPr>
          <a:xfrm xmlns:a="http://schemas.openxmlformats.org/drawingml/2006/main">
            <a:off x="1809750" y="6219825"/>
            <a:ext cx="12192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111111"/>
                </a:solidFill>
                <a:latin typeface="DejaVu Sans"/>
                <a:ea typeface="DejaVu Sans"/>
                <a:cs typeface="DejaVu Sans"/>
              </a:defRPr>
            </a:defPPr>
          </a:lstStyle>
          <a:p xmlns:a="http://schemas.openxmlformats.org/drawingml/2006/main">
            <a:pPr>
              <a:defRPr sz="2550" b="0">
                <a:solidFill>
                  <a:srgbClr val="111111"/>
                </a:solidFill>
                <a:latin typeface="DejaVu Sans"/>
                <a:ea typeface="DejaVu Sans"/>
                <a:cs typeface="DejaVu Sans"/>
              </a:defRPr>
            </a:pPr>
            <a:r>
              <a:rPr sz="2550" b="0">
                <a:solidFill>
                  <a:srgbClr val="111111"/>
                </a:solidFill>
                <a:latin typeface="DejaVu Sans"/>
                <a:ea typeface="DejaVu Sans"/>
                <a:cs typeface="DejaVu Sans"/>
              </a:rPr>
              <a:t>Session menyimpan login dan keranjang sementara</a:t>
            </a:r>
          </a:p>
        </p:txBody>
      </p:sp>
      <p:sp>
        <p:nvSpPr>
          <p:cNvPr id="10" name="source-label">
            <a:extLst xmlns:a="http://schemas.openxmlformats.org/drawingml/2006/main">
              <a:ext uri="{FF2B5EF4-FFF2-40B4-BE49-F238E27FC236}">
                <a16:creationId xmlns:a16="http://schemas.microsoft.com/office/drawing/2014/main" id="{4FF6F29B-ECAD-4D2C-A177-12AE74F95719}"/>
              </a:ext>
            </a:extLst>
          </p:cNvPr>
          <p:cNvSpPr>
            <a:spLocks xmlns:a="http://schemas.openxmlformats.org/drawingml/2006/main" noGrp="1"/>
          </p:cNvSpPr>
          <p:nvPr/>
        </p:nvSpPr>
        <p:spPr>
          <a:xfrm xmlns:a="http://schemas.openxmlformats.org/drawingml/2006/main">
            <a:off x="762000" y="7981950"/>
            <a:ext cx="1266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62656A"/>
                </a:solidFill>
                <a:latin typeface="DejaVu Sans"/>
                <a:ea typeface="DejaVu Sans"/>
                <a:cs typeface="DejaVu Sans"/>
              </a:defRPr>
            </a:defPPr>
          </a:lstStyle>
          <a:p xmlns:a="http://schemas.openxmlformats.org/drawingml/2006/main">
            <a:pPr>
              <a:defRPr sz="1275" b="0">
                <a:solidFill>
                  <a:srgbClr val="62656A"/>
                </a:solidFill>
                <a:latin typeface="DejaVu Sans"/>
                <a:ea typeface="DejaVu Sans"/>
                <a:cs typeface="DejaVu Sans"/>
              </a:defRPr>
            </a:pPr>
            <a:r>
              <a:rPr sz="1275" b="0">
                <a:solidFill>
                  <a:srgbClr val="62656A"/>
                </a:solidFill>
                <a:latin typeface="DejaVu Sans"/>
                <a:ea typeface="DejaVu Sans"/>
                <a:cs typeface="DejaVu Sans"/>
              </a:rPr>
              <a:t>Source: includes/database.php; includes/bootstrap.php; index.php</a:t>
            </a:r>
          </a:p>
        </p:txBody>
      </p:sp>
      <p:sp>
        <p:nvSpPr>
          <p:cNvPr id="11" name="page-number">
            <a:extLst xmlns:a="http://schemas.openxmlformats.org/drawingml/2006/main">
              <a:ext uri="{FF2B5EF4-FFF2-40B4-BE49-F238E27FC236}">
                <a16:creationId xmlns:a16="http://schemas.microsoft.com/office/drawing/2014/main" id="{1FE6DA00-63B9-4A66-BAA6-86820097B368}"/>
              </a:ext>
            </a:extLst>
          </p:cNvPr>
          <p:cNvSpPr>
            <a:spLocks xmlns:a="http://schemas.openxmlformats.org/drawingml/2006/main" noGrp="1"/>
          </p:cNvSpPr>
          <p:nvPr/>
        </p:nvSpPr>
        <p:spPr>
          <a:xfrm xmlns:a="http://schemas.openxmlformats.org/drawingml/2006/main">
            <a:off x="14097000" y="79819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777777"/>
                </a:solidFill>
                <a:latin typeface="DejaVu Sans"/>
                <a:ea typeface="DejaVu Sans"/>
                <a:cs typeface="DejaVu Sans"/>
              </a:defRPr>
            </a:defPPr>
          </a:lstStyle>
          <a:p xmlns:a="http://schemas.openxmlformats.org/drawingml/2006/main">
            <a:pPr>
              <a:defRPr sz="1350" b="0">
                <a:solidFill>
                  <a:srgbClr val="777777"/>
                </a:solidFill>
                <a:latin typeface="DejaVu Sans"/>
                <a:ea typeface="DejaVu Sans"/>
                <a:cs typeface="DejaVu Sans"/>
              </a:defRPr>
            </a:pPr>
            <a:r>
              <a:rPr sz="1350" b="0">
                <a:solidFill>
                  <a:srgbClr val="777777"/>
                </a:solidFill>
                <a:latin typeface="DejaVu Sans"/>
                <a:ea typeface="DejaVu Sans"/>
                <a:cs typeface="DejaVu Sans"/>
              </a:rPr>
              <a:t>04</a:t>
            </a:r>
          </a:p>
        </p:txBody>
      </p:sp>
    </p:spTree>
    <p:extLst>
      <p:ext uri="{BB962C8B-B14F-4D97-AF65-F5344CB8AC3E}">
        <p14:creationId xmlns:p14="http://schemas.microsoft.com/office/powerpoint/2010/main" val="16090304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9F9D29E-7D7B-47F7-BCB6-7EA22CC37E55}"/>
              </a:ext>
            </a:extLst>
          </p:cNvPr>
          <p:cNvSpPr>
            <a:spLocks xmlns:a="http://schemas.openxmlformats.org/drawingml/2006/main" noGrp="1"/>
          </p:cNvSpPr>
          <p:nvPr/>
        </p:nvSpPr>
        <p:spPr>
          <a:xfrm xmlns:a="http://schemas.openxmlformats.org/drawingml/2006/main">
            <a:off x="762000" y="609600"/>
            <a:ext cx="1371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111111"/>
                </a:solidFill>
                <a:latin typeface="DejaVu Sans"/>
                <a:ea typeface="DejaVu Sans"/>
                <a:cs typeface="DejaVu Sans"/>
              </a:defRPr>
            </a:defPPr>
          </a:lstStyle>
          <a:p xmlns:a="http://schemas.openxmlformats.org/drawingml/2006/main">
            <a:pPr>
              <a:defRPr sz="3600" b="1">
                <a:solidFill>
                  <a:srgbClr val="111111"/>
                </a:solidFill>
                <a:latin typeface="DejaVu Sans"/>
                <a:ea typeface="DejaVu Sans"/>
                <a:cs typeface="DejaVu Sans"/>
              </a:defRPr>
            </a:pPr>
            <a:r>
              <a:rPr sz="3600" b="1">
                <a:solidFill>
                  <a:srgbClr val="111111"/>
                </a:solidFill>
                <a:latin typeface="DejaVu Sans"/>
                <a:ea typeface="DejaVu Sans"/>
                <a:cs typeface="DejaVu Sans"/>
              </a:rPr>
              <a:t>Struktur source code</a:t>
            </a:r>
          </a:p>
        </p:txBody>
      </p:sp>
      <p:graphicFrame>
        <p:nvGraphicFramePr>
          <p:cNvPr id="2" name="">
            <a:extLst xmlns:a="http://schemas.openxmlformats.org/drawingml/2006/main">
              <a:ext uri="{FF2B5EF4-FFF2-40B4-BE49-F238E27FC236}">
                <a16:creationId xmlns:a16="http://schemas.microsoft.com/office/drawing/2014/main" id="{A507850B-5CF9-441D-841B-30C4C6E02196}"/>
              </a:ext>
            </a:extLst>
          </p:cNvPr>
          <p:cNvGraphicFramePr/>
          <p:nvPr/>
        </p:nvGraphicFramePr>
        <p:xfrm>
          <a:off xmlns:a="http://schemas.openxmlformats.org/drawingml/2006/main" x="762000" y="1857375"/>
          <a:ext xmlns:a="http://schemas.openxmlformats.org/drawingml/2006/main" cx="13716000" cy="6096000"/>
        </p:xfrm>
        <a:graphic xmlns:a="http://schemas.openxmlformats.org/drawingml/2006/main">
          <a:graphicData uri="http://schemas.openxmlformats.org/drawingml/2006/table">
            <a:tbl>
              <a:tblPr/>
              <a:tblGrid>
                <a:gridCol w="4476750"/>
                <a:gridCol w="9239250"/>
              </a:tblGrid>
              <a:tr h="762000">
                <a:tc>
                  <a:txBody>
                    <a:bodyPr wrap="square" lIns="133350" tIns="133350" rIns="133350" bIns="133350"/>
                    <a:lstStyle/>
                    <a:p>
                      <a:r>
                        <a:rPr sz="1725" b="1">
                          <a:solidFill>
                            <a:srgbClr val="FFFFFF"/>
                          </a:solidFill>
                          <a:latin typeface="DejaVu Sans"/>
                          <a:ea typeface="DejaVu Sans"/>
                          <a:cs typeface="DejaVu Sans"/>
                        </a:rPr>
                        <a:t>File / folder</a:t>
                      </a:r>
                    </a:p>
                  </a:txBody>
                  <a:tcPr marL="91440" marR="91440" marT="45720" marB="45720" anchor="ctr">
                    <a:lnL w="9525">
                      <a:solidFill>
                        <a:srgbClr val="DEDEDE"/>
                      </a:solidFill>
                      <a:prstDash val="solid"/>
                    </a:lnL>
                    <a:lnR w="9525">
                      <a:solidFill>
                        <a:srgbClr val="DEDEDE"/>
                      </a:solidFill>
                      <a:prstDash val="solid"/>
                    </a:lnR>
                    <a:lnT w="9525">
                      <a:solidFill>
                        <a:srgbClr val="DEDEDE"/>
                      </a:solidFill>
                      <a:prstDash val="solid"/>
                    </a:lnT>
                    <a:lnB w="9525">
                      <a:solidFill>
                        <a:srgbClr val="DEDEDE"/>
                      </a:solidFill>
                      <a:prstDash val="solid"/>
                    </a:lnB>
                    <a:solidFill>
                      <a:srgbClr val="111111"/>
                    </a:solidFill>
                  </a:tcPr>
                </a:tc>
                <a:tc>
                  <a:txBody>
                    <a:bodyPr wrap="square" lIns="133350" tIns="133350" rIns="133350" bIns="133350"/>
                    <a:lstStyle/>
                    <a:p>
                      <a:r>
                        <a:rPr sz="1725" b="1">
                          <a:solidFill>
                            <a:srgbClr val="FFFFFF"/>
                          </a:solidFill>
                          <a:latin typeface="DejaVu Sans"/>
                          <a:ea typeface="DejaVu Sans"/>
                          <a:cs typeface="DejaVu Sans"/>
                        </a:rPr>
                        <a:t>Tanggung jawab</a:t>
                      </a:r>
                    </a:p>
                  </a:txBody>
                  <a:tcPr marL="91440" marR="91440" marT="45720" marB="45720" anchor="ctr">
                    <a:lnR w="9525">
                      <a:solidFill>
                        <a:srgbClr val="DEDEDE"/>
                      </a:solidFill>
                      <a:prstDash val="solid"/>
                    </a:lnR>
                    <a:lnT w="9525">
                      <a:solidFill>
                        <a:srgbClr val="DEDEDE"/>
                      </a:solidFill>
                      <a:prstDash val="solid"/>
                    </a:lnT>
                    <a:lnB w="9525">
                      <a:solidFill>
                        <a:srgbClr val="DEDEDE"/>
                      </a:solidFill>
                      <a:prstDash val="solid"/>
                    </a:lnB>
                    <a:solidFill>
                      <a:srgbClr val="111111"/>
                    </a:solidFill>
                  </a:tcPr>
                </a:tc>
              </a:tr>
              <a:tr h="762000">
                <a:tc>
                  <a:txBody>
                    <a:bodyPr wrap="square" lIns="133350" tIns="133350" rIns="133350" bIns="133350"/>
                    <a:lstStyle/>
                    <a:p>
                      <a:r>
                        <a:rPr sz="1725" b="0">
                          <a:solidFill>
                            <a:srgbClr val="222222"/>
                          </a:solidFill>
                          <a:latin typeface="DejaVu Sans"/>
                          <a:ea typeface="DejaVu Sans"/>
                          <a:cs typeface="DejaVu Sans"/>
                        </a:rPr>
                        <a:t>index.php</a:t>
                      </a:r>
                    </a:p>
                  </a:txBody>
                  <a:tcPr marL="91440" marR="91440" marT="45720" marB="45720" anchor="ctr">
                    <a:lnL w="9525">
                      <a:solidFill>
                        <a:srgbClr val="DEDEDE"/>
                      </a:solidFill>
                      <a:prstDash val="solid"/>
                    </a:lnL>
                    <a:lnR w="9525">
                      <a:solidFill>
                        <a:srgbClr val="DEDEDE"/>
                      </a:solidFill>
                      <a:prstDash val="solid"/>
                    </a:lnR>
                    <a:lnB w="9525">
                      <a:solidFill>
                        <a:srgbClr val="DEDEDE"/>
                      </a:solidFill>
                      <a:prstDash val="solid"/>
                    </a:lnB>
                    <a:solidFill>
                      <a:srgbClr val="FFFFFF"/>
                    </a:solidFill>
                  </a:tcPr>
                </a:tc>
                <a:tc>
                  <a:txBody>
                    <a:bodyPr wrap="square" lIns="133350" tIns="133350" rIns="133350" bIns="133350"/>
                    <a:lstStyle/>
                    <a:p>
                      <a:r>
                        <a:rPr sz="1725" b="0">
                          <a:solidFill>
                            <a:srgbClr val="222222"/>
                          </a:solidFill>
                          <a:latin typeface="DejaVu Sans"/>
                          <a:ea typeface="DejaVu Sans"/>
                          <a:cs typeface="DejaVu Sans"/>
                        </a:rPr>
                        <a:t>Routing, tampilan dan query riwayat</a:t>
                      </a:r>
                    </a:p>
                  </a:txBody>
                  <a:tcPr marL="91440" marR="91440" marT="45720" marB="45720" anchor="ctr">
                    <a:lnR w="9525">
                      <a:solidFill>
                        <a:srgbClr val="DEDEDE"/>
                      </a:solidFill>
                      <a:prstDash val="solid"/>
                    </a:lnR>
                    <a:lnB w="9525">
                      <a:solidFill>
                        <a:srgbClr val="DEDEDE"/>
                      </a:solidFill>
                      <a:prstDash val="solid"/>
                    </a:lnB>
                    <a:solidFill>
                      <a:srgbClr val="FFFFFF"/>
                    </a:solidFill>
                  </a:tcPr>
                </a:tc>
              </a:tr>
              <a:tr h="762000">
                <a:tc>
                  <a:txBody>
                    <a:bodyPr wrap="square" lIns="133350" tIns="133350" rIns="133350" bIns="133350"/>
                    <a:lstStyle/>
                    <a:p>
                      <a:r>
                        <a:rPr sz="1725" b="0">
                          <a:solidFill>
                            <a:srgbClr val="222222"/>
                          </a:solidFill>
                          <a:latin typeface="DejaVu Sans"/>
                          <a:ea typeface="DejaVu Sans"/>
                          <a:cs typeface="DejaVu Sans"/>
                        </a:rPr>
                        <a:t>config/database.php</a:t>
                      </a:r>
                    </a:p>
                  </a:txBody>
                  <a:tcPr marL="91440" marR="91440" marT="45720" marB="45720" anchor="ctr">
                    <a:lnL w="9525">
                      <a:solidFill>
                        <a:srgbClr val="DEDEDE"/>
                      </a:solidFill>
                      <a:prstDash val="solid"/>
                    </a:lnL>
                    <a:lnR w="9525">
                      <a:solidFill>
                        <a:srgbClr val="DEDEDE"/>
                      </a:solidFill>
                      <a:prstDash val="solid"/>
                    </a:lnR>
                    <a:lnB w="9525">
                      <a:solidFill>
                        <a:srgbClr val="DEDEDE"/>
                      </a:solidFill>
                      <a:prstDash val="solid"/>
                    </a:lnB>
                    <a:solidFill>
                      <a:srgbClr val="F4F4F2"/>
                    </a:solidFill>
                  </a:tcPr>
                </a:tc>
                <a:tc>
                  <a:txBody>
                    <a:bodyPr wrap="square" lIns="133350" tIns="133350" rIns="133350" bIns="133350"/>
                    <a:lstStyle/>
                    <a:p>
                      <a:r>
                        <a:rPr sz="1725" b="0">
                          <a:solidFill>
                            <a:srgbClr val="222222"/>
                          </a:solidFill>
                          <a:latin typeface="DejaVu Sans"/>
                          <a:ea typeface="DejaVu Sans"/>
                          <a:cs typeface="DejaVu Sans"/>
                        </a:rPr>
                        <a:t>Host, port dan akun MySQL</a:t>
                      </a:r>
                    </a:p>
                  </a:txBody>
                  <a:tcPr marL="91440" marR="91440" marT="45720" marB="45720" anchor="ctr">
                    <a:lnR w="9525">
                      <a:solidFill>
                        <a:srgbClr val="DEDEDE"/>
                      </a:solidFill>
                      <a:prstDash val="solid"/>
                    </a:lnR>
                    <a:lnB w="9525">
                      <a:solidFill>
                        <a:srgbClr val="DEDEDE"/>
                      </a:solidFill>
                      <a:prstDash val="solid"/>
                    </a:lnB>
                    <a:solidFill>
                      <a:srgbClr val="F4F4F2"/>
                    </a:solidFill>
                  </a:tcPr>
                </a:tc>
              </a:tr>
              <a:tr h="762000">
                <a:tc>
                  <a:txBody>
                    <a:bodyPr wrap="square" lIns="133350" tIns="133350" rIns="133350" bIns="133350"/>
                    <a:lstStyle/>
                    <a:p>
                      <a:r>
                        <a:rPr sz="1725" b="0">
                          <a:solidFill>
                            <a:srgbClr val="222222"/>
                          </a:solidFill>
                          <a:latin typeface="DejaVu Sans"/>
                          <a:ea typeface="DejaVu Sans"/>
                          <a:cs typeface="DejaVu Sans"/>
                        </a:rPr>
                        <a:t>includes/database.php</a:t>
                      </a:r>
                    </a:p>
                  </a:txBody>
                  <a:tcPr marL="91440" marR="91440" marT="45720" marB="45720" anchor="ctr">
                    <a:lnL w="9525">
                      <a:solidFill>
                        <a:srgbClr val="DEDEDE"/>
                      </a:solidFill>
                      <a:prstDash val="solid"/>
                    </a:lnL>
                    <a:lnR w="9525">
                      <a:solidFill>
                        <a:srgbClr val="DEDEDE"/>
                      </a:solidFill>
                      <a:prstDash val="solid"/>
                    </a:lnR>
                    <a:lnB w="9525">
                      <a:solidFill>
                        <a:srgbClr val="DEDEDE"/>
                      </a:solidFill>
                      <a:prstDash val="solid"/>
                    </a:lnB>
                    <a:solidFill>
                      <a:srgbClr val="FFFFFF"/>
                    </a:solidFill>
                  </a:tcPr>
                </a:tc>
                <a:tc>
                  <a:txBody>
                    <a:bodyPr wrap="square" lIns="133350" tIns="133350" rIns="133350" bIns="133350"/>
                    <a:lstStyle/>
                    <a:p>
                      <a:r>
                        <a:rPr sz="1725" b="0">
                          <a:solidFill>
                            <a:srgbClr val="222222"/>
                          </a:solidFill>
                          <a:latin typeface="DejaVu Sans"/>
                          <a:ea typeface="DejaVu Sans"/>
                          <a:cs typeface="DejaVu Sans"/>
                        </a:rPr>
                        <a:t>Koneksi PDO</a:t>
                      </a:r>
                    </a:p>
                  </a:txBody>
                  <a:tcPr marL="91440" marR="91440" marT="45720" marB="45720" anchor="ctr">
                    <a:lnR w="9525">
                      <a:solidFill>
                        <a:srgbClr val="DEDEDE"/>
                      </a:solidFill>
                      <a:prstDash val="solid"/>
                    </a:lnR>
                    <a:lnB w="9525">
                      <a:solidFill>
                        <a:srgbClr val="DEDEDE"/>
                      </a:solidFill>
                      <a:prstDash val="solid"/>
                    </a:lnB>
                    <a:solidFill>
                      <a:srgbClr val="FFFFFF"/>
                    </a:solidFill>
                  </a:tcPr>
                </a:tc>
              </a:tr>
              <a:tr h="762000">
                <a:tc>
                  <a:txBody>
                    <a:bodyPr wrap="square" lIns="133350" tIns="133350" rIns="133350" bIns="133350"/>
                    <a:lstStyle/>
                    <a:p>
                      <a:r>
                        <a:rPr sz="1725" b="0">
                          <a:solidFill>
                            <a:srgbClr val="222222"/>
                          </a:solidFill>
                          <a:latin typeface="DejaVu Sans"/>
                          <a:ea typeface="DejaVu Sans"/>
                          <a:cs typeface="DejaVu Sans"/>
                        </a:rPr>
                        <a:t>includes/products.php</a:t>
                      </a:r>
                    </a:p>
                  </a:txBody>
                  <a:tcPr marL="91440" marR="91440" marT="45720" marB="45720" anchor="ctr">
                    <a:lnL w="9525">
                      <a:solidFill>
                        <a:srgbClr val="DEDEDE"/>
                      </a:solidFill>
                      <a:prstDash val="solid"/>
                    </a:lnL>
                    <a:lnR w="9525">
                      <a:solidFill>
                        <a:srgbClr val="DEDEDE"/>
                      </a:solidFill>
                      <a:prstDash val="solid"/>
                    </a:lnR>
                    <a:lnB w="9525">
                      <a:solidFill>
                        <a:srgbClr val="DEDEDE"/>
                      </a:solidFill>
                      <a:prstDash val="solid"/>
                    </a:lnB>
                    <a:solidFill>
                      <a:srgbClr val="F4F4F2"/>
                    </a:solidFill>
                  </a:tcPr>
                </a:tc>
                <a:tc>
                  <a:txBody>
                    <a:bodyPr wrap="square" lIns="133350" tIns="133350" rIns="133350" bIns="133350"/>
                    <a:lstStyle/>
                    <a:p>
                      <a:r>
                        <a:rPr sz="1725" b="0">
                          <a:solidFill>
                            <a:srgbClr val="222222"/>
                          </a:solidFill>
                          <a:latin typeface="DejaVu Sans"/>
                          <a:ea typeface="DejaVu Sans"/>
                          <a:cs typeface="DejaVu Sans"/>
                        </a:rPr>
                        <a:t>SELECT katalog menjadi array</a:t>
                      </a:r>
                    </a:p>
                  </a:txBody>
                  <a:tcPr marL="91440" marR="91440" marT="45720" marB="45720" anchor="ctr">
                    <a:lnR w="9525">
                      <a:solidFill>
                        <a:srgbClr val="DEDEDE"/>
                      </a:solidFill>
                      <a:prstDash val="solid"/>
                    </a:lnR>
                    <a:lnB w="9525">
                      <a:solidFill>
                        <a:srgbClr val="DEDEDE"/>
                      </a:solidFill>
                      <a:prstDash val="solid"/>
                    </a:lnB>
                    <a:solidFill>
                      <a:srgbClr val="F4F4F2"/>
                    </a:solidFill>
                  </a:tcPr>
                </a:tc>
              </a:tr>
              <a:tr h="762000">
                <a:tc>
                  <a:txBody>
                    <a:bodyPr wrap="square" lIns="133350" tIns="133350" rIns="133350" bIns="133350"/>
                    <a:lstStyle/>
                    <a:p>
                      <a:r>
                        <a:rPr sz="1725" b="0">
                          <a:solidFill>
                            <a:srgbClr val="222222"/>
                          </a:solidFill>
                          <a:latin typeface="DejaVu Sans"/>
                          <a:ea typeface="DejaVu Sans"/>
                          <a:cs typeface="DejaVu Sans"/>
                        </a:rPr>
                        <a:t>includes/actions.php</a:t>
                      </a:r>
                    </a:p>
                  </a:txBody>
                  <a:tcPr marL="91440" marR="91440" marT="45720" marB="45720" anchor="ctr">
                    <a:lnL w="9525">
                      <a:solidFill>
                        <a:srgbClr val="DEDEDE"/>
                      </a:solidFill>
                      <a:prstDash val="solid"/>
                    </a:lnL>
                    <a:lnR w="9525">
                      <a:solidFill>
                        <a:srgbClr val="DEDEDE"/>
                      </a:solidFill>
                      <a:prstDash val="solid"/>
                    </a:lnR>
                    <a:lnB w="9525">
                      <a:solidFill>
                        <a:srgbClr val="DEDEDE"/>
                      </a:solidFill>
                      <a:prstDash val="solid"/>
                    </a:lnB>
                    <a:solidFill>
                      <a:srgbClr val="FFFFFF"/>
                    </a:solidFill>
                  </a:tcPr>
                </a:tc>
                <a:tc>
                  <a:txBody>
                    <a:bodyPr wrap="square" lIns="133350" tIns="133350" rIns="133350" bIns="133350"/>
                    <a:lstStyle/>
                    <a:p>
                      <a:r>
                        <a:rPr sz="1725" b="0">
                          <a:solidFill>
                            <a:srgbClr val="222222"/>
                          </a:solidFill>
                          <a:latin typeface="DejaVu Sans"/>
                          <a:ea typeface="DejaVu Sans"/>
                          <a:cs typeface="DejaVu Sans"/>
                        </a:rPr>
                        <a:t>POST, query akun dan transaksi checkout</a:t>
                      </a:r>
                    </a:p>
                  </a:txBody>
                  <a:tcPr marL="91440" marR="91440" marT="45720" marB="45720" anchor="ctr">
                    <a:lnR w="9525">
                      <a:solidFill>
                        <a:srgbClr val="DEDEDE"/>
                      </a:solidFill>
                      <a:prstDash val="solid"/>
                    </a:lnR>
                    <a:lnB w="9525">
                      <a:solidFill>
                        <a:srgbClr val="DEDEDE"/>
                      </a:solidFill>
                      <a:prstDash val="solid"/>
                    </a:lnB>
                    <a:solidFill>
                      <a:srgbClr val="FFFFFF"/>
                    </a:solidFill>
                  </a:tcPr>
                </a:tc>
              </a:tr>
              <a:tr h="762000">
                <a:tc>
                  <a:txBody>
                    <a:bodyPr wrap="square" lIns="133350" tIns="133350" rIns="133350" bIns="133350"/>
                    <a:lstStyle/>
                    <a:p>
                      <a:r>
                        <a:rPr sz="1725" b="0">
                          <a:solidFill>
                            <a:srgbClr val="222222"/>
                          </a:solidFill>
                          <a:latin typeface="DejaVu Sans"/>
                          <a:ea typeface="DejaVu Sans"/>
                          <a:cs typeface="DejaVu Sans"/>
                        </a:rPr>
                        <a:t>bootstrap.php / layout.php</a:t>
                      </a:r>
                    </a:p>
                  </a:txBody>
                  <a:tcPr marL="91440" marR="91440" marT="45720" marB="45720" anchor="ctr">
                    <a:lnL w="9525">
                      <a:solidFill>
                        <a:srgbClr val="DEDEDE"/>
                      </a:solidFill>
                      <a:prstDash val="solid"/>
                    </a:lnL>
                    <a:lnR w="9525">
                      <a:solidFill>
                        <a:srgbClr val="DEDEDE"/>
                      </a:solidFill>
                      <a:prstDash val="solid"/>
                    </a:lnR>
                    <a:lnB w="9525">
                      <a:solidFill>
                        <a:srgbClr val="DEDEDE"/>
                      </a:solidFill>
                      <a:prstDash val="solid"/>
                    </a:lnB>
                    <a:solidFill>
                      <a:srgbClr val="F4F4F2"/>
                    </a:solidFill>
                  </a:tcPr>
                </a:tc>
                <a:tc>
                  <a:txBody>
                    <a:bodyPr wrap="square" lIns="133350" tIns="133350" rIns="133350" bIns="133350"/>
                    <a:lstStyle/>
                    <a:p>
                      <a:r>
                        <a:rPr sz="1725" b="0">
                          <a:solidFill>
                            <a:srgbClr val="222222"/>
                          </a:solidFill>
                          <a:latin typeface="DejaVu Sans"/>
                          <a:ea typeface="DejaVu Sans"/>
                          <a:cs typeface="DejaVu Sans"/>
                        </a:rPr>
                        <a:t>Session, helper dan tampilan bersama</a:t>
                      </a:r>
                    </a:p>
                  </a:txBody>
                  <a:tcPr marL="91440" marR="91440" marT="45720" marB="45720" anchor="ctr">
                    <a:lnR w="9525">
                      <a:solidFill>
                        <a:srgbClr val="DEDEDE"/>
                      </a:solidFill>
                      <a:prstDash val="solid"/>
                    </a:lnR>
                    <a:lnB w="9525">
                      <a:solidFill>
                        <a:srgbClr val="DEDEDE"/>
                      </a:solidFill>
                      <a:prstDash val="solid"/>
                    </a:lnB>
                    <a:solidFill>
                      <a:srgbClr val="F4F4F2"/>
                    </a:solidFill>
                  </a:tcPr>
                </a:tc>
              </a:tr>
              <a:tr h="762000">
                <a:tc>
                  <a:txBody>
                    <a:bodyPr wrap="square" lIns="133350" tIns="133350" rIns="133350" bIns="133350"/>
                    <a:lstStyle/>
                    <a:p>
                      <a:r>
                        <a:rPr sz="1725" b="0">
                          <a:solidFill>
                            <a:srgbClr val="222222"/>
                          </a:solidFill>
                          <a:latin typeface="DejaVu Sans"/>
                          <a:ea typeface="DejaVu Sans"/>
                          <a:cs typeface="DejaVu Sans"/>
                        </a:rPr>
                        <a:t>database/doom_reversal.sql</a:t>
                      </a:r>
                    </a:p>
                  </a:txBody>
                  <a:tcPr marL="91440" marR="91440" marT="45720" marB="45720" anchor="ctr">
                    <a:lnL w="9525">
                      <a:solidFill>
                        <a:srgbClr val="DEDEDE"/>
                      </a:solidFill>
                      <a:prstDash val="solid"/>
                    </a:lnL>
                    <a:lnR w="9525">
                      <a:solidFill>
                        <a:srgbClr val="DEDEDE"/>
                      </a:solidFill>
                      <a:prstDash val="solid"/>
                    </a:lnR>
                    <a:lnB w="9525">
                      <a:solidFill>
                        <a:srgbClr val="DEDEDE"/>
                      </a:solidFill>
                      <a:prstDash val="solid"/>
                    </a:lnB>
                    <a:solidFill>
                      <a:srgbClr val="FFFFFF"/>
                    </a:solidFill>
                  </a:tcPr>
                </a:tc>
                <a:tc>
                  <a:txBody>
                    <a:bodyPr wrap="square" lIns="133350" tIns="133350" rIns="133350" bIns="133350"/>
                    <a:lstStyle/>
                    <a:p>
                      <a:r>
                        <a:rPr sz="1725" b="0">
                          <a:solidFill>
                            <a:srgbClr val="222222"/>
                          </a:solidFill>
                          <a:latin typeface="DejaVu Sans"/>
                          <a:ea typeface="DejaVu Sans"/>
                          <a:cs typeface="DejaVu Sans"/>
                        </a:rPr>
                        <a:t>Schema dan seed 13 produk</a:t>
                      </a:r>
                    </a:p>
                  </a:txBody>
                  <a:tcPr marL="91440" marR="91440" marT="45720" marB="45720" anchor="ctr">
                    <a:lnR w="9525">
                      <a:solidFill>
                        <a:srgbClr val="DEDEDE"/>
                      </a:solidFill>
                      <a:prstDash val="solid"/>
                    </a:lnR>
                    <a:lnB w="9525">
                      <a:solidFill>
                        <a:srgbClr val="DEDEDE"/>
                      </a:solidFill>
                      <a:prstDash val="solid"/>
                    </a:lnB>
                    <a:solidFill>
                      <a:srgbClr val="FFFFFF"/>
                    </a:solidFill>
                  </a:tcPr>
                </a:tc>
              </a:tr>
            </a:tbl>
          </a:graphicData>
        </a:graphic>
      </p:graphicFrame>
      <p:sp>
        <p:nvSpPr>
          <p:cNvPr id="3" name="source-label">
            <a:extLst xmlns:a="http://schemas.openxmlformats.org/drawingml/2006/main">
              <a:ext uri="{FF2B5EF4-FFF2-40B4-BE49-F238E27FC236}">
                <a16:creationId xmlns:a16="http://schemas.microsoft.com/office/drawing/2014/main" id="{0A42FFF8-62AD-4BCF-9EA9-D0ADDA03D650}"/>
              </a:ext>
            </a:extLst>
          </p:cNvPr>
          <p:cNvSpPr>
            <a:spLocks xmlns:a="http://schemas.openxmlformats.org/drawingml/2006/main" noGrp="1"/>
          </p:cNvSpPr>
          <p:nvPr/>
        </p:nvSpPr>
        <p:spPr>
          <a:xfrm xmlns:a="http://schemas.openxmlformats.org/drawingml/2006/main">
            <a:off x="762000" y="7981950"/>
            <a:ext cx="1266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62656A"/>
                </a:solidFill>
                <a:latin typeface="DejaVu Sans"/>
                <a:ea typeface="DejaVu Sans"/>
                <a:cs typeface="DejaVu Sans"/>
              </a:defRPr>
            </a:defPPr>
          </a:lstStyle>
          <a:p xmlns:a="http://schemas.openxmlformats.org/drawingml/2006/main">
            <a:pPr>
              <a:defRPr sz="1275" b="0">
                <a:solidFill>
                  <a:srgbClr val="62656A"/>
                </a:solidFill>
                <a:latin typeface="DejaVu Sans"/>
                <a:ea typeface="DejaVu Sans"/>
                <a:cs typeface="DejaVu Sans"/>
              </a:defRPr>
            </a:pPr>
            <a:r>
              <a:rPr sz="1275" b="0">
                <a:solidFill>
                  <a:srgbClr val="62656A"/>
                </a:solidFill>
                <a:latin typeface="DejaVu Sans"/>
                <a:ea typeface="DejaVu Sans"/>
                <a:cs typeface="DejaVu Sans"/>
              </a:rPr>
              <a:t>Source: Folder doom-reversal</a:t>
            </a:r>
          </a:p>
        </p:txBody>
      </p:sp>
      <p:sp>
        <p:nvSpPr>
          <p:cNvPr id="4" name="page-number">
            <a:extLst xmlns:a="http://schemas.openxmlformats.org/drawingml/2006/main">
              <a:ext uri="{FF2B5EF4-FFF2-40B4-BE49-F238E27FC236}">
                <a16:creationId xmlns:a16="http://schemas.microsoft.com/office/drawing/2014/main" id="{F08218D9-06EE-4C0A-9CD4-FC73A218DF5A}"/>
              </a:ext>
            </a:extLst>
          </p:cNvPr>
          <p:cNvSpPr>
            <a:spLocks xmlns:a="http://schemas.openxmlformats.org/drawingml/2006/main" noGrp="1"/>
          </p:cNvSpPr>
          <p:nvPr/>
        </p:nvSpPr>
        <p:spPr>
          <a:xfrm xmlns:a="http://schemas.openxmlformats.org/drawingml/2006/main">
            <a:off x="14097000" y="79819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777777"/>
                </a:solidFill>
                <a:latin typeface="DejaVu Sans"/>
                <a:ea typeface="DejaVu Sans"/>
                <a:cs typeface="DejaVu Sans"/>
              </a:defRPr>
            </a:defPPr>
          </a:lstStyle>
          <a:p xmlns:a="http://schemas.openxmlformats.org/drawingml/2006/main">
            <a:pPr>
              <a:defRPr sz="1350" b="0">
                <a:solidFill>
                  <a:srgbClr val="777777"/>
                </a:solidFill>
                <a:latin typeface="DejaVu Sans"/>
                <a:ea typeface="DejaVu Sans"/>
                <a:cs typeface="DejaVu Sans"/>
              </a:defRPr>
            </a:pPr>
            <a:r>
              <a:rPr sz="1350" b="0">
                <a:solidFill>
                  <a:srgbClr val="777777"/>
                </a:solidFill>
                <a:latin typeface="DejaVu Sans"/>
                <a:ea typeface="DejaVu Sans"/>
                <a:cs typeface="DejaVu Sans"/>
              </a:rPr>
              <a:t>05</a:t>
            </a:r>
          </a:p>
        </p:txBody>
      </p:sp>
    </p:spTree>
    <p:extLst>
      <p:ext uri="{BB962C8B-B14F-4D97-AF65-F5344CB8AC3E}">
        <p14:creationId xmlns:p14="http://schemas.microsoft.com/office/powerpoint/2010/main" val="137252335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0BF386E-1AC7-47FA-B523-5BA3E6F7D019}"/>
              </a:ext>
            </a:extLst>
          </p:cNvPr>
          <p:cNvSpPr>
            <a:spLocks xmlns:a="http://schemas.openxmlformats.org/drawingml/2006/main" noGrp="1"/>
          </p:cNvSpPr>
          <p:nvPr/>
        </p:nvSpPr>
        <p:spPr>
          <a:xfrm xmlns:a="http://schemas.openxmlformats.org/drawingml/2006/main">
            <a:off x="762000" y="609600"/>
            <a:ext cx="1371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111111"/>
                </a:solidFill>
                <a:latin typeface="DejaVu Sans"/>
                <a:ea typeface="DejaVu Sans"/>
                <a:cs typeface="DejaVu Sans"/>
              </a:defRPr>
            </a:defPPr>
          </a:lstStyle>
          <a:p xmlns:a="http://schemas.openxmlformats.org/drawingml/2006/main">
            <a:pPr>
              <a:defRPr sz="3600" b="1">
                <a:solidFill>
                  <a:srgbClr val="111111"/>
                </a:solidFill>
                <a:latin typeface="DejaVu Sans"/>
                <a:ea typeface="DejaVu Sans"/>
                <a:cs typeface="DejaVu Sans"/>
              </a:defRPr>
            </a:pPr>
            <a:r>
              <a:rPr sz="3600" b="1">
                <a:solidFill>
                  <a:srgbClr val="111111"/>
                </a:solidFill>
                <a:latin typeface="DejaVu Sans"/>
                <a:ea typeface="DejaVu Sans"/>
                <a:cs typeface="DejaVu Sans"/>
              </a:rPr>
              <a:t>Lima tabel penyimpanan</a:t>
            </a:r>
          </a:p>
        </p:txBody>
      </p:sp>
      <p:graphicFrame>
        <p:nvGraphicFramePr>
          <p:cNvPr id="2" name="">
            <a:extLst xmlns:a="http://schemas.openxmlformats.org/drawingml/2006/main">
              <a:ext uri="{FF2B5EF4-FFF2-40B4-BE49-F238E27FC236}">
                <a16:creationId xmlns:a16="http://schemas.microsoft.com/office/drawing/2014/main" id="{A5AD4DCB-1751-4FFB-B425-95C3D08C269E}"/>
              </a:ext>
            </a:extLst>
          </p:cNvPr>
          <p:cNvGraphicFramePr/>
          <p:nvPr/>
        </p:nvGraphicFramePr>
        <p:xfrm>
          <a:off xmlns:a="http://schemas.openxmlformats.org/drawingml/2006/main" x="762000" y="1857375"/>
          <a:ext xmlns:a="http://schemas.openxmlformats.org/drawingml/2006/main" cx="13716000" cy="4572000"/>
        </p:xfrm>
        <a:graphic xmlns:a="http://schemas.openxmlformats.org/drawingml/2006/main">
          <a:graphicData uri="http://schemas.openxmlformats.org/drawingml/2006/table">
            <a:tbl>
              <a:tblPr/>
              <a:tblGrid>
                <a:gridCol w="2762250"/>
                <a:gridCol w="6334125"/>
                <a:gridCol w="4619625"/>
              </a:tblGrid>
              <a:tr h="762000">
                <a:tc>
                  <a:txBody>
                    <a:bodyPr wrap="square" lIns="133350" tIns="133350" rIns="133350" bIns="133350"/>
                    <a:lstStyle/>
                    <a:p>
                      <a:r>
                        <a:rPr sz="1725" b="1">
                          <a:solidFill>
                            <a:srgbClr val="FFFFFF"/>
                          </a:solidFill>
                          <a:latin typeface="DejaVu Sans"/>
                          <a:ea typeface="DejaVu Sans"/>
                          <a:cs typeface="DejaVu Sans"/>
                        </a:rPr>
                        <a:t>Tabel</a:t>
                      </a:r>
                    </a:p>
                  </a:txBody>
                  <a:tcPr marL="91440" marR="91440" marT="45720" marB="45720" anchor="ctr">
                    <a:lnL w="9525">
                      <a:solidFill>
                        <a:srgbClr val="DEDEDE"/>
                      </a:solidFill>
                      <a:prstDash val="solid"/>
                    </a:lnL>
                    <a:lnR w="9525">
                      <a:solidFill>
                        <a:srgbClr val="DEDEDE"/>
                      </a:solidFill>
                      <a:prstDash val="solid"/>
                    </a:lnR>
                    <a:lnT w="9525">
                      <a:solidFill>
                        <a:srgbClr val="DEDEDE"/>
                      </a:solidFill>
                      <a:prstDash val="solid"/>
                    </a:lnT>
                    <a:lnB w="9525">
                      <a:solidFill>
                        <a:srgbClr val="DEDEDE"/>
                      </a:solidFill>
                      <a:prstDash val="solid"/>
                    </a:lnB>
                    <a:solidFill>
                      <a:srgbClr val="111111"/>
                    </a:solidFill>
                  </a:tcPr>
                </a:tc>
                <a:tc>
                  <a:txBody>
                    <a:bodyPr wrap="square" lIns="133350" tIns="133350" rIns="133350" bIns="133350"/>
                    <a:lstStyle/>
                    <a:p>
                      <a:r>
                        <a:rPr sz="1725" b="1">
                          <a:solidFill>
                            <a:srgbClr val="FFFFFF"/>
                          </a:solidFill>
                          <a:latin typeface="DejaVu Sans"/>
                          <a:ea typeface="DejaVu Sans"/>
                          <a:cs typeface="DejaVu Sans"/>
                        </a:rPr>
                        <a:t>Data utama</a:t>
                      </a:r>
                    </a:p>
                  </a:txBody>
                  <a:tcPr marL="91440" marR="91440" marT="45720" marB="45720" anchor="ctr">
                    <a:lnR w="9525">
                      <a:solidFill>
                        <a:srgbClr val="DEDEDE"/>
                      </a:solidFill>
                      <a:prstDash val="solid"/>
                    </a:lnR>
                    <a:lnT w="9525">
                      <a:solidFill>
                        <a:srgbClr val="DEDEDE"/>
                      </a:solidFill>
                      <a:prstDash val="solid"/>
                    </a:lnT>
                    <a:lnB w="9525">
                      <a:solidFill>
                        <a:srgbClr val="DEDEDE"/>
                      </a:solidFill>
                      <a:prstDash val="solid"/>
                    </a:lnB>
                    <a:solidFill>
                      <a:srgbClr val="111111"/>
                    </a:solidFill>
                  </a:tcPr>
                </a:tc>
                <a:tc>
                  <a:txBody>
                    <a:bodyPr wrap="square" lIns="133350" tIns="133350" rIns="133350" bIns="133350"/>
                    <a:lstStyle/>
                    <a:p>
                      <a:r>
                        <a:rPr sz="1725" b="1">
                          <a:solidFill>
                            <a:srgbClr val="FFFFFF"/>
                          </a:solidFill>
                          <a:latin typeface="DejaVu Sans"/>
                          <a:ea typeface="DejaVu Sans"/>
                          <a:cs typeface="DejaVu Sans"/>
                        </a:rPr>
                        <a:t>Relasi</a:t>
                      </a:r>
                    </a:p>
                  </a:txBody>
                  <a:tcPr marL="91440" marR="91440" marT="45720" marB="45720" anchor="ctr">
                    <a:lnR w="9525">
                      <a:solidFill>
                        <a:srgbClr val="DEDEDE"/>
                      </a:solidFill>
                      <a:prstDash val="solid"/>
                    </a:lnR>
                    <a:lnT w="9525">
                      <a:solidFill>
                        <a:srgbClr val="DEDEDE"/>
                      </a:solidFill>
                      <a:prstDash val="solid"/>
                    </a:lnT>
                    <a:lnB w="9525">
                      <a:solidFill>
                        <a:srgbClr val="DEDEDE"/>
                      </a:solidFill>
                      <a:prstDash val="solid"/>
                    </a:lnB>
                    <a:solidFill>
                      <a:srgbClr val="111111"/>
                    </a:solidFill>
                  </a:tcPr>
                </a:tc>
              </a:tr>
              <a:tr h="762000">
                <a:tc>
                  <a:txBody>
                    <a:bodyPr wrap="square" lIns="133350" tIns="133350" rIns="133350" bIns="133350"/>
                    <a:lstStyle/>
                    <a:p>
                      <a:r>
                        <a:rPr sz="1725" b="0">
                          <a:solidFill>
                            <a:srgbClr val="222222"/>
                          </a:solidFill>
                          <a:latin typeface="DejaVu Sans"/>
                          <a:ea typeface="DejaVu Sans"/>
                          <a:cs typeface="DejaVu Sans"/>
                        </a:rPr>
                        <a:t>users</a:t>
                      </a:r>
                    </a:p>
                  </a:txBody>
                  <a:tcPr marL="91440" marR="91440" marT="45720" marB="45720" anchor="ctr">
                    <a:lnL w="9525">
                      <a:solidFill>
                        <a:srgbClr val="DEDEDE"/>
                      </a:solidFill>
                      <a:prstDash val="solid"/>
                    </a:lnL>
                    <a:lnR w="9525">
                      <a:solidFill>
                        <a:srgbClr val="DEDEDE"/>
                      </a:solidFill>
                      <a:prstDash val="solid"/>
                    </a:lnR>
                    <a:lnB w="9525">
                      <a:solidFill>
                        <a:srgbClr val="DEDEDE"/>
                      </a:solidFill>
                      <a:prstDash val="solid"/>
                    </a:lnB>
                    <a:solidFill>
                      <a:srgbClr val="FFFFFF"/>
                    </a:solidFill>
                  </a:tcPr>
                </a:tc>
                <a:tc>
                  <a:txBody>
                    <a:bodyPr wrap="square" lIns="133350" tIns="133350" rIns="133350" bIns="133350"/>
                    <a:lstStyle/>
                    <a:p>
                      <a:r>
                        <a:rPr sz="1725" b="0">
                          <a:solidFill>
                            <a:srgbClr val="222222"/>
                          </a:solidFill>
                          <a:latin typeface="DejaVu Sans"/>
                          <a:ea typeface="DejaVu Sans"/>
                          <a:cs typeface="DejaVu Sans"/>
                        </a:rPr>
                        <a:t>Nama, email unik, password_hash</a:t>
                      </a:r>
                    </a:p>
                  </a:txBody>
                  <a:tcPr marL="91440" marR="91440" marT="45720" marB="45720" anchor="ctr">
                    <a:lnR w="9525">
                      <a:solidFill>
                        <a:srgbClr val="DEDEDE"/>
                      </a:solidFill>
                      <a:prstDash val="solid"/>
                    </a:lnR>
                    <a:lnB w="9525">
                      <a:solidFill>
                        <a:srgbClr val="DEDEDE"/>
                      </a:solidFill>
                      <a:prstDash val="solid"/>
                    </a:lnB>
                    <a:solidFill>
                      <a:srgbClr val="FFFFFF"/>
                    </a:solidFill>
                  </a:tcPr>
                </a:tc>
                <a:tc>
                  <a:txBody>
                    <a:bodyPr wrap="square" lIns="133350" tIns="133350" rIns="133350" bIns="133350"/>
                    <a:lstStyle/>
                    <a:p>
                      <a:r>
                        <a:rPr sz="1725" b="0">
                          <a:solidFill>
                            <a:srgbClr val="222222"/>
                          </a:solidFill>
                          <a:latin typeface="DejaVu Sans"/>
                          <a:ea typeface="DejaVu Sans"/>
                          <a:cs typeface="DejaVu Sans"/>
                        </a:rPr>
                        <a:t>User 1:N orders</a:t>
                      </a:r>
                    </a:p>
                  </a:txBody>
                  <a:tcPr marL="91440" marR="91440" marT="45720" marB="45720" anchor="ctr">
                    <a:lnR w="9525">
                      <a:solidFill>
                        <a:srgbClr val="DEDEDE"/>
                      </a:solidFill>
                      <a:prstDash val="solid"/>
                    </a:lnR>
                    <a:lnB w="9525">
                      <a:solidFill>
                        <a:srgbClr val="DEDEDE"/>
                      </a:solidFill>
                      <a:prstDash val="solid"/>
                    </a:lnB>
                    <a:solidFill>
                      <a:srgbClr val="FFFFFF"/>
                    </a:solidFill>
                  </a:tcPr>
                </a:tc>
              </a:tr>
              <a:tr h="762000">
                <a:tc>
                  <a:txBody>
                    <a:bodyPr wrap="square" lIns="133350" tIns="133350" rIns="133350" bIns="133350"/>
                    <a:lstStyle/>
                    <a:p>
                      <a:r>
                        <a:rPr sz="1725" b="0">
                          <a:solidFill>
                            <a:srgbClr val="222222"/>
                          </a:solidFill>
                          <a:latin typeface="DejaVu Sans"/>
                          <a:ea typeface="DejaVu Sans"/>
                          <a:cs typeface="DejaVu Sans"/>
                        </a:rPr>
                        <a:t>products</a:t>
                      </a:r>
                    </a:p>
                  </a:txBody>
                  <a:tcPr marL="91440" marR="91440" marT="45720" marB="45720" anchor="ctr">
                    <a:lnL w="9525">
                      <a:solidFill>
                        <a:srgbClr val="DEDEDE"/>
                      </a:solidFill>
                      <a:prstDash val="solid"/>
                    </a:lnL>
                    <a:lnR w="9525">
                      <a:solidFill>
                        <a:srgbClr val="DEDEDE"/>
                      </a:solidFill>
                      <a:prstDash val="solid"/>
                    </a:lnR>
                    <a:lnB w="9525">
                      <a:solidFill>
                        <a:srgbClr val="DEDEDE"/>
                      </a:solidFill>
                      <a:prstDash val="solid"/>
                    </a:lnB>
                    <a:solidFill>
                      <a:srgbClr val="F4F4F2"/>
                    </a:solidFill>
                  </a:tcPr>
                </a:tc>
                <a:tc>
                  <a:txBody>
                    <a:bodyPr wrap="square" lIns="133350" tIns="133350" rIns="133350" bIns="133350"/>
                    <a:lstStyle/>
                    <a:p>
                      <a:r>
                        <a:rPr sz="1725" b="0">
                          <a:solidFill>
                            <a:srgbClr val="222222"/>
                          </a:solidFill>
                          <a:latin typeface="DejaVu Sans"/>
                          <a:ea typeface="DejaVu Sans"/>
                          <a:cs typeface="DejaVu Sans"/>
                        </a:rPr>
                        <a:t>Nama, kategori, harga, image</a:t>
                      </a:r>
                    </a:p>
                  </a:txBody>
                  <a:tcPr marL="91440" marR="91440" marT="45720" marB="45720" anchor="ctr">
                    <a:lnR w="9525">
                      <a:solidFill>
                        <a:srgbClr val="DEDEDE"/>
                      </a:solidFill>
                      <a:prstDash val="solid"/>
                    </a:lnR>
                    <a:lnB w="9525">
                      <a:solidFill>
                        <a:srgbClr val="DEDEDE"/>
                      </a:solidFill>
                      <a:prstDash val="solid"/>
                    </a:lnB>
                    <a:solidFill>
                      <a:srgbClr val="F4F4F2"/>
                    </a:solidFill>
                  </a:tcPr>
                </a:tc>
                <a:tc>
                  <a:txBody>
                    <a:bodyPr wrap="square" lIns="133350" tIns="133350" rIns="133350" bIns="133350"/>
                    <a:lstStyle/>
                    <a:p>
                      <a:r>
                        <a:rPr sz="1725" b="0">
                          <a:solidFill>
                            <a:srgbClr val="222222"/>
                          </a:solidFill>
                          <a:latin typeface="DejaVu Sans"/>
                          <a:ea typeface="DejaVu Sans"/>
                          <a:cs typeface="DejaVu Sans"/>
                        </a:rPr>
                        <a:t>Produk 1:N items</a:t>
                      </a:r>
                    </a:p>
                  </a:txBody>
                  <a:tcPr marL="91440" marR="91440" marT="45720" marB="45720" anchor="ctr">
                    <a:lnR w="9525">
                      <a:solidFill>
                        <a:srgbClr val="DEDEDE"/>
                      </a:solidFill>
                      <a:prstDash val="solid"/>
                    </a:lnR>
                    <a:lnB w="9525">
                      <a:solidFill>
                        <a:srgbClr val="DEDEDE"/>
                      </a:solidFill>
                      <a:prstDash val="solid"/>
                    </a:lnB>
                    <a:solidFill>
                      <a:srgbClr val="F4F4F2"/>
                    </a:solidFill>
                  </a:tcPr>
                </a:tc>
              </a:tr>
              <a:tr h="762000">
                <a:tc>
                  <a:txBody>
                    <a:bodyPr wrap="square" lIns="133350" tIns="133350" rIns="133350" bIns="133350"/>
                    <a:lstStyle/>
                    <a:p>
                      <a:r>
                        <a:rPr sz="1725" b="0">
                          <a:solidFill>
                            <a:srgbClr val="222222"/>
                          </a:solidFill>
                          <a:latin typeface="DejaVu Sans"/>
                          <a:ea typeface="DejaVu Sans"/>
                          <a:cs typeface="DejaVu Sans"/>
                        </a:rPr>
                        <a:t>orders</a:t>
                      </a:r>
                    </a:p>
                  </a:txBody>
                  <a:tcPr marL="91440" marR="91440" marT="45720" marB="45720" anchor="ctr">
                    <a:lnL w="9525">
                      <a:solidFill>
                        <a:srgbClr val="DEDEDE"/>
                      </a:solidFill>
                      <a:prstDash val="solid"/>
                    </a:lnL>
                    <a:lnR w="9525">
                      <a:solidFill>
                        <a:srgbClr val="DEDEDE"/>
                      </a:solidFill>
                      <a:prstDash val="solid"/>
                    </a:lnR>
                    <a:lnB w="9525">
                      <a:solidFill>
                        <a:srgbClr val="DEDEDE"/>
                      </a:solidFill>
                      <a:prstDash val="solid"/>
                    </a:lnB>
                    <a:solidFill>
                      <a:srgbClr val="FFFFFF"/>
                    </a:solidFill>
                  </a:tcPr>
                </a:tc>
                <a:tc>
                  <a:txBody>
                    <a:bodyPr wrap="square" lIns="133350" tIns="133350" rIns="133350" bIns="133350"/>
                    <a:lstStyle/>
                    <a:p>
                      <a:r>
                        <a:rPr sz="1725" b="0">
                          <a:solidFill>
                            <a:srgbClr val="222222"/>
                          </a:solidFill>
                          <a:latin typeface="DejaVu Sans"/>
                          <a:ea typeface="DejaVu Sans"/>
                          <a:cs typeface="DejaVu Sans"/>
                        </a:rPr>
                        <a:t>Penerima, subtotal, diskon, total</a:t>
                      </a:r>
                    </a:p>
                  </a:txBody>
                  <a:tcPr marL="91440" marR="91440" marT="45720" marB="45720" anchor="ctr">
                    <a:lnR w="9525">
                      <a:solidFill>
                        <a:srgbClr val="DEDEDE"/>
                      </a:solidFill>
                      <a:prstDash val="solid"/>
                    </a:lnR>
                    <a:lnB w="9525">
                      <a:solidFill>
                        <a:srgbClr val="DEDEDE"/>
                      </a:solidFill>
                      <a:prstDash val="solid"/>
                    </a:lnB>
                    <a:solidFill>
                      <a:srgbClr val="FFFFFF"/>
                    </a:solidFill>
                  </a:tcPr>
                </a:tc>
                <a:tc>
                  <a:txBody>
                    <a:bodyPr wrap="square" lIns="133350" tIns="133350" rIns="133350" bIns="133350"/>
                    <a:lstStyle/>
                    <a:p>
                      <a:r>
                        <a:rPr sz="1725" b="0">
                          <a:solidFill>
                            <a:srgbClr val="222222"/>
                          </a:solidFill>
                          <a:latin typeface="DejaVu Sans"/>
                          <a:ea typeface="DejaVu Sans"/>
                          <a:cs typeface="DejaVu Sans"/>
                        </a:rPr>
                        <a:t>FK user_id</a:t>
                      </a:r>
                    </a:p>
                  </a:txBody>
                  <a:tcPr marL="91440" marR="91440" marT="45720" marB="45720" anchor="ctr">
                    <a:lnR w="9525">
                      <a:solidFill>
                        <a:srgbClr val="DEDEDE"/>
                      </a:solidFill>
                      <a:prstDash val="solid"/>
                    </a:lnR>
                    <a:lnB w="9525">
                      <a:solidFill>
                        <a:srgbClr val="DEDEDE"/>
                      </a:solidFill>
                      <a:prstDash val="solid"/>
                    </a:lnB>
                    <a:solidFill>
                      <a:srgbClr val="FFFFFF"/>
                    </a:solidFill>
                  </a:tcPr>
                </a:tc>
              </a:tr>
              <a:tr h="762000">
                <a:tc>
                  <a:txBody>
                    <a:bodyPr wrap="square" lIns="133350" tIns="133350" rIns="133350" bIns="133350"/>
                    <a:lstStyle/>
                    <a:p>
                      <a:r>
                        <a:rPr sz="1725" b="0">
                          <a:solidFill>
                            <a:srgbClr val="222222"/>
                          </a:solidFill>
                          <a:latin typeface="DejaVu Sans"/>
                          <a:ea typeface="DejaVu Sans"/>
                          <a:cs typeface="DejaVu Sans"/>
                        </a:rPr>
                        <a:t>order_items</a:t>
                      </a:r>
                    </a:p>
                  </a:txBody>
                  <a:tcPr marL="91440" marR="91440" marT="45720" marB="45720" anchor="ctr">
                    <a:lnL w="9525">
                      <a:solidFill>
                        <a:srgbClr val="DEDEDE"/>
                      </a:solidFill>
                      <a:prstDash val="solid"/>
                    </a:lnL>
                    <a:lnR w="9525">
                      <a:solidFill>
                        <a:srgbClr val="DEDEDE"/>
                      </a:solidFill>
                      <a:prstDash val="solid"/>
                    </a:lnR>
                    <a:lnB w="9525">
                      <a:solidFill>
                        <a:srgbClr val="DEDEDE"/>
                      </a:solidFill>
                      <a:prstDash val="solid"/>
                    </a:lnB>
                    <a:solidFill>
                      <a:srgbClr val="F4F4F2"/>
                    </a:solidFill>
                  </a:tcPr>
                </a:tc>
                <a:tc>
                  <a:txBody>
                    <a:bodyPr wrap="square" lIns="133350" tIns="133350" rIns="133350" bIns="133350"/>
                    <a:lstStyle/>
                    <a:p>
                      <a:r>
                        <a:rPr sz="1725" b="0">
                          <a:solidFill>
                            <a:srgbClr val="222222"/>
                          </a:solidFill>
                          <a:latin typeface="DejaVu Sans"/>
                          <a:ea typeface="DejaVu Sans"/>
                          <a:cs typeface="DejaVu Sans"/>
                        </a:rPr>
                        <a:t>Ukuran, qty, snapshot harga</a:t>
                      </a:r>
                    </a:p>
                  </a:txBody>
                  <a:tcPr marL="91440" marR="91440" marT="45720" marB="45720" anchor="ctr">
                    <a:lnR w="9525">
                      <a:solidFill>
                        <a:srgbClr val="DEDEDE"/>
                      </a:solidFill>
                      <a:prstDash val="solid"/>
                    </a:lnR>
                    <a:lnB w="9525">
                      <a:solidFill>
                        <a:srgbClr val="DEDEDE"/>
                      </a:solidFill>
                      <a:prstDash val="solid"/>
                    </a:lnB>
                    <a:solidFill>
                      <a:srgbClr val="F4F4F2"/>
                    </a:solidFill>
                  </a:tcPr>
                </a:tc>
                <a:tc>
                  <a:txBody>
                    <a:bodyPr wrap="square" lIns="133350" tIns="133350" rIns="133350" bIns="133350"/>
                    <a:lstStyle/>
                    <a:p>
                      <a:r>
                        <a:rPr sz="1725" b="0">
                          <a:solidFill>
                            <a:srgbClr val="222222"/>
                          </a:solidFill>
                          <a:latin typeface="DejaVu Sans"/>
                          <a:ea typeface="DejaVu Sans"/>
                          <a:cs typeface="DejaVu Sans"/>
                        </a:rPr>
                        <a:t>FK order_id / product_id</a:t>
                      </a:r>
                    </a:p>
                  </a:txBody>
                  <a:tcPr marL="91440" marR="91440" marT="45720" marB="45720" anchor="ctr">
                    <a:lnR w="9525">
                      <a:solidFill>
                        <a:srgbClr val="DEDEDE"/>
                      </a:solidFill>
                      <a:prstDash val="solid"/>
                    </a:lnR>
                    <a:lnB w="9525">
                      <a:solidFill>
                        <a:srgbClr val="DEDEDE"/>
                      </a:solidFill>
                      <a:prstDash val="solid"/>
                    </a:lnB>
                    <a:solidFill>
                      <a:srgbClr val="F4F4F2"/>
                    </a:solidFill>
                  </a:tcPr>
                </a:tc>
              </a:tr>
              <a:tr h="762000">
                <a:tc>
                  <a:txBody>
                    <a:bodyPr wrap="square" lIns="133350" tIns="133350" rIns="133350" bIns="133350"/>
                    <a:lstStyle/>
                    <a:p>
                      <a:r>
                        <a:rPr sz="1725" b="0">
                          <a:solidFill>
                            <a:srgbClr val="222222"/>
                          </a:solidFill>
                          <a:latin typeface="DejaVu Sans"/>
                          <a:ea typeface="DejaVu Sans"/>
                          <a:cs typeface="DejaVu Sans"/>
                        </a:rPr>
                        <a:t>payments</a:t>
                      </a:r>
                    </a:p>
                  </a:txBody>
                  <a:tcPr marL="91440" marR="91440" marT="45720" marB="45720" anchor="ctr">
                    <a:lnL w="9525">
                      <a:solidFill>
                        <a:srgbClr val="DEDEDE"/>
                      </a:solidFill>
                      <a:prstDash val="solid"/>
                    </a:lnL>
                    <a:lnR w="9525">
                      <a:solidFill>
                        <a:srgbClr val="DEDEDE"/>
                      </a:solidFill>
                      <a:prstDash val="solid"/>
                    </a:lnR>
                    <a:lnB w="9525">
                      <a:solidFill>
                        <a:srgbClr val="DEDEDE"/>
                      </a:solidFill>
                      <a:prstDash val="solid"/>
                    </a:lnB>
                    <a:solidFill>
                      <a:srgbClr val="FFFFFF"/>
                    </a:solidFill>
                  </a:tcPr>
                </a:tc>
                <a:tc>
                  <a:txBody>
                    <a:bodyPr wrap="square" lIns="133350" tIns="133350" rIns="133350" bIns="133350"/>
                    <a:lstStyle/>
                    <a:p>
                      <a:r>
                        <a:rPr sz="1725" b="0">
                          <a:solidFill>
                            <a:srgbClr val="222222"/>
                          </a:solidFill>
                          <a:latin typeface="DejaVu Sans"/>
                          <a:ea typeface="DejaVu Sans"/>
                          <a:cs typeface="DejaVu Sans"/>
                        </a:rPr>
                        <a:t>Metode, amount, status, reference</a:t>
                      </a:r>
                    </a:p>
                  </a:txBody>
                  <a:tcPr marL="91440" marR="91440" marT="45720" marB="45720" anchor="ctr">
                    <a:lnR w="9525">
                      <a:solidFill>
                        <a:srgbClr val="DEDEDE"/>
                      </a:solidFill>
                      <a:prstDash val="solid"/>
                    </a:lnR>
                    <a:lnB w="9525">
                      <a:solidFill>
                        <a:srgbClr val="DEDEDE"/>
                      </a:solidFill>
                      <a:prstDash val="solid"/>
                    </a:lnB>
                    <a:solidFill>
                      <a:srgbClr val="FFFFFF"/>
                    </a:solidFill>
                  </a:tcPr>
                </a:tc>
                <a:tc>
                  <a:txBody>
                    <a:bodyPr wrap="square" lIns="133350" tIns="133350" rIns="133350" bIns="133350"/>
                    <a:lstStyle/>
                    <a:p>
                      <a:r>
                        <a:rPr sz="1725" b="0">
                          <a:solidFill>
                            <a:srgbClr val="222222"/>
                          </a:solidFill>
                          <a:latin typeface="DejaVu Sans"/>
                          <a:ea typeface="DejaVu Sans"/>
                          <a:cs typeface="DejaVu Sans"/>
                        </a:rPr>
                        <a:t>Unique order_id (1:1)</a:t>
                      </a:r>
                    </a:p>
                  </a:txBody>
                  <a:tcPr marL="91440" marR="91440" marT="45720" marB="45720" anchor="ctr">
                    <a:lnR w="9525">
                      <a:solidFill>
                        <a:srgbClr val="DEDEDE"/>
                      </a:solidFill>
                      <a:prstDash val="solid"/>
                    </a:lnR>
                    <a:lnB w="9525">
                      <a:solidFill>
                        <a:srgbClr val="DEDEDE"/>
                      </a:solidFill>
                      <a:prstDash val="solid"/>
                    </a:lnB>
                    <a:solidFill>
                      <a:srgbClr val="FFFFFF"/>
                    </a:solidFill>
                  </a:tcPr>
                </a:tc>
              </a:tr>
            </a:tbl>
          </a:graphicData>
        </a:graphic>
      </p:graphicFrame>
      <p:sp>
        <p:nvSpPr>
          <p:cNvPr id="3" name="source-label">
            <a:extLst xmlns:a="http://schemas.openxmlformats.org/drawingml/2006/main">
              <a:ext uri="{FF2B5EF4-FFF2-40B4-BE49-F238E27FC236}">
                <a16:creationId xmlns:a16="http://schemas.microsoft.com/office/drawing/2014/main" id="{00A7C51C-78FA-4D4D-9409-D6749A219ACE}"/>
              </a:ext>
            </a:extLst>
          </p:cNvPr>
          <p:cNvSpPr>
            <a:spLocks xmlns:a="http://schemas.openxmlformats.org/drawingml/2006/main" noGrp="1"/>
          </p:cNvSpPr>
          <p:nvPr/>
        </p:nvSpPr>
        <p:spPr>
          <a:xfrm xmlns:a="http://schemas.openxmlformats.org/drawingml/2006/main">
            <a:off x="762000" y="7981950"/>
            <a:ext cx="1266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62656A"/>
                </a:solidFill>
                <a:latin typeface="DejaVu Sans"/>
                <a:ea typeface="DejaVu Sans"/>
                <a:cs typeface="DejaVu Sans"/>
              </a:defRPr>
            </a:defPPr>
          </a:lstStyle>
          <a:p xmlns:a="http://schemas.openxmlformats.org/drawingml/2006/main">
            <a:pPr>
              <a:defRPr sz="1275" b="0">
                <a:solidFill>
                  <a:srgbClr val="62656A"/>
                </a:solidFill>
                <a:latin typeface="DejaVu Sans"/>
                <a:ea typeface="DejaVu Sans"/>
                <a:cs typeface="DejaVu Sans"/>
              </a:defRPr>
            </a:pPr>
            <a:r>
              <a:rPr sz="1275" b="0">
                <a:solidFill>
                  <a:srgbClr val="62656A"/>
                </a:solidFill>
                <a:latin typeface="DejaVu Sans"/>
                <a:ea typeface="DejaVu Sans"/>
                <a:cs typeface="DejaVu Sans"/>
              </a:rPr>
              <a:t>Source: database/doom_reversal.sql</a:t>
            </a:r>
          </a:p>
        </p:txBody>
      </p:sp>
      <p:sp>
        <p:nvSpPr>
          <p:cNvPr id="4" name="page-number">
            <a:extLst xmlns:a="http://schemas.openxmlformats.org/drawingml/2006/main">
              <a:ext uri="{FF2B5EF4-FFF2-40B4-BE49-F238E27FC236}">
                <a16:creationId xmlns:a16="http://schemas.microsoft.com/office/drawing/2014/main" id="{7ACF889F-F58D-4DC6-8EDF-E4524284DA2F}"/>
              </a:ext>
            </a:extLst>
          </p:cNvPr>
          <p:cNvSpPr>
            <a:spLocks xmlns:a="http://schemas.openxmlformats.org/drawingml/2006/main" noGrp="1"/>
          </p:cNvSpPr>
          <p:nvPr/>
        </p:nvSpPr>
        <p:spPr>
          <a:xfrm xmlns:a="http://schemas.openxmlformats.org/drawingml/2006/main">
            <a:off x="14097000" y="79819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777777"/>
                </a:solidFill>
                <a:latin typeface="DejaVu Sans"/>
                <a:ea typeface="DejaVu Sans"/>
                <a:cs typeface="DejaVu Sans"/>
              </a:defRPr>
            </a:defPPr>
          </a:lstStyle>
          <a:p xmlns:a="http://schemas.openxmlformats.org/drawingml/2006/main">
            <a:pPr>
              <a:defRPr sz="1350" b="0">
                <a:solidFill>
                  <a:srgbClr val="777777"/>
                </a:solidFill>
                <a:latin typeface="DejaVu Sans"/>
                <a:ea typeface="DejaVu Sans"/>
                <a:cs typeface="DejaVu Sans"/>
              </a:defRPr>
            </a:pPr>
            <a:r>
              <a:rPr sz="1350" b="0">
                <a:solidFill>
                  <a:srgbClr val="777777"/>
                </a:solidFill>
                <a:latin typeface="DejaVu Sans"/>
                <a:ea typeface="DejaVu Sans"/>
                <a:cs typeface="DejaVu Sans"/>
              </a:rPr>
              <a:t>06</a:t>
            </a:r>
          </a:p>
        </p:txBody>
      </p:sp>
    </p:spTree>
    <p:extLst>
      <p:ext uri="{BB962C8B-B14F-4D97-AF65-F5344CB8AC3E}">
        <p14:creationId xmlns:p14="http://schemas.microsoft.com/office/powerpoint/2010/main" val="540990555"/>
      </p:ext>
    </p:extLst>
  </p:cSld>
</p:sld>
</file>

<file path=ppt/slides/slide7.xml><?xml version="1.0" encoding="utf-8"?>
<p:sld xmlns:p="http://schemas.openxmlformats.org/presentationml/2006/main">
  <p:cSld>
    <p:bg>
      <p:bgPr>
        <a:solidFill xmlns:a="http://schemas.openxmlformats.org/drawingml/2006/main">
          <a:srgbClr val="101112"/>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77E9AF3C-EC43-4DFA-83E6-CC17183A0A27}"/>
              </a:ext>
            </a:extLst>
          </p:cNvPr>
          <p:cNvSpPr>
            <a:spLocks xmlns:a="http://schemas.openxmlformats.org/drawingml/2006/main" noGrp="1"/>
          </p:cNvSpPr>
          <p:nvPr/>
        </p:nvSpPr>
        <p:spPr>
          <a:xfrm xmlns:a="http://schemas.openxmlformats.org/drawingml/2006/main">
            <a:off x="762000" y="609600"/>
            <a:ext cx="1371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Koneksi PDO ke MySQL</a:t>
            </a:r>
          </a:p>
        </p:txBody>
      </p:sp>
      <p:sp>
        <p:nvSpPr>
          <p:cNvPr id="2" name="code">
            <a:extLst xmlns:a="http://schemas.openxmlformats.org/drawingml/2006/main">
              <a:ext uri="{FF2B5EF4-FFF2-40B4-BE49-F238E27FC236}">
                <a16:creationId xmlns:a16="http://schemas.microsoft.com/office/drawing/2014/main" id="{F8A71155-0B4E-48E5-9C12-0BEE1BEE2AFC}"/>
              </a:ext>
            </a:extLst>
          </p:cNvPr>
          <p:cNvSpPr>
            <a:spLocks xmlns:a="http://schemas.openxmlformats.org/drawingml/2006/main" noGrp="1"/>
          </p:cNvSpPr>
          <p:nvPr/>
        </p:nvSpPr>
        <p:spPr>
          <a:xfrm xmlns:a="http://schemas.openxmlformats.org/drawingml/2006/main">
            <a:off x="762000" y="1971675"/>
            <a:ext cx="9286875" cy="533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E3E8EF"/>
                </a:solidFill>
                <a:latin typeface="DejaVu Sans Mono"/>
                <a:ea typeface="DejaVu Sans Mono"/>
                <a:cs typeface="DejaVu Sans Mono"/>
              </a:defRPr>
            </a:defPPr>
          </a:lstStyle>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$connection = new PDO(</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$dsn, $config['username'], $config['password'],</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PDO::ATTR_ERRMODE =&gt; PDO::ERRMODE_EXCEPTION,</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PDO::ATTR_DEFAULT_FETCH_MODE =&gt;</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PDO::FETCH_ASSOC,</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PDO::ATTR_EMULATE_PREPARES =&gt; false</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a:t>
            </a:r>
          </a:p>
        </p:txBody>
      </p:sp>
      <p:sp>
        <p:nvSpPr>
          <p:cNvPr id="3" name="point-number-0">
            <a:extLst xmlns:a="http://schemas.openxmlformats.org/drawingml/2006/main">
              <a:ext uri="{FF2B5EF4-FFF2-40B4-BE49-F238E27FC236}">
                <a16:creationId xmlns:a16="http://schemas.microsoft.com/office/drawing/2014/main" id="{D9EB5E09-C703-48D1-8536-834EF9181B70}"/>
              </a:ext>
            </a:extLst>
          </p:cNvPr>
          <p:cNvSpPr>
            <a:spLocks xmlns:a="http://schemas.openxmlformats.org/drawingml/2006/main" noGrp="1"/>
          </p:cNvSpPr>
          <p:nvPr/>
        </p:nvSpPr>
        <p:spPr>
          <a:xfrm xmlns:a="http://schemas.openxmlformats.org/drawingml/2006/main">
            <a:off x="10477500" y="20383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01</a:t>
            </a:r>
          </a:p>
        </p:txBody>
      </p:sp>
      <p:sp>
        <p:nvSpPr>
          <p:cNvPr id="4" name="point-0">
            <a:extLst xmlns:a="http://schemas.openxmlformats.org/drawingml/2006/main">
              <a:ext uri="{FF2B5EF4-FFF2-40B4-BE49-F238E27FC236}">
                <a16:creationId xmlns:a16="http://schemas.microsoft.com/office/drawing/2014/main" id="{5D122EC9-72D8-40FA-9BC9-5D5ED9BD219D}"/>
              </a:ext>
            </a:extLst>
          </p:cNvPr>
          <p:cNvSpPr>
            <a:spLocks xmlns:a="http://schemas.openxmlformats.org/drawingml/2006/main" noGrp="1"/>
          </p:cNvSpPr>
          <p:nvPr/>
        </p:nvSpPr>
        <p:spPr>
          <a:xfrm xmlns:a="http://schemas.openxmlformats.org/drawingml/2006/main">
            <a:off x="10477500" y="24193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Konfigurasi berada di config/database.php</a:t>
            </a:r>
          </a:p>
        </p:txBody>
      </p:sp>
      <p:sp>
        <p:nvSpPr>
          <p:cNvPr id="5" name="point-number-1">
            <a:extLst xmlns:a="http://schemas.openxmlformats.org/drawingml/2006/main">
              <a:ext uri="{FF2B5EF4-FFF2-40B4-BE49-F238E27FC236}">
                <a16:creationId xmlns:a16="http://schemas.microsoft.com/office/drawing/2014/main" id="{6FAAE65C-8589-49FC-8C25-32B5F45730E7}"/>
              </a:ext>
            </a:extLst>
          </p:cNvPr>
          <p:cNvSpPr>
            <a:spLocks xmlns:a="http://schemas.openxmlformats.org/drawingml/2006/main" noGrp="1"/>
          </p:cNvSpPr>
          <p:nvPr/>
        </p:nvSpPr>
        <p:spPr>
          <a:xfrm xmlns:a="http://schemas.openxmlformats.org/drawingml/2006/main">
            <a:off x="10477500" y="34671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02</a:t>
            </a:r>
          </a:p>
        </p:txBody>
      </p:sp>
      <p:sp>
        <p:nvSpPr>
          <p:cNvPr id="6" name="point-1">
            <a:extLst xmlns:a="http://schemas.openxmlformats.org/drawingml/2006/main">
              <a:ext uri="{FF2B5EF4-FFF2-40B4-BE49-F238E27FC236}">
                <a16:creationId xmlns:a16="http://schemas.microsoft.com/office/drawing/2014/main" id="{041EF1C0-2272-45B6-A85D-CBEA6A14D44B}"/>
              </a:ext>
            </a:extLst>
          </p:cNvPr>
          <p:cNvSpPr>
            <a:spLocks xmlns:a="http://schemas.openxmlformats.org/drawingml/2006/main" noGrp="1"/>
          </p:cNvSpPr>
          <p:nvPr/>
        </p:nvSpPr>
        <p:spPr>
          <a:xfrm xmlns:a="http://schemas.openxmlformats.org/drawingml/2006/main">
            <a:off x="10477500" y="38481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utf8mb4 mendukung teks Unicode</a:t>
            </a:r>
          </a:p>
        </p:txBody>
      </p:sp>
      <p:sp>
        <p:nvSpPr>
          <p:cNvPr id="7" name="point-number-2">
            <a:extLst xmlns:a="http://schemas.openxmlformats.org/drawingml/2006/main">
              <a:ext uri="{FF2B5EF4-FFF2-40B4-BE49-F238E27FC236}">
                <a16:creationId xmlns:a16="http://schemas.microsoft.com/office/drawing/2014/main" id="{09127AEA-C034-4B10-8698-63FBD3A1F28B}"/>
              </a:ext>
            </a:extLst>
          </p:cNvPr>
          <p:cNvSpPr>
            <a:spLocks xmlns:a="http://schemas.openxmlformats.org/drawingml/2006/main" noGrp="1"/>
          </p:cNvSpPr>
          <p:nvPr/>
        </p:nvSpPr>
        <p:spPr>
          <a:xfrm xmlns:a="http://schemas.openxmlformats.org/drawingml/2006/main">
            <a:off x="10477500" y="48958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03</a:t>
            </a:r>
          </a:p>
        </p:txBody>
      </p:sp>
      <p:sp>
        <p:nvSpPr>
          <p:cNvPr id="8" name="point-2">
            <a:extLst xmlns:a="http://schemas.openxmlformats.org/drawingml/2006/main">
              <a:ext uri="{FF2B5EF4-FFF2-40B4-BE49-F238E27FC236}">
                <a16:creationId xmlns:a16="http://schemas.microsoft.com/office/drawing/2014/main" id="{E2EA5A3E-7224-4B47-9A78-2D0E2EBB2F20}"/>
              </a:ext>
            </a:extLst>
          </p:cNvPr>
          <p:cNvSpPr>
            <a:spLocks xmlns:a="http://schemas.openxmlformats.org/drawingml/2006/main" noGrp="1"/>
          </p:cNvSpPr>
          <p:nvPr/>
        </p:nvSpPr>
        <p:spPr>
          <a:xfrm xmlns:a="http://schemas.openxmlformats.org/drawingml/2006/main">
            <a:off x="10477500" y="52768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Exception membantu menangani kegagalan</a:t>
            </a:r>
          </a:p>
        </p:txBody>
      </p:sp>
      <p:sp>
        <p:nvSpPr>
          <p:cNvPr id="9" name="point-number-3">
            <a:extLst xmlns:a="http://schemas.openxmlformats.org/drawingml/2006/main">
              <a:ext uri="{FF2B5EF4-FFF2-40B4-BE49-F238E27FC236}">
                <a16:creationId xmlns:a16="http://schemas.microsoft.com/office/drawing/2014/main" id="{E1808A05-0C2E-46E1-864C-D4EBC2252272}"/>
              </a:ext>
            </a:extLst>
          </p:cNvPr>
          <p:cNvSpPr>
            <a:spLocks xmlns:a="http://schemas.openxmlformats.org/drawingml/2006/main" noGrp="1"/>
          </p:cNvSpPr>
          <p:nvPr/>
        </p:nvSpPr>
        <p:spPr>
          <a:xfrm xmlns:a="http://schemas.openxmlformats.org/drawingml/2006/main">
            <a:off x="10477500" y="63246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04</a:t>
            </a:r>
          </a:p>
        </p:txBody>
      </p:sp>
      <p:sp>
        <p:nvSpPr>
          <p:cNvPr id="10" name="point-3">
            <a:extLst xmlns:a="http://schemas.openxmlformats.org/drawingml/2006/main">
              <a:ext uri="{FF2B5EF4-FFF2-40B4-BE49-F238E27FC236}">
                <a16:creationId xmlns:a16="http://schemas.microsoft.com/office/drawing/2014/main" id="{E4ACBFAF-6538-45DD-8053-66C03D6FBDD0}"/>
              </a:ext>
            </a:extLst>
          </p:cNvPr>
          <p:cNvSpPr>
            <a:spLocks xmlns:a="http://schemas.openxmlformats.org/drawingml/2006/main" noGrp="1"/>
          </p:cNvSpPr>
          <p:nvPr/>
        </p:nvSpPr>
        <p:spPr>
          <a:xfrm xmlns:a="http://schemas.openxmlformats.org/drawingml/2006/main">
            <a:off x="10477500" y="67056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Koneksi dipakai ulang melalui static</a:t>
            </a:r>
          </a:p>
        </p:txBody>
      </p:sp>
      <p:sp>
        <p:nvSpPr>
          <p:cNvPr id="11" name="code-disclosure">
            <a:extLst xmlns:a="http://schemas.openxmlformats.org/drawingml/2006/main">
              <a:ext uri="{FF2B5EF4-FFF2-40B4-BE49-F238E27FC236}">
                <a16:creationId xmlns:a16="http://schemas.microsoft.com/office/drawing/2014/main" id="{6FA0368B-4D21-4C9E-838B-922180B01E19}"/>
              </a:ext>
            </a:extLst>
          </p:cNvPr>
          <p:cNvSpPr>
            <a:spLocks xmlns:a="http://schemas.openxmlformats.org/drawingml/2006/main" noGrp="1"/>
          </p:cNvSpPr>
          <p:nvPr/>
        </p:nvSpPr>
        <p:spPr>
          <a:xfrm xmlns:a="http://schemas.openxmlformats.org/drawingml/2006/main">
            <a:off x="762000" y="7534275"/>
            <a:ext cx="1295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Cuplikan dirapikan atau dipadatkan. Lokasi source tercantum di bawah.</a:t>
            </a:r>
          </a:p>
        </p:txBody>
      </p:sp>
      <p:sp>
        <p:nvSpPr>
          <p:cNvPr id="12" name="source-label">
            <a:extLst xmlns:a="http://schemas.openxmlformats.org/drawingml/2006/main">
              <a:ext uri="{FF2B5EF4-FFF2-40B4-BE49-F238E27FC236}">
                <a16:creationId xmlns:a16="http://schemas.microsoft.com/office/drawing/2014/main" id="{3A9A071D-5F60-443D-A53E-5E280F0CB32D}"/>
              </a:ext>
            </a:extLst>
          </p:cNvPr>
          <p:cNvSpPr>
            <a:spLocks xmlns:a="http://schemas.openxmlformats.org/drawingml/2006/main" noGrp="1"/>
          </p:cNvSpPr>
          <p:nvPr/>
        </p:nvSpPr>
        <p:spPr>
          <a:xfrm xmlns:a="http://schemas.openxmlformats.org/drawingml/2006/main">
            <a:off x="762000" y="7981950"/>
            <a:ext cx="1266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Source: includes/database.php</a:t>
            </a:r>
          </a:p>
        </p:txBody>
      </p:sp>
      <p:sp>
        <p:nvSpPr>
          <p:cNvPr id="13" name="page-number">
            <a:extLst xmlns:a="http://schemas.openxmlformats.org/drawingml/2006/main">
              <a:ext uri="{FF2B5EF4-FFF2-40B4-BE49-F238E27FC236}">
                <a16:creationId xmlns:a16="http://schemas.microsoft.com/office/drawing/2014/main" id="{E04C3346-7F49-42C1-B3D7-8C96ED50758E}"/>
              </a:ext>
            </a:extLst>
          </p:cNvPr>
          <p:cNvSpPr>
            <a:spLocks xmlns:a="http://schemas.openxmlformats.org/drawingml/2006/main" noGrp="1"/>
          </p:cNvSpPr>
          <p:nvPr/>
        </p:nvSpPr>
        <p:spPr>
          <a:xfrm xmlns:a="http://schemas.openxmlformats.org/drawingml/2006/main">
            <a:off x="14097000" y="79819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888888"/>
                </a:solidFill>
                <a:latin typeface="DejaVu Sans"/>
                <a:ea typeface="DejaVu Sans"/>
                <a:cs typeface="DejaVu Sans"/>
              </a:defRPr>
            </a:defPPr>
          </a:lstStyle>
          <a:p xmlns:a="http://schemas.openxmlformats.org/drawingml/2006/main">
            <a:pPr>
              <a:defRPr sz="1350" b="0">
                <a:solidFill>
                  <a:srgbClr val="888888"/>
                </a:solidFill>
                <a:latin typeface="DejaVu Sans"/>
                <a:ea typeface="DejaVu Sans"/>
                <a:cs typeface="DejaVu Sans"/>
              </a:defRPr>
            </a:pPr>
            <a:r>
              <a:rPr sz="1350" b="0">
                <a:solidFill>
                  <a:srgbClr val="888888"/>
                </a:solidFill>
                <a:latin typeface="DejaVu Sans"/>
                <a:ea typeface="DejaVu Sans"/>
                <a:cs typeface="DejaVu Sans"/>
              </a:rPr>
              <a:t>07</a:t>
            </a:r>
          </a:p>
        </p:txBody>
      </p:sp>
    </p:spTree>
    <p:extLst>
      <p:ext uri="{BB962C8B-B14F-4D97-AF65-F5344CB8AC3E}">
        <p14:creationId xmlns:p14="http://schemas.microsoft.com/office/powerpoint/2010/main" val="827979904"/>
      </p:ext>
    </p:extLst>
  </p:cSld>
</p:sld>
</file>

<file path=ppt/slides/slide8.xml><?xml version="1.0" encoding="utf-8"?>
<p:sld xmlns:p="http://schemas.openxmlformats.org/presentationml/2006/main">
  <p:cSld>
    <p:bg>
      <p:bgPr>
        <a:solidFill xmlns:a="http://schemas.openxmlformats.org/drawingml/2006/main">
          <a:srgbClr val="101112"/>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9D9F979B-78A6-4064-BE78-57588BA82857}"/>
              </a:ext>
            </a:extLst>
          </p:cNvPr>
          <p:cNvSpPr>
            <a:spLocks xmlns:a="http://schemas.openxmlformats.org/drawingml/2006/main" noGrp="1"/>
          </p:cNvSpPr>
          <p:nvPr/>
        </p:nvSpPr>
        <p:spPr>
          <a:xfrm xmlns:a="http://schemas.openxmlformats.org/drawingml/2006/main">
            <a:off x="762000" y="609600"/>
            <a:ext cx="1371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Routing dan request</a:t>
            </a:r>
          </a:p>
        </p:txBody>
      </p:sp>
      <p:sp>
        <p:nvSpPr>
          <p:cNvPr id="2" name="code">
            <a:extLst xmlns:a="http://schemas.openxmlformats.org/drawingml/2006/main">
              <a:ext uri="{FF2B5EF4-FFF2-40B4-BE49-F238E27FC236}">
                <a16:creationId xmlns:a16="http://schemas.microsoft.com/office/drawing/2014/main" id="{7413B2F1-2257-4BE9-81CC-05201B2A170B}"/>
              </a:ext>
            </a:extLst>
          </p:cNvPr>
          <p:cNvSpPr>
            <a:spLocks xmlns:a="http://schemas.openxmlformats.org/drawingml/2006/main" noGrp="1"/>
          </p:cNvSpPr>
          <p:nvPr/>
        </p:nvSpPr>
        <p:spPr>
          <a:xfrm xmlns:a="http://schemas.openxmlformats.org/drawingml/2006/main">
            <a:off x="762000" y="1971675"/>
            <a:ext cx="9286875" cy="533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E3E8EF"/>
                </a:solidFill>
                <a:latin typeface="DejaVu Sans Mono"/>
                <a:ea typeface="DejaVu Sans Mono"/>
                <a:cs typeface="DejaVu Sans Mono"/>
              </a:defRPr>
            </a:defPPr>
          </a:lstStyle>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require __DIR__.'/includes/bootstrap.php';</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require __DIR__.'/includes/actions.php';</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require __DIR__.'/includes/layout.php';</a:t>
            </a:r>
          </a:p>
          <a:p xmlns:a="http://schemas.openxmlformats.org/drawingml/2006/main">
            <a:r>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$page = is_string($_GET['page'] ?? null)</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 $_GET['page'] : 'home';</a:t>
            </a:r>
          </a:p>
          <a:p xmlns:a="http://schemas.openxmlformats.org/drawingml/2006/main">
            <a:r>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if (!in_array($page, $allowed, true))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http_response_code(404);</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$page = '404';</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a:t>
            </a:r>
          </a:p>
        </p:txBody>
      </p:sp>
      <p:sp>
        <p:nvSpPr>
          <p:cNvPr id="3" name="point-number-0">
            <a:extLst xmlns:a="http://schemas.openxmlformats.org/drawingml/2006/main">
              <a:ext uri="{FF2B5EF4-FFF2-40B4-BE49-F238E27FC236}">
                <a16:creationId xmlns:a16="http://schemas.microsoft.com/office/drawing/2014/main" id="{521DE991-CF60-4F6E-B8F1-E225ADA0E5B1}"/>
              </a:ext>
            </a:extLst>
          </p:cNvPr>
          <p:cNvSpPr>
            <a:spLocks xmlns:a="http://schemas.openxmlformats.org/drawingml/2006/main" noGrp="1"/>
          </p:cNvSpPr>
          <p:nvPr/>
        </p:nvSpPr>
        <p:spPr>
          <a:xfrm xmlns:a="http://schemas.openxmlformats.org/drawingml/2006/main">
            <a:off x="10477500" y="20383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01</a:t>
            </a:r>
          </a:p>
        </p:txBody>
      </p:sp>
      <p:sp>
        <p:nvSpPr>
          <p:cNvPr id="4" name="point-0">
            <a:extLst xmlns:a="http://schemas.openxmlformats.org/drawingml/2006/main">
              <a:ext uri="{FF2B5EF4-FFF2-40B4-BE49-F238E27FC236}">
                <a16:creationId xmlns:a16="http://schemas.microsoft.com/office/drawing/2014/main" id="{DD79A48B-A45C-47EC-8EF6-5AAE86EF4757}"/>
              </a:ext>
            </a:extLst>
          </p:cNvPr>
          <p:cNvSpPr>
            <a:spLocks xmlns:a="http://schemas.openxmlformats.org/drawingml/2006/main" noGrp="1"/>
          </p:cNvSpPr>
          <p:nvPr/>
        </p:nvSpPr>
        <p:spPr>
          <a:xfrm xmlns:a="http://schemas.openxmlformats.org/drawingml/2006/main">
            <a:off x="10477500" y="24193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require memuat fungsi sebelum tampilan</a:t>
            </a:r>
          </a:p>
        </p:txBody>
      </p:sp>
      <p:sp>
        <p:nvSpPr>
          <p:cNvPr id="5" name="point-number-1">
            <a:extLst xmlns:a="http://schemas.openxmlformats.org/drawingml/2006/main">
              <a:ext uri="{FF2B5EF4-FFF2-40B4-BE49-F238E27FC236}">
                <a16:creationId xmlns:a16="http://schemas.microsoft.com/office/drawing/2014/main" id="{062C17F1-7444-4D76-8677-5B4087A26B5F}"/>
              </a:ext>
            </a:extLst>
          </p:cNvPr>
          <p:cNvSpPr>
            <a:spLocks xmlns:a="http://schemas.openxmlformats.org/drawingml/2006/main" noGrp="1"/>
          </p:cNvSpPr>
          <p:nvPr/>
        </p:nvSpPr>
        <p:spPr>
          <a:xfrm xmlns:a="http://schemas.openxmlformats.org/drawingml/2006/main">
            <a:off x="10477500" y="34671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02</a:t>
            </a:r>
          </a:p>
        </p:txBody>
      </p:sp>
      <p:sp>
        <p:nvSpPr>
          <p:cNvPr id="6" name="point-1">
            <a:extLst xmlns:a="http://schemas.openxmlformats.org/drawingml/2006/main">
              <a:ext uri="{FF2B5EF4-FFF2-40B4-BE49-F238E27FC236}">
                <a16:creationId xmlns:a16="http://schemas.microsoft.com/office/drawing/2014/main" id="{4EDD0A59-DE83-46C3-AF9A-C8656FCB323E}"/>
              </a:ext>
            </a:extLst>
          </p:cNvPr>
          <p:cNvSpPr>
            <a:spLocks xmlns:a="http://schemas.openxmlformats.org/drawingml/2006/main" noGrp="1"/>
          </p:cNvSpPr>
          <p:nvPr/>
        </p:nvSpPr>
        <p:spPr>
          <a:xfrm xmlns:a="http://schemas.openxmlformats.org/drawingml/2006/main">
            <a:off x="10477500" y="38481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GET memilih halaman melalui page</a:t>
            </a:r>
          </a:p>
        </p:txBody>
      </p:sp>
      <p:sp>
        <p:nvSpPr>
          <p:cNvPr id="7" name="point-number-2">
            <a:extLst xmlns:a="http://schemas.openxmlformats.org/drawingml/2006/main">
              <a:ext uri="{FF2B5EF4-FFF2-40B4-BE49-F238E27FC236}">
                <a16:creationId xmlns:a16="http://schemas.microsoft.com/office/drawing/2014/main" id="{0FAC1A01-3BD9-4BB7-8E0D-C9C1E40C4B56}"/>
              </a:ext>
            </a:extLst>
          </p:cNvPr>
          <p:cNvSpPr>
            <a:spLocks xmlns:a="http://schemas.openxmlformats.org/drawingml/2006/main" noGrp="1"/>
          </p:cNvSpPr>
          <p:nvPr/>
        </p:nvSpPr>
        <p:spPr>
          <a:xfrm xmlns:a="http://schemas.openxmlformats.org/drawingml/2006/main">
            <a:off x="10477500" y="48958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03</a:t>
            </a:r>
          </a:p>
        </p:txBody>
      </p:sp>
      <p:sp>
        <p:nvSpPr>
          <p:cNvPr id="8" name="point-2">
            <a:extLst xmlns:a="http://schemas.openxmlformats.org/drawingml/2006/main">
              <a:ext uri="{FF2B5EF4-FFF2-40B4-BE49-F238E27FC236}">
                <a16:creationId xmlns:a16="http://schemas.microsoft.com/office/drawing/2014/main" id="{80A051A9-D1FE-47C8-BD20-8905AD15DDFF}"/>
              </a:ext>
            </a:extLst>
          </p:cNvPr>
          <p:cNvSpPr>
            <a:spLocks xmlns:a="http://schemas.openxmlformats.org/drawingml/2006/main" noGrp="1"/>
          </p:cNvSpPr>
          <p:nvPr/>
        </p:nvSpPr>
        <p:spPr>
          <a:xfrm xmlns:a="http://schemas.openxmlformats.org/drawingml/2006/main">
            <a:off x="10477500" y="52768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POST memproses aksi formulir</a:t>
            </a:r>
          </a:p>
        </p:txBody>
      </p:sp>
      <p:sp>
        <p:nvSpPr>
          <p:cNvPr id="9" name="point-number-3">
            <a:extLst xmlns:a="http://schemas.openxmlformats.org/drawingml/2006/main">
              <a:ext uri="{FF2B5EF4-FFF2-40B4-BE49-F238E27FC236}">
                <a16:creationId xmlns:a16="http://schemas.microsoft.com/office/drawing/2014/main" id="{F05274C2-D5F8-4776-93AD-512B4E87E423}"/>
              </a:ext>
            </a:extLst>
          </p:cNvPr>
          <p:cNvSpPr>
            <a:spLocks xmlns:a="http://schemas.openxmlformats.org/drawingml/2006/main" noGrp="1"/>
          </p:cNvSpPr>
          <p:nvPr/>
        </p:nvSpPr>
        <p:spPr>
          <a:xfrm xmlns:a="http://schemas.openxmlformats.org/drawingml/2006/main">
            <a:off x="10477500" y="63246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04</a:t>
            </a:r>
          </a:p>
        </p:txBody>
      </p:sp>
      <p:sp>
        <p:nvSpPr>
          <p:cNvPr id="10" name="point-3">
            <a:extLst xmlns:a="http://schemas.openxmlformats.org/drawingml/2006/main">
              <a:ext uri="{FF2B5EF4-FFF2-40B4-BE49-F238E27FC236}">
                <a16:creationId xmlns:a16="http://schemas.microsoft.com/office/drawing/2014/main" id="{678B1DDC-E69A-4BAF-BA54-00F19D1F7FA3}"/>
              </a:ext>
            </a:extLst>
          </p:cNvPr>
          <p:cNvSpPr>
            <a:spLocks xmlns:a="http://schemas.openxmlformats.org/drawingml/2006/main" noGrp="1"/>
          </p:cNvSpPr>
          <p:nvPr/>
        </p:nvSpPr>
        <p:spPr>
          <a:xfrm xmlns:a="http://schemas.openxmlformats.org/drawingml/2006/main">
            <a:off x="10477500" y="67056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Daftar halaman membatasi route yang tersedia</a:t>
            </a:r>
          </a:p>
        </p:txBody>
      </p:sp>
      <p:sp>
        <p:nvSpPr>
          <p:cNvPr id="11" name="code-disclosure">
            <a:extLst xmlns:a="http://schemas.openxmlformats.org/drawingml/2006/main">
              <a:ext uri="{FF2B5EF4-FFF2-40B4-BE49-F238E27FC236}">
                <a16:creationId xmlns:a16="http://schemas.microsoft.com/office/drawing/2014/main" id="{C4A14437-D941-43F0-A89C-C7C3C66C4550}"/>
              </a:ext>
            </a:extLst>
          </p:cNvPr>
          <p:cNvSpPr>
            <a:spLocks xmlns:a="http://schemas.openxmlformats.org/drawingml/2006/main" noGrp="1"/>
          </p:cNvSpPr>
          <p:nvPr/>
        </p:nvSpPr>
        <p:spPr>
          <a:xfrm xmlns:a="http://schemas.openxmlformats.org/drawingml/2006/main">
            <a:off x="762000" y="7534275"/>
            <a:ext cx="1295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Cuplikan dirapikan atau dipadatkan. Lokasi source tercantum di bawah.</a:t>
            </a:r>
          </a:p>
        </p:txBody>
      </p:sp>
      <p:sp>
        <p:nvSpPr>
          <p:cNvPr id="12" name="source-label">
            <a:extLst xmlns:a="http://schemas.openxmlformats.org/drawingml/2006/main">
              <a:ext uri="{FF2B5EF4-FFF2-40B4-BE49-F238E27FC236}">
                <a16:creationId xmlns:a16="http://schemas.microsoft.com/office/drawing/2014/main" id="{6F55F38F-10BA-4BE3-8F5E-BF4603DD7E6A}"/>
              </a:ext>
            </a:extLst>
          </p:cNvPr>
          <p:cNvSpPr>
            <a:spLocks xmlns:a="http://schemas.openxmlformats.org/drawingml/2006/main" noGrp="1"/>
          </p:cNvSpPr>
          <p:nvPr/>
        </p:nvSpPr>
        <p:spPr>
          <a:xfrm xmlns:a="http://schemas.openxmlformats.org/drawingml/2006/main">
            <a:off x="762000" y="7981950"/>
            <a:ext cx="1266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Source: index.php, bagian awal</a:t>
            </a:r>
          </a:p>
        </p:txBody>
      </p:sp>
      <p:sp>
        <p:nvSpPr>
          <p:cNvPr id="13" name="page-number">
            <a:extLst xmlns:a="http://schemas.openxmlformats.org/drawingml/2006/main">
              <a:ext uri="{FF2B5EF4-FFF2-40B4-BE49-F238E27FC236}">
                <a16:creationId xmlns:a16="http://schemas.microsoft.com/office/drawing/2014/main" id="{6AD9029B-F356-4094-AF31-DC857AC573EE}"/>
              </a:ext>
            </a:extLst>
          </p:cNvPr>
          <p:cNvSpPr>
            <a:spLocks xmlns:a="http://schemas.openxmlformats.org/drawingml/2006/main" noGrp="1"/>
          </p:cNvSpPr>
          <p:nvPr/>
        </p:nvSpPr>
        <p:spPr>
          <a:xfrm xmlns:a="http://schemas.openxmlformats.org/drawingml/2006/main">
            <a:off x="14097000" y="79819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888888"/>
                </a:solidFill>
                <a:latin typeface="DejaVu Sans"/>
                <a:ea typeface="DejaVu Sans"/>
                <a:cs typeface="DejaVu Sans"/>
              </a:defRPr>
            </a:defPPr>
          </a:lstStyle>
          <a:p xmlns:a="http://schemas.openxmlformats.org/drawingml/2006/main">
            <a:pPr>
              <a:defRPr sz="1350" b="0">
                <a:solidFill>
                  <a:srgbClr val="888888"/>
                </a:solidFill>
                <a:latin typeface="DejaVu Sans"/>
                <a:ea typeface="DejaVu Sans"/>
                <a:cs typeface="DejaVu Sans"/>
              </a:defRPr>
            </a:pPr>
            <a:r>
              <a:rPr sz="1350" b="0">
                <a:solidFill>
                  <a:srgbClr val="888888"/>
                </a:solidFill>
                <a:latin typeface="DejaVu Sans"/>
                <a:ea typeface="DejaVu Sans"/>
                <a:cs typeface="DejaVu Sans"/>
              </a:rPr>
              <a:t>08</a:t>
            </a:r>
          </a:p>
        </p:txBody>
      </p:sp>
    </p:spTree>
    <p:extLst>
      <p:ext uri="{BB962C8B-B14F-4D97-AF65-F5344CB8AC3E}">
        <p14:creationId xmlns:p14="http://schemas.microsoft.com/office/powerpoint/2010/main" val="1101715361"/>
      </p:ext>
    </p:extLst>
  </p:cSld>
</p:sld>
</file>

<file path=ppt/slides/slide9.xml><?xml version="1.0" encoding="utf-8"?>
<p:sld xmlns:p="http://schemas.openxmlformats.org/presentationml/2006/main">
  <p:cSld>
    <p:bg>
      <p:bgPr>
        <a:solidFill xmlns:a="http://schemas.openxmlformats.org/drawingml/2006/main">
          <a:srgbClr val="101112"/>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8CBB64B7-13AE-455F-A2E0-0D62ACAC6861}"/>
              </a:ext>
            </a:extLst>
          </p:cNvPr>
          <p:cNvSpPr>
            <a:spLocks xmlns:a="http://schemas.openxmlformats.org/drawingml/2006/main" noGrp="1"/>
          </p:cNvSpPr>
          <p:nvPr/>
        </p:nvSpPr>
        <p:spPr>
          <a:xfrm xmlns:a="http://schemas.openxmlformats.org/drawingml/2006/main">
            <a:off x="762000" y="609600"/>
            <a:ext cx="1371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Data SQL menjadi array PHP</a:t>
            </a:r>
          </a:p>
        </p:txBody>
      </p:sp>
      <p:sp>
        <p:nvSpPr>
          <p:cNvPr id="2" name="code">
            <a:extLst xmlns:a="http://schemas.openxmlformats.org/drawingml/2006/main">
              <a:ext uri="{FF2B5EF4-FFF2-40B4-BE49-F238E27FC236}">
                <a16:creationId xmlns:a16="http://schemas.microsoft.com/office/drawing/2014/main" id="{70417AA6-1DFF-4059-AC04-95CBD67DEAF7}"/>
              </a:ext>
            </a:extLst>
          </p:cNvPr>
          <p:cNvSpPr>
            <a:spLocks xmlns:a="http://schemas.openxmlformats.org/drawingml/2006/main" noGrp="1"/>
          </p:cNvSpPr>
          <p:nvPr/>
        </p:nvSpPr>
        <p:spPr>
          <a:xfrm xmlns:a="http://schemas.openxmlformats.org/drawingml/2006/main">
            <a:off x="762000" y="1971675"/>
            <a:ext cx="9286875" cy="533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E3E8EF"/>
                </a:solidFill>
                <a:latin typeface="DejaVu Sans Mono"/>
                <a:ea typeface="DejaVu Sans Mono"/>
                <a:cs typeface="DejaVu Sans Mono"/>
              </a:defRPr>
            </a:defPPr>
          </a:lstStyle>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foreach ($statement-&gt;fetchAll() as $product)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$product['id'] = (int)$product['id'];</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$product['price'] = (int)$product['price'];</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$product['available']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(bool)$product['available'];</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$products[$product['id']] = $product;</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const SIZES = ['S','M','L','XL'];</a:t>
            </a:r>
          </a:p>
        </p:txBody>
      </p:sp>
      <p:sp>
        <p:nvSpPr>
          <p:cNvPr id="3" name="point-number-0">
            <a:extLst xmlns:a="http://schemas.openxmlformats.org/drawingml/2006/main">
              <a:ext uri="{FF2B5EF4-FFF2-40B4-BE49-F238E27FC236}">
                <a16:creationId xmlns:a16="http://schemas.microsoft.com/office/drawing/2014/main" id="{ECEC9B25-F947-4BB2-A63C-B3F3FB390300}"/>
              </a:ext>
            </a:extLst>
          </p:cNvPr>
          <p:cNvSpPr>
            <a:spLocks xmlns:a="http://schemas.openxmlformats.org/drawingml/2006/main" noGrp="1"/>
          </p:cNvSpPr>
          <p:nvPr/>
        </p:nvSpPr>
        <p:spPr>
          <a:xfrm xmlns:a="http://schemas.openxmlformats.org/drawingml/2006/main">
            <a:off x="10477500" y="20383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01</a:t>
            </a:r>
          </a:p>
        </p:txBody>
      </p:sp>
      <p:sp>
        <p:nvSpPr>
          <p:cNvPr id="4" name="point-0">
            <a:extLst xmlns:a="http://schemas.openxmlformats.org/drawingml/2006/main">
              <a:ext uri="{FF2B5EF4-FFF2-40B4-BE49-F238E27FC236}">
                <a16:creationId xmlns:a16="http://schemas.microsoft.com/office/drawing/2014/main" id="{0712D136-71C0-4354-9D7F-1FB5C3A23C78}"/>
              </a:ext>
            </a:extLst>
          </p:cNvPr>
          <p:cNvSpPr>
            <a:spLocks xmlns:a="http://schemas.openxmlformats.org/drawingml/2006/main" noGrp="1"/>
          </p:cNvSpPr>
          <p:nvPr/>
        </p:nvSpPr>
        <p:spPr>
          <a:xfrm xmlns:a="http://schemas.openxmlformats.org/drawingml/2006/main">
            <a:off x="10477500" y="24193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SELECT mengambil katalog dari products</a:t>
            </a:r>
          </a:p>
        </p:txBody>
      </p:sp>
      <p:sp>
        <p:nvSpPr>
          <p:cNvPr id="5" name="point-number-1">
            <a:extLst xmlns:a="http://schemas.openxmlformats.org/drawingml/2006/main">
              <a:ext uri="{FF2B5EF4-FFF2-40B4-BE49-F238E27FC236}">
                <a16:creationId xmlns:a16="http://schemas.microsoft.com/office/drawing/2014/main" id="{6928CB6F-1EE1-455F-ADAB-6308050E45D6}"/>
              </a:ext>
            </a:extLst>
          </p:cNvPr>
          <p:cNvSpPr>
            <a:spLocks xmlns:a="http://schemas.openxmlformats.org/drawingml/2006/main" noGrp="1"/>
          </p:cNvSpPr>
          <p:nvPr/>
        </p:nvSpPr>
        <p:spPr>
          <a:xfrm xmlns:a="http://schemas.openxmlformats.org/drawingml/2006/main">
            <a:off x="10477500" y="34671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02</a:t>
            </a:r>
          </a:p>
        </p:txBody>
      </p:sp>
      <p:sp>
        <p:nvSpPr>
          <p:cNvPr id="6" name="point-1">
            <a:extLst xmlns:a="http://schemas.openxmlformats.org/drawingml/2006/main">
              <a:ext uri="{FF2B5EF4-FFF2-40B4-BE49-F238E27FC236}">
                <a16:creationId xmlns:a16="http://schemas.microsoft.com/office/drawing/2014/main" id="{E4E7B6E0-5C51-4683-9135-7B113BCB5130}"/>
              </a:ext>
            </a:extLst>
          </p:cNvPr>
          <p:cNvSpPr>
            <a:spLocks xmlns:a="http://schemas.openxmlformats.org/drawingml/2006/main" noGrp="1"/>
          </p:cNvSpPr>
          <p:nvPr/>
        </p:nvSpPr>
        <p:spPr>
          <a:xfrm xmlns:a="http://schemas.openxmlformats.org/drawingml/2006/main">
            <a:off x="10477500" y="38481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ID dan harga dikonversi menjadi integer</a:t>
            </a:r>
          </a:p>
        </p:txBody>
      </p:sp>
      <p:sp>
        <p:nvSpPr>
          <p:cNvPr id="7" name="point-number-2">
            <a:extLst xmlns:a="http://schemas.openxmlformats.org/drawingml/2006/main">
              <a:ext uri="{FF2B5EF4-FFF2-40B4-BE49-F238E27FC236}">
                <a16:creationId xmlns:a16="http://schemas.microsoft.com/office/drawing/2014/main" id="{762CEBB4-744B-4AC3-AD36-3F146101BC54}"/>
              </a:ext>
            </a:extLst>
          </p:cNvPr>
          <p:cNvSpPr>
            <a:spLocks xmlns:a="http://schemas.openxmlformats.org/drawingml/2006/main" noGrp="1"/>
          </p:cNvSpPr>
          <p:nvPr/>
        </p:nvSpPr>
        <p:spPr>
          <a:xfrm xmlns:a="http://schemas.openxmlformats.org/drawingml/2006/main">
            <a:off x="10477500" y="48958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03</a:t>
            </a:r>
          </a:p>
        </p:txBody>
      </p:sp>
      <p:sp>
        <p:nvSpPr>
          <p:cNvPr id="8" name="point-2">
            <a:extLst xmlns:a="http://schemas.openxmlformats.org/drawingml/2006/main">
              <a:ext uri="{FF2B5EF4-FFF2-40B4-BE49-F238E27FC236}">
                <a16:creationId xmlns:a16="http://schemas.microsoft.com/office/drawing/2014/main" id="{8F5B4969-AD0E-49B2-8803-E65880F4A31A}"/>
              </a:ext>
            </a:extLst>
          </p:cNvPr>
          <p:cNvSpPr>
            <a:spLocks xmlns:a="http://schemas.openxmlformats.org/drawingml/2006/main" noGrp="1"/>
          </p:cNvSpPr>
          <p:nvPr/>
        </p:nvSpPr>
        <p:spPr>
          <a:xfrm xmlns:a="http://schemas.openxmlformats.org/drawingml/2006/main">
            <a:off x="10477500" y="52768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available dikonversi menjadi boolean</a:t>
            </a:r>
          </a:p>
        </p:txBody>
      </p:sp>
      <p:sp>
        <p:nvSpPr>
          <p:cNvPr id="9" name="point-number-3">
            <a:extLst xmlns:a="http://schemas.openxmlformats.org/drawingml/2006/main">
              <a:ext uri="{FF2B5EF4-FFF2-40B4-BE49-F238E27FC236}">
                <a16:creationId xmlns:a16="http://schemas.microsoft.com/office/drawing/2014/main" id="{56C45444-F4D7-4488-BD6A-91168C5E5480}"/>
              </a:ext>
            </a:extLst>
          </p:cNvPr>
          <p:cNvSpPr>
            <a:spLocks xmlns:a="http://schemas.openxmlformats.org/drawingml/2006/main" noGrp="1"/>
          </p:cNvSpPr>
          <p:nvPr/>
        </p:nvSpPr>
        <p:spPr>
          <a:xfrm xmlns:a="http://schemas.openxmlformats.org/drawingml/2006/main">
            <a:off x="10477500" y="63246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04</a:t>
            </a:r>
          </a:p>
        </p:txBody>
      </p:sp>
      <p:sp>
        <p:nvSpPr>
          <p:cNvPr id="10" name="point-3">
            <a:extLst xmlns:a="http://schemas.openxmlformats.org/drawingml/2006/main">
              <a:ext uri="{FF2B5EF4-FFF2-40B4-BE49-F238E27FC236}">
                <a16:creationId xmlns:a16="http://schemas.microsoft.com/office/drawing/2014/main" id="{A3D7D1C2-BC2D-4B55-8821-BFD92F687105}"/>
              </a:ext>
            </a:extLst>
          </p:cNvPr>
          <p:cNvSpPr>
            <a:spLocks xmlns:a="http://schemas.openxmlformats.org/drawingml/2006/main" noGrp="1"/>
          </p:cNvSpPr>
          <p:nvPr/>
        </p:nvSpPr>
        <p:spPr>
          <a:xfrm xmlns:a="http://schemas.openxmlformats.org/drawingml/2006/main">
            <a:off x="10477500" y="67056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Array PHP dipakai untuk render dan hitung</a:t>
            </a:r>
          </a:p>
        </p:txBody>
      </p:sp>
      <p:sp>
        <p:nvSpPr>
          <p:cNvPr id="11" name="code-disclosure">
            <a:extLst xmlns:a="http://schemas.openxmlformats.org/drawingml/2006/main">
              <a:ext uri="{FF2B5EF4-FFF2-40B4-BE49-F238E27FC236}">
                <a16:creationId xmlns:a16="http://schemas.microsoft.com/office/drawing/2014/main" id="{6C7C48E2-8EA4-41B3-8CF2-04EAD2D7F18E}"/>
              </a:ext>
            </a:extLst>
          </p:cNvPr>
          <p:cNvSpPr>
            <a:spLocks xmlns:a="http://schemas.openxmlformats.org/drawingml/2006/main" noGrp="1"/>
          </p:cNvSpPr>
          <p:nvPr/>
        </p:nvSpPr>
        <p:spPr>
          <a:xfrm xmlns:a="http://schemas.openxmlformats.org/drawingml/2006/main">
            <a:off x="762000" y="7534275"/>
            <a:ext cx="1295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Cuplikan dirapikan atau dipadatkan. Lokasi source tercantum di bawah.</a:t>
            </a:r>
          </a:p>
        </p:txBody>
      </p:sp>
      <p:sp>
        <p:nvSpPr>
          <p:cNvPr id="12" name="source-label">
            <a:extLst xmlns:a="http://schemas.openxmlformats.org/drawingml/2006/main">
              <a:ext uri="{FF2B5EF4-FFF2-40B4-BE49-F238E27FC236}">
                <a16:creationId xmlns:a16="http://schemas.microsoft.com/office/drawing/2014/main" id="{4B33A0B0-9502-49A2-9586-D61668FA22A7}"/>
              </a:ext>
            </a:extLst>
          </p:cNvPr>
          <p:cNvSpPr>
            <a:spLocks xmlns:a="http://schemas.openxmlformats.org/drawingml/2006/main" noGrp="1"/>
          </p:cNvSpPr>
          <p:nvPr/>
        </p:nvSpPr>
        <p:spPr>
          <a:xfrm xmlns:a="http://schemas.openxmlformats.org/drawingml/2006/main">
            <a:off x="762000" y="7981950"/>
            <a:ext cx="1266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Source: includes/products.php; database/doom_reversal.sql</a:t>
            </a:r>
          </a:p>
        </p:txBody>
      </p:sp>
      <p:sp>
        <p:nvSpPr>
          <p:cNvPr id="13" name="page-number">
            <a:extLst xmlns:a="http://schemas.openxmlformats.org/drawingml/2006/main">
              <a:ext uri="{FF2B5EF4-FFF2-40B4-BE49-F238E27FC236}">
                <a16:creationId xmlns:a16="http://schemas.microsoft.com/office/drawing/2014/main" id="{85CF9E33-473A-44B6-8E48-4D0B5B44933D}"/>
              </a:ext>
            </a:extLst>
          </p:cNvPr>
          <p:cNvSpPr>
            <a:spLocks xmlns:a="http://schemas.openxmlformats.org/drawingml/2006/main" noGrp="1"/>
          </p:cNvSpPr>
          <p:nvPr/>
        </p:nvSpPr>
        <p:spPr>
          <a:xfrm xmlns:a="http://schemas.openxmlformats.org/drawingml/2006/main">
            <a:off x="14097000" y="79819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888888"/>
                </a:solidFill>
                <a:latin typeface="DejaVu Sans"/>
                <a:ea typeface="DejaVu Sans"/>
                <a:cs typeface="DejaVu Sans"/>
              </a:defRPr>
            </a:defPPr>
          </a:lstStyle>
          <a:p xmlns:a="http://schemas.openxmlformats.org/drawingml/2006/main">
            <a:pPr>
              <a:defRPr sz="1350" b="0">
                <a:solidFill>
                  <a:srgbClr val="888888"/>
                </a:solidFill>
                <a:latin typeface="DejaVu Sans"/>
                <a:ea typeface="DejaVu Sans"/>
                <a:cs typeface="DejaVu Sans"/>
              </a:defRPr>
            </a:pPr>
            <a:r>
              <a:rPr sz="1350" b="0">
                <a:solidFill>
                  <a:srgbClr val="888888"/>
                </a:solidFill>
                <a:latin typeface="DejaVu Sans"/>
                <a:ea typeface="DejaVu Sans"/>
                <a:cs typeface="DejaVu Sans"/>
              </a:rPr>
              <a:t>09</a:t>
            </a:r>
          </a:p>
        </p:txBody>
      </p:sp>
    </p:spTree>
    <p:extLst>
      <p:ext uri="{BB962C8B-B14F-4D97-AF65-F5344CB8AC3E}">
        <p14:creationId xmlns:p14="http://schemas.microsoft.com/office/powerpoint/2010/main" val="1461261135"/>
      </p:ext>
    </p:extLst>
  </p:cSld>
</p:sld>
</file>

<file path=ppt/slides/slide10.xml><?xml version="1.0" encoding="utf-8"?>
<p:sld xmlns:p="http://schemas.openxmlformats.org/presentationml/2006/main">
  <p:cSld>
    <p:bg>
      <p:bgPr>
        <a:solidFill xmlns:a="http://schemas.openxmlformats.org/drawingml/2006/main">
          <a:srgbClr val="101112"/>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CB42EB1D-E2B0-442C-87B7-0A29FDDCB3BE}"/>
              </a:ext>
            </a:extLst>
          </p:cNvPr>
          <p:cNvSpPr>
            <a:spLocks xmlns:a="http://schemas.openxmlformats.org/drawingml/2006/main" noGrp="1"/>
          </p:cNvSpPr>
          <p:nvPr/>
        </p:nvSpPr>
        <p:spPr>
          <a:xfrm xmlns:a="http://schemas.openxmlformats.org/drawingml/2006/main">
            <a:off x="762000" y="609600"/>
            <a:ext cx="1371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Session pengguna</a:t>
            </a:r>
          </a:p>
        </p:txBody>
      </p:sp>
      <p:sp>
        <p:nvSpPr>
          <p:cNvPr id="2" name="code">
            <a:extLst xmlns:a="http://schemas.openxmlformats.org/drawingml/2006/main">
              <a:ext uri="{FF2B5EF4-FFF2-40B4-BE49-F238E27FC236}">
                <a16:creationId xmlns:a16="http://schemas.microsoft.com/office/drawing/2014/main" id="{A11C9FDE-BEB4-46CE-84BA-DEDB1D667B19}"/>
              </a:ext>
            </a:extLst>
          </p:cNvPr>
          <p:cNvSpPr>
            <a:spLocks xmlns:a="http://schemas.openxmlformats.org/drawingml/2006/main" noGrp="1"/>
          </p:cNvSpPr>
          <p:nvPr/>
        </p:nvSpPr>
        <p:spPr>
          <a:xfrm xmlns:a="http://schemas.openxmlformats.org/drawingml/2006/main">
            <a:off x="762000" y="1971675"/>
            <a:ext cx="9286875" cy="533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E3E8EF"/>
                </a:solidFill>
                <a:latin typeface="DejaVu Sans Mono"/>
                <a:ea typeface="DejaVu Sans Mono"/>
                <a:cs typeface="DejaVu Sans Mono"/>
              </a:defRPr>
            </a:defPPr>
          </a:lstStyle>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session_name('DOOMREVERSALSESSID');</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session_start();</a:t>
            </a:r>
          </a:p>
          <a:p xmlns:a="http://schemas.openxmlformats.org/drawingml/2006/main">
            <a:r>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$_SESSION['user'] = $user;</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$_SESSION['cart'][$key] =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'id' =&gt; $id,</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'size' =&gt; $size,</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'qty' =&gt; $old + $qty</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a:t>
            </a:r>
          </a:p>
        </p:txBody>
      </p:sp>
      <p:sp>
        <p:nvSpPr>
          <p:cNvPr id="3" name="point-number-0">
            <a:extLst xmlns:a="http://schemas.openxmlformats.org/drawingml/2006/main">
              <a:ext uri="{FF2B5EF4-FFF2-40B4-BE49-F238E27FC236}">
                <a16:creationId xmlns:a16="http://schemas.microsoft.com/office/drawing/2014/main" id="{483B64B1-324D-4EA3-836F-AA50457DEDC3}"/>
              </a:ext>
            </a:extLst>
          </p:cNvPr>
          <p:cNvSpPr>
            <a:spLocks xmlns:a="http://schemas.openxmlformats.org/drawingml/2006/main" noGrp="1"/>
          </p:cNvSpPr>
          <p:nvPr/>
        </p:nvSpPr>
        <p:spPr>
          <a:xfrm xmlns:a="http://schemas.openxmlformats.org/drawingml/2006/main">
            <a:off x="10477500" y="20383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01</a:t>
            </a:r>
          </a:p>
        </p:txBody>
      </p:sp>
      <p:sp>
        <p:nvSpPr>
          <p:cNvPr id="4" name="point-0">
            <a:extLst xmlns:a="http://schemas.openxmlformats.org/drawingml/2006/main">
              <a:ext uri="{FF2B5EF4-FFF2-40B4-BE49-F238E27FC236}">
                <a16:creationId xmlns:a16="http://schemas.microsoft.com/office/drawing/2014/main" id="{D5F3BF4B-D487-4648-85F6-79601257CDF6}"/>
              </a:ext>
            </a:extLst>
          </p:cNvPr>
          <p:cNvSpPr>
            <a:spLocks xmlns:a="http://schemas.openxmlformats.org/drawingml/2006/main" noGrp="1"/>
          </p:cNvSpPr>
          <p:nvPr/>
        </p:nvSpPr>
        <p:spPr>
          <a:xfrm xmlns:a="http://schemas.openxmlformats.org/drawingml/2006/main">
            <a:off x="10477500" y="24193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session_start membuka atau melanjutkan sesi</a:t>
            </a:r>
          </a:p>
        </p:txBody>
      </p:sp>
      <p:sp>
        <p:nvSpPr>
          <p:cNvPr id="5" name="point-number-1">
            <a:extLst xmlns:a="http://schemas.openxmlformats.org/drawingml/2006/main">
              <a:ext uri="{FF2B5EF4-FFF2-40B4-BE49-F238E27FC236}">
                <a16:creationId xmlns:a16="http://schemas.microsoft.com/office/drawing/2014/main" id="{5807D534-FE04-4260-829E-3DD059EE7CC2}"/>
              </a:ext>
            </a:extLst>
          </p:cNvPr>
          <p:cNvSpPr>
            <a:spLocks xmlns:a="http://schemas.openxmlformats.org/drawingml/2006/main" noGrp="1"/>
          </p:cNvSpPr>
          <p:nvPr/>
        </p:nvSpPr>
        <p:spPr>
          <a:xfrm xmlns:a="http://schemas.openxmlformats.org/drawingml/2006/main">
            <a:off x="10477500" y="34671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02</a:t>
            </a:r>
          </a:p>
        </p:txBody>
      </p:sp>
      <p:sp>
        <p:nvSpPr>
          <p:cNvPr id="6" name="point-1">
            <a:extLst xmlns:a="http://schemas.openxmlformats.org/drawingml/2006/main">
              <a:ext uri="{FF2B5EF4-FFF2-40B4-BE49-F238E27FC236}">
                <a16:creationId xmlns:a16="http://schemas.microsoft.com/office/drawing/2014/main" id="{A080ADF1-489B-4BE3-93B4-4416F5E66F84}"/>
              </a:ext>
            </a:extLst>
          </p:cNvPr>
          <p:cNvSpPr>
            <a:spLocks xmlns:a="http://schemas.openxmlformats.org/drawingml/2006/main" noGrp="1"/>
          </p:cNvSpPr>
          <p:nvPr/>
        </p:nvSpPr>
        <p:spPr>
          <a:xfrm xmlns:a="http://schemas.openxmlformats.org/drawingml/2006/main">
            <a:off x="10477500" y="38481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Cookie membawa ID sesi, bukan isi keranjang</a:t>
            </a:r>
          </a:p>
        </p:txBody>
      </p:sp>
      <p:sp>
        <p:nvSpPr>
          <p:cNvPr id="7" name="point-number-2">
            <a:extLst xmlns:a="http://schemas.openxmlformats.org/drawingml/2006/main">
              <a:ext uri="{FF2B5EF4-FFF2-40B4-BE49-F238E27FC236}">
                <a16:creationId xmlns:a16="http://schemas.microsoft.com/office/drawing/2014/main" id="{F0169361-EAFD-401E-8C4F-EA282FC38A73}"/>
              </a:ext>
            </a:extLst>
          </p:cNvPr>
          <p:cNvSpPr>
            <a:spLocks xmlns:a="http://schemas.openxmlformats.org/drawingml/2006/main" noGrp="1"/>
          </p:cNvSpPr>
          <p:nvPr/>
        </p:nvSpPr>
        <p:spPr>
          <a:xfrm xmlns:a="http://schemas.openxmlformats.org/drawingml/2006/main">
            <a:off x="10477500" y="48958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03</a:t>
            </a:r>
          </a:p>
        </p:txBody>
      </p:sp>
      <p:sp>
        <p:nvSpPr>
          <p:cNvPr id="8" name="point-2">
            <a:extLst xmlns:a="http://schemas.openxmlformats.org/drawingml/2006/main">
              <a:ext uri="{FF2B5EF4-FFF2-40B4-BE49-F238E27FC236}">
                <a16:creationId xmlns:a16="http://schemas.microsoft.com/office/drawing/2014/main" id="{669D1748-7AB5-4A37-A505-0E73F78F8486}"/>
              </a:ext>
            </a:extLst>
          </p:cNvPr>
          <p:cNvSpPr>
            <a:spLocks xmlns:a="http://schemas.openxmlformats.org/drawingml/2006/main" noGrp="1"/>
          </p:cNvSpPr>
          <p:nvPr/>
        </p:nvSpPr>
        <p:spPr>
          <a:xfrm xmlns:a="http://schemas.openxmlformats.org/drawingml/2006/main">
            <a:off x="10477500" y="52768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user dan cart berada dalam $_SESSION</a:t>
            </a:r>
          </a:p>
        </p:txBody>
      </p:sp>
      <p:sp>
        <p:nvSpPr>
          <p:cNvPr id="9" name="point-number-3">
            <a:extLst xmlns:a="http://schemas.openxmlformats.org/drawingml/2006/main">
              <a:ext uri="{FF2B5EF4-FFF2-40B4-BE49-F238E27FC236}">
                <a16:creationId xmlns:a16="http://schemas.microsoft.com/office/drawing/2014/main" id="{77407DD1-0394-4F4F-AA35-42DB1E711A82}"/>
              </a:ext>
            </a:extLst>
          </p:cNvPr>
          <p:cNvSpPr>
            <a:spLocks xmlns:a="http://schemas.openxmlformats.org/drawingml/2006/main" noGrp="1"/>
          </p:cNvSpPr>
          <p:nvPr/>
        </p:nvSpPr>
        <p:spPr>
          <a:xfrm xmlns:a="http://schemas.openxmlformats.org/drawingml/2006/main">
            <a:off x="10477500" y="63246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04</a:t>
            </a:r>
          </a:p>
        </p:txBody>
      </p:sp>
      <p:sp>
        <p:nvSpPr>
          <p:cNvPr id="10" name="point-3">
            <a:extLst xmlns:a="http://schemas.openxmlformats.org/drawingml/2006/main">
              <a:ext uri="{FF2B5EF4-FFF2-40B4-BE49-F238E27FC236}">
                <a16:creationId xmlns:a16="http://schemas.microsoft.com/office/drawing/2014/main" id="{0694984F-120C-4B5E-A026-119CAFE33B2F}"/>
              </a:ext>
            </a:extLst>
          </p:cNvPr>
          <p:cNvSpPr>
            <a:spLocks xmlns:a="http://schemas.openxmlformats.org/drawingml/2006/main" noGrp="1"/>
          </p:cNvSpPr>
          <p:nvPr/>
        </p:nvSpPr>
        <p:spPr>
          <a:xfrm xmlns:a="http://schemas.openxmlformats.org/drawingml/2006/main">
            <a:off x="10477500" y="67056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Logout menghapus user dan mempertahankan keranjang</a:t>
            </a:r>
          </a:p>
        </p:txBody>
      </p:sp>
      <p:sp>
        <p:nvSpPr>
          <p:cNvPr id="11" name="code-disclosure">
            <a:extLst xmlns:a="http://schemas.openxmlformats.org/drawingml/2006/main">
              <a:ext uri="{FF2B5EF4-FFF2-40B4-BE49-F238E27FC236}">
                <a16:creationId xmlns:a16="http://schemas.microsoft.com/office/drawing/2014/main" id="{84C536C8-6451-49EC-BD4D-F38354A2C33F}"/>
              </a:ext>
            </a:extLst>
          </p:cNvPr>
          <p:cNvSpPr>
            <a:spLocks xmlns:a="http://schemas.openxmlformats.org/drawingml/2006/main" noGrp="1"/>
          </p:cNvSpPr>
          <p:nvPr/>
        </p:nvSpPr>
        <p:spPr>
          <a:xfrm xmlns:a="http://schemas.openxmlformats.org/drawingml/2006/main">
            <a:off x="762000" y="7534275"/>
            <a:ext cx="1295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Cuplikan dirapikan atau dipadatkan. Lokasi source tercantum di bawah.</a:t>
            </a:r>
          </a:p>
        </p:txBody>
      </p:sp>
      <p:sp>
        <p:nvSpPr>
          <p:cNvPr id="12" name="source-label">
            <a:extLst xmlns:a="http://schemas.openxmlformats.org/drawingml/2006/main">
              <a:ext uri="{FF2B5EF4-FFF2-40B4-BE49-F238E27FC236}">
                <a16:creationId xmlns:a16="http://schemas.microsoft.com/office/drawing/2014/main" id="{6959643E-4037-4073-B66A-2F341888B854}"/>
              </a:ext>
            </a:extLst>
          </p:cNvPr>
          <p:cNvSpPr>
            <a:spLocks xmlns:a="http://schemas.openxmlformats.org/drawingml/2006/main" noGrp="1"/>
          </p:cNvSpPr>
          <p:nvPr/>
        </p:nvSpPr>
        <p:spPr>
          <a:xfrm xmlns:a="http://schemas.openxmlformats.org/drawingml/2006/main">
            <a:off x="762000" y="7981950"/>
            <a:ext cx="1266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Source: includes/bootstrap.php; includes/actions.php</a:t>
            </a:r>
          </a:p>
        </p:txBody>
      </p:sp>
      <p:sp>
        <p:nvSpPr>
          <p:cNvPr id="13" name="page-number">
            <a:extLst xmlns:a="http://schemas.openxmlformats.org/drawingml/2006/main">
              <a:ext uri="{FF2B5EF4-FFF2-40B4-BE49-F238E27FC236}">
                <a16:creationId xmlns:a16="http://schemas.microsoft.com/office/drawing/2014/main" id="{885E5314-47B7-4633-AC37-0FC5EE30F3FB}"/>
              </a:ext>
            </a:extLst>
          </p:cNvPr>
          <p:cNvSpPr>
            <a:spLocks xmlns:a="http://schemas.openxmlformats.org/drawingml/2006/main" noGrp="1"/>
          </p:cNvSpPr>
          <p:nvPr/>
        </p:nvSpPr>
        <p:spPr>
          <a:xfrm xmlns:a="http://schemas.openxmlformats.org/drawingml/2006/main">
            <a:off x="14097000" y="79819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888888"/>
                </a:solidFill>
                <a:latin typeface="DejaVu Sans"/>
                <a:ea typeface="DejaVu Sans"/>
                <a:cs typeface="DejaVu Sans"/>
              </a:defRPr>
            </a:defPPr>
          </a:lstStyle>
          <a:p xmlns:a="http://schemas.openxmlformats.org/drawingml/2006/main">
            <a:pPr>
              <a:defRPr sz="1350" b="0">
                <a:solidFill>
                  <a:srgbClr val="888888"/>
                </a:solidFill>
                <a:latin typeface="DejaVu Sans"/>
                <a:ea typeface="DejaVu Sans"/>
                <a:cs typeface="DejaVu Sans"/>
              </a:defRPr>
            </a:pPr>
            <a:r>
              <a:rPr sz="1350" b="0">
                <a:solidFill>
                  <a:srgbClr val="888888"/>
                </a:solidFill>
                <a:latin typeface="DejaVu Sans"/>
                <a:ea typeface="DejaVu Sans"/>
                <a:cs typeface="DejaVu Sans"/>
              </a:rPr>
              <a:t>10</a:t>
            </a:r>
          </a:p>
        </p:txBody>
      </p:sp>
    </p:spTree>
    <p:extLst>
      <p:ext uri="{BB962C8B-B14F-4D97-AF65-F5344CB8AC3E}">
        <p14:creationId xmlns:p14="http://schemas.microsoft.com/office/powerpoint/2010/main" val="1549294229"/>
      </p:ext>
    </p:extLst>
  </p:cSld>
</p:sld>
</file>

<file path=ppt/slides/slide11.xml><?xml version="1.0" encoding="utf-8"?>
<p:sld xmlns:p="http://schemas.openxmlformats.org/presentationml/2006/main">
  <p:cSld>
    <p:bg>
      <p:bgPr>
        <a:solidFill xmlns:a="http://schemas.openxmlformats.org/drawingml/2006/main">
          <a:srgbClr val="101112"/>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D2C56AF2-4EFA-4577-8452-F9E8B51772A6}"/>
              </a:ext>
            </a:extLst>
          </p:cNvPr>
          <p:cNvSpPr>
            <a:spLocks xmlns:a="http://schemas.openxmlformats.org/drawingml/2006/main" noGrp="1"/>
          </p:cNvSpPr>
          <p:nvPr/>
        </p:nvSpPr>
        <p:spPr>
          <a:xfrm xmlns:a="http://schemas.openxmlformats.org/drawingml/2006/main">
            <a:off x="762000" y="609600"/>
            <a:ext cx="1371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Pencarian dan pagination</a:t>
            </a:r>
          </a:p>
        </p:txBody>
      </p:sp>
      <p:sp>
        <p:nvSpPr>
          <p:cNvPr id="2" name="code">
            <a:extLst xmlns:a="http://schemas.openxmlformats.org/drawingml/2006/main">
              <a:ext uri="{FF2B5EF4-FFF2-40B4-BE49-F238E27FC236}">
                <a16:creationId xmlns:a16="http://schemas.microsoft.com/office/drawing/2014/main" id="{C44F45BB-68C7-4D4F-BB0B-AC9AF73F6B44}"/>
              </a:ext>
            </a:extLst>
          </p:cNvPr>
          <p:cNvSpPr>
            <a:spLocks xmlns:a="http://schemas.openxmlformats.org/drawingml/2006/main" noGrp="1"/>
          </p:cNvSpPr>
          <p:nvPr/>
        </p:nvSpPr>
        <p:spPr>
          <a:xfrm xmlns:a="http://schemas.openxmlformats.org/drawingml/2006/main">
            <a:off x="762000" y="1971675"/>
            <a:ext cx="9286875" cy="533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E3E8EF"/>
                </a:solidFill>
                <a:latin typeface="DejaVu Sans Mono"/>
                <a:ea typeface="DejaVu Sans Mono"/>
                <a:cs typeface="DejaVu Sans Mono"/>
              </a:defRPr>
            </a:defPPr>
          </a:lstStyle>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$pages = max(1, (int)ceil(count($list) / 6));</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$current = max(1, min(</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$pages, (int)($_GET['p'] ?? 1)</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$shown = array_slice(</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$list, ($current - 1) * 6, 6</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a:t>
            </a:r>
          </a:p>
        </p:txBody>
      </p:sp>
      <p:sp>
        <p:nvSpPr>
          <p:cNvPr id="3" name="point-number-0">
            <a:extLst xmlns:a="http://schemas.openxmlformats.org/drawingml/2006/main">
              <a:ext uri="{FF2B5EF4-FFF2-40B4-BE49-F238E27FC236}">
                <a16:creationId xmlns:a16="http://schemas.microsoft.com/office/drawing/2014/main" id="{012B6910-0D72-4F98-A50C-F22BD5E0E92E}"/>
              </a:ext>
            </a:extLst>
          </p:cNvPr>
          <p:cNvSpPr>
            <a:spLocks xmlns:a="http://schemas.openxmlformats.org/drawingml/2006/main" noGrp="1"/>
          </p:cNvSpPr>
          <p:nvPr/>
        </p:nvSpPr>
        <p:spPr>
          <a:xfrm xmlns:a="http://schemas.openxmlformats.org/drawingml/2006/main">
            <a:off x="10477500" y="20383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01</a:t>
            </a:r>
          </a:p>
        </p:txBody>
      </p:sp>
      <p:sp>
        <p:nvSpPr>
          <p:cNvPr id="4" name="point-0">
            <a:extLst xmlns:a="http://schemas.openxmlformats.org/drawingml/2006/main">
              <a:ext uri="{FF2B5EF4-FFF2-40B4-BE49-F238E27FC236}">
                <a16:creationId xmlns:a16="http://schemas.microsoft.com/office/drawing/2014/main" id="{C7823B4F-D5D0-4B91-A428-C80B5743EBDE}"/>
              </a:ext>
            </a:extLst>
          </p:cNvPr>
          <p:cNvSpPr>
            <a:spLocks xmlns:a="http://schemas.openxmlformats.org/drawingml/2006/main" noGrp="1"/>
          </p:cNvSpPr>
          <p:nvPr/>
        </p:nvSpPr>
        <p:spPr>
          <a:xfrm xmlns:a="http://schemas.openxmlformats.org/drawingml/2006/main">
            <a:off x="10477500" y="24193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stripos mencari nama atau warna tanpa membedakan kapital</a:t>
            </a:r>
          </a:p>
        </p:txBody>
      </p:sp>
      <p:sp>
        <p:nvSpPr>
          <p:cNvPr id="5" name="point-number-1">
            <a:extLst xmlns:a="http://schemas.openxmlformats.org/drawingml/2006/main">
              <a:ext uri="{FF2B5EF4-FFF2-40B4-BE49-F238E27FC236}">
                <a16:creationId xmlns:a16="http://schemas.microsoft.com/office/drawing/2014/main" id="{4A6DDD4D-964F-4BCC-81AD-15F36063E668}"/>
              </a:ext>
            </a:extLst>
          </p:cNvPr>
          <p:cNvSpPr>
            <a:spLocks xmlns:a="http://schemas.openxmlformats.org/drawingml/2006/main" noGrp="1"/>
          </p:cNvSpPr>
          <p:nvPr/>
        </p:nvSpPr>
        <p:spPr>
          <a:xfrm xmlns:a="http://schemas.openxmlformats.org/drawingml/2006/main">
            <a:off x="10477500" y="34671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02</a:t>
            </a:r>
          </a:p>
        </p:txBody>
      </p:sp>
      <p:sp>
        <p:nvSpPr>
          <p:cNvPr id="6" name="point-1">
            <a:extLst xmlns:a="http://schemas.openxmlformats.org/drawingml/2006/main">
              <a:ext uri="{FF2B5EF4-FFF2-40B4-BE49-F238E27FC236}">
                <a16:creationId xmlns:a16="http://schemas.microsoft.com/office/drawing/2014/main" id="{CA0E2387-21EE-4030-857B-A2074EB0DA46}"/>
              </a:ext>
            </a:extLst>
          </p:cNvPr>
          <p:cNvSpPr>
            <a:spLocks xmlns:a="http://schemas.openxmlformats.org/drawingml/2006/main" noGrp="1"/>
          </p:cNvSpPr>
          <p:nvPr/>
        </p:nvSpPr>
        <p:spPr>
          <a:xfrm xmlns:a="http://schemas.openxmlformats.org/drawingml/2006/main">
            <a:off x="10477500" y="38481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6 produk tampil pada setiap halaman</a:t>
            </a:r>
          </a:p>
        </p:txBody>
      </p:sp>
      <p:sp>
        <p:nvSpPr>
          <p:cNvPr id="7" name="point-number-2">
            <a:extLst xmlns:a="http://schemas.openxmlformats.org/drawingml/2006/main">
              <a:ext uri="{FF2B5EF4-FFF2-40B4-BE49-F238E27FC236}">
                <a16:creationId xmlns:a16="http://schemas.microsoft.com/office/drawing/2014/main" id="{F9C2F982-E4FF-46E3-9241-CE08BCFD1E85}"/>
              </a:ext>
            </a:extLst>
          </p:cNvPr>
          <p:cNvSpPr>
            <a:spLocks xmlns:a="http://schemas.openxmlformats.org/drawingml/2006/main" noGrp="1"/>
          </p:cNvSpPr>
          <p:nvPr/>
        </p:nvSpPr>
        <p:spPr>
          <a:xfrm xmlns:a="http://schemas.openxmlformats.org/drawingml/2006/main">
            <a:off x="10477500" y="48958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03</a:t>
            </a:r>
          </a:p>
        </p:txBody>
      </p:sp>
      <p:sp>
        <p:nvSpPr>
          <p:cNvPr id="8" name="point-2">
            <a:extLst xmlns:a="http://schemas.openxmlformats.org/drawingml/2006/main">
              <a:ext uri="{FF2B5EF4-FFF2-40B4-BE49-F238E27FC236}">
                <a16:creationId xmlns:a16="http://schemas.microsoft.com/office/drawing/2014/main" id="{475884A0-5F40-4A9D-B1F5-EF10E8C7B0EF}"/>
              </a:ext>
            </a:extLst>
          </p:cNvPr>
          <p:cNvSpPr>
            <a:spLocks xmlns:a="http://schemas.openxmlformats.org/drawingml/2006/main" noGrp="1"/>
          </p:cNvSpPr>
          <p:nvPr/>
        </p:nvSpPr>
        <p:spPr>
          <a:xfrm xmlns:a="http://schemas.openxmlformats.org/drawingml/2006/main">
            <a:off x="10477500" y="52768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ceil menghitung banyaknya halaman</a:t>
            </a:r>
          </a:p>
        </p:txBody>
      </p:sp>
      <p:sp>
        <p:nvSpPr>
          <p:cNvPr id="9" name="point-number-3">
            <a:extLst xmlns:a="http://schemas.openxmlformats.org/drawingml/2006/main">
              <a:ext uri="{FF2B5EF4-FFF2-40B4-BE49-F238E27FC236}">
                <a16:creationId xmlns:a16="http://schemas.microsoft.com/office/drawing/2014/main" id="{5E0EB2CA-B07A-4F9D-98F2-543ECA073610}"/>
              </a:ext>
            </a:extLst>
          </p:cNvPr>
          <p:cNvSpPr>
            <a:spLocks xmlns:a="http://schemas.openxmlformats.org/drawingml/2006/main" noGrp="1"/>
          </p:cNvSpPr>
          <p:nvPr/>
        </p:nvSpPr>
        <p:spPr>
          <a:xfrm xmlns:a="http://schemas.openxmlformats.org/drawingml/2006/main">
            <a:off x="10477500" y="63246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04</a:t>
            </a:r>
          </a:p>
        </p:txBody>
      </p:sp>
      <p:sp>
        <p:nvSpPr>
          <p:cNvPr id="10" name="point-3">
            <a:extLst xmlns:a="http://schemas.openxmlformats.org/drawingml/2006/main">
              <a:ext uri="{FF2B5EF4-FFF2-40B4-BE49-F238E27FC236}">
                <a16:creationId xmlns:a16="http://schemas.microsoft.com/office/drawing/2014/main" id="{DB9840FF-359F-4660-90AA-CD7F2C17FD6F}"/>
              </a:ext>
            </a:extLst>
          </p:cNvPr>
          <p:cNvSpPr>
            <a:spLocks xmlns:a="http://schemas.openxmlformats.org/drawingml/2006/main" noGrp="1"/>
          </p:cNvSpPr>
          <p:nvPr/>
        </p:nvSpPr>
        <p:spPr>
          <a:xfrm xmlns:a="http://schemas.openxmlformats.org/drawingml/2006/main">
            <a:off x="10477500" y="67056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array_slice mengambil produk yang akan ditampilkan</a:t>
            </a:r>
          </a:p>
        </p:txBody>
      </p:sp>
      <p:sp>
        <p:nvSpPr>
          <p:cNvPr id="11" name="code-disclosure">
            <a:extLst xmlns:a="http://schemas.openxmlformats.org/drawingml/2006/main">
              <a:ext uri="{FF2B5EF4-FFF2-40B4-BE49-F238E27FC236}">
                <a16:creationId xmlns:a16="http://schemas.microsoft.com/office/drawing/2014/main" id="{7C2483A0-5CD2-4D1A-A884-E3D3CA7D50FE}"/>
              </a:ext>
            </a:extLst>
          </p:cNvPr>
          <p:cNvSpPr>
            <a:spLocks xmlns:a="http://schemas.openxmlformats.org/drawingml/2006/main" noGrp="1"/>
          </p:cNvSpPr>
          <p:nvPr/>
        </p:nvSpPr>
        <p:spPr>
          <a:xfrm xmlns:a="http://schemas.openxmlformats.org/drawingml/2006/main">
            <a:off x="762000" y="7534275"/>
            <a:ext cx="1295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Cuplikan dirapikan atau dipadatkan. Lokasi source tercantum di bawah.</a:t>
            </a:r>
          </a:p>
        </p:txBody>
      </p:sp>
      <p:sp>
        <p:nvSpPr>
          <p:cNvPr id="12" name="source-label">
            <a:extLst xmlns:a="http://schemas.openxmlformats.org/drawingml/2006/main">
              <a:ext uri="{FF2B5EF4-FFF2-40B4-BE49-F238E27FC236}">
                <a16:creationId xmlns:a16="http://schemas.microsoft.com/office/drawing/2014/main" id="{F124DB0B-B113-47A7-91A3-22C3302AC01E}"/>
              </a:ext>
            </a:extLst>
          </p:cNvPr>
          <p:cNvSpPr>
            <a:spLocks xmlns:a="http://schemas.openxmlformats.org/drawingml/2006/main" noGrp="1"/>
          </p:cNvSpPr>
          <p:nvPr/>
        </p:nvSpPr>
        <p:spPr>
          <a:xfrm xmlns:a="http://schemas.openxmlformats.org/drawingml/2006/main">
            <a:off x="762000" y="7981950"/>
            <a:ext cx="1266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Source: index.php, cabang catalog</a:t>
            </a:r>
          </a:p>
        </p:txBody>
      </p:sp>
      <p:sp>
        <p:nvSpPr>
          <p:cNvPr id="13" name="page-number">
            <a:extLst xmlns:a="http://schemas.openxmlformats.org/drawingml/2006/main">
              <a:ext uri="{FF2B5EF4-FFF2-40B4-BE49-F238E27FC236}">
                <a16:creationId xmlns:a16="http://schemas.microsoft.com/office/drawing/2014/main" id="{BC2476F9-2937-405B-880D-14040F380144}"/>
              </a:ext>
            </a:extLst>
          </p:cNvPr>
          <p:cNvSpPr>
            <a:spLocks xmlns:a="http://schemas.openxmlformats.org/drawingml/2006/main" noGrp="1"/>
          </p:cNvSpPr>
          <p:nvPr/>
        </p:nvSpPr>
        <p:spPr>
          <a:xfrm xmlns:a="http://schemas.openxmlformats.org/drawingml/2006/main">
            <a:off x="14097000" y="79819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888888"/>
                </a:solidFill>
                <a:latin typeface="DejaVu Sans"/>
                <a:ea typeface="DejaVu Sans"/>
                <a:cs typeface="DejaVu Sans"/>
              </a:defRPr>
            </a:defPPr>
          </a:lstStyle>
          <a:p xmlns:a="http://schemas.openxmlformats.org/drawingml/2006/main">
            <a:pPr>
              <a:defRPr sz="1350" b="0">
                <a:solidFill>
                  <a:srgbClr val="888888"/>
                </a:solidFill>
                <a:latin typeface="DejaVu Sans"/>
                <a:ea typeface="DejaVu Sans"/>
                <a:cs typeface="DejaVu Sans"/>
              </a:defRPr>
            </a:pPr>
            <a:r>
              <a:rPr sz="1350" b="0">
                <a:solidFill>
                  <a:srgbClr val="888888"/>
                </a:solidFill>
                <a:latin typeface="DejaVu Sans"/>
                <a:ea typeface="DejaVu Sans"/>
                <a:cs typeface="DejaVu Sans"/>
              </a:rPr>
              <a:t>11</a:t>
            </a:r>
          </a:p>
        </p:txBody>
      </p:sp>
    </p:spTree>
    <p:extLst>
      <p:ext uri="{BB962C8B-B14F-4D97-AF65-F5344CB8AC3E}">
        <p14:creationId xmlns:p14="http://schemas.microsoft.com/office/powerpoint/2010/main" val="973483362"/>
      </p:ext>
    </p:extLst>
  </p:cSld>
</p:sld>
</file>

<file path=ppt/slides/slide12.xml><?xml version="1.0" encoding="utf-8"?>
<p:sld xmlns:p="http://schemas.openxmlformats.org/presentationml/2006/main">
  <p:cSld>
    <p:bg>
      <p:bgPr>
        <a:solidFill xmlns:a="http://schemas.openxmlformats.org/drawingml/2006/main">
          <a:srgbClr val="101112"/>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A20EA33B-B51E-4D52-BBB0-15E4C2E6F044}"/>
              </a:ext>
            </a:extLst>
          </p:cNvPr>
          <p:cNvSpPr>
            <a:spLocks xmlns:a="http://schemas.openxmlformats.org/drawingml/2006/main" noGrp="1"/>
          </p:cNvSpPr>
          <p:nvPr/>
        </p:nvSpPr>
        <p:spPr>
          <a:xfrm xmlns:a="http://schemas.openxmlformats.org/drawingml/2006/main">
            <a:off x="762000" y="609600"/>
            <a:ext cx="1371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Varian produk dalam keranjang</a:t>
            </a:r>
          </a:p>
        </p:txBody>
      </p:sp>
      <p:sp>
        <p:nvSpPr>
          <p:cNvPr id="2" name="code">
            <a:extLst xmlns:a="http://schemas.openxmlformats.org/drawingml/2006/main">
              <a:ext uri="{FF2B5EF4-FFF2-40B4-BE49-F238E27FC236}">
                <a16:creationId xmlns:a16="http://schemas.microsoft.com/office/drawing/2014/main" id="{3F6B654D-06FB-47DF-8E01-452707778720}"/>
              </a:ext>
            </a:extLst>
          </p:cNvPr>
          <p:cNvSpPr>
            <a:spLocks xmlns:a="http://schemas.openxmlformats.org/drawingml/2006/main" noGrp="1"/>
          </p:cNvSpPr>
          <p:nvPr/>
        </p:nvSpPr>
        <p:spPr>
          <a:xfrm xmlns:a="http://schemas.openxmlformats.org/drawingml/2006/main">
            <a:off x="762000" y="1971675"/>
            <a:ext cx="9286875" cy="533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E3E8EF"/>
                </a:solidFill>
                <a:latin typeface="DejaVu Sans Mono"/>
                <a:ea typeface="DejaVu Sans Mono"/>
                <a:cs typeface="DejaVu Sans Mono"/>
              </a:defRPr>
            </a:defPPr>
          </a:lstStyle>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$key = $id . '-' . $size;</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$old = $_SESSION['cart'][$key]['qty'] ?? 0;</a:t>
            </a:r>
          </a:p>
          <a:p xmlns:a="http://schemas.openxmlformats.org/drawingml/2006/main">
            <a:r>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if ($old + $qty &gt; 20)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$error = 'Maksimal 20 produk per ukuran.';</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else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$_SESSION['cart'][$key] =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'id' =&gt; $id, 'size' =&gt; $size,</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'qty' =&gt; $old + $qty</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a:t>
            </a:r>
          </a:p>
        </p:txBody>
      </p:sp>
      <p:sp>
        <p:nvSpPr>
          <p:cNvPr id="3" name="point-number-0">
            <a:extLst xmlns:a="http://schemas.openxmlformats.org/drawingml/2006/main">
              <a:ext uri="{FF2B5EF4-FFF2-40B4-BE49-F238E27FC236}">
                <a16:creationId xmlns:a16="http://schemas.microsoft.com/office/drawing/2014/main" id="{C5D8632F-AB6F-4ED0-A36E-C3E79EB65B8D}"/>
              </a:ext>
            </a:extLst>
          </p:cNvPr>
          <p:cNvSpPr>
            <a:spLocks xmlns:a="http://schemas.openxmlformats.org/drawingml/2006/main" noGrp="1"/>
          </p:cNvSpPr>
          <p:nvPr/>
        </p:nvSpPr>
        <p:spPr>
          <a:xfrm xmlns:a="http://schemas.openxmlformats.org/drawingml/2006/main">
            <a:off x="10477500" y="20383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01</a:t>
            </a:r>
          </a:p>
        </p:txBody>
      </p:sp>
      <p:sp>
        <p:nvSpPr>
          <p:cNvPr id="4" name="point-0">
            <a:extLst xmlns:a="http://schemas.openxmlformats.org/drawingml/2006/main">
              <a:ext uri="{FF2B5EF4-FFF2-40B4-BE49-F238E27FC236}">
                <a16:creationId xmlns:a16="http://schemas.microsoft.com/office/drawing/2014/main" id="{8A753F1B-9F67-4CAC-BC30-FF046AE95DD8}"/>
              </a:ext>
            </a:extLst>
          </p:cNvPr>
          <p:cNvSpPr>
            <a:spLocks xmlns:a="http://schemas.openxmlformats.org/drawingml/2006/main" noGrp="1"/>
          </p:cNvSpPr>
          <p:nvPr/>
        </p:nvSpPr>
        <p:spPr>
          <a:xfrm xmlns:a="http://schemas.openxmlformats.org/drawingml/2006/main">
            <a:off x="10477500" y="24193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Key menggabungkan ID produk dan ukuran</a:t>
            </a:r>
          </a:p>
        </p:txBody>
      </p:sp>
      <p:sp>
        <p:nvSpPr>
          <p:cNvPr id="5" name="point-number-1">
            <a:extLst xmlns:a="http://schemas.openxmlformats.org/drawingml/2006/main">
              <a:ext uri="{FF2B5EF4-FFF2-40B4-BE49-F238E27FC236}">
                <a16:creationId xmlns:a16="http://schemas.microsoft.com/office/drawing/2014/main" id="{727FB818-D4F5-4D46-A22F-B92CF0275C46}"/>
              </a:ext>
            </a:extLst>
          </p:cNvPr>
          <p:cNvSpPr>
            <a:spLocks xmlns:a="http://schemas.openxmlformats.org/drawingml/2006/main" noGrp="1"/>
          </p:cNvSpPr>
          <p:nvPr/>
        </p:nvSpPr>
        <p:spPr>
          <a:xfrm xmlns:a="http://schemas.openxmlformats.org/drawingml/2006/main">
            <a:off x="10477500" y="34671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02</a:t>
            </a:r>
          </a:p>
        </p:txBody>
      </p:sp>
      <p:sp>
        <p:nvSpPr>
          <p:cNvPr id="6" name="point-1">
            <a:extLst xmlns:a="http://schemas.openxmlformats.org/drawingml/2006/main">
              <a:ext uri="{FF2B5EF4-FFF2-40B4-BE49-F238E27FC236}">
                <a16:creationId xmlns:a16="http://schemas.microsoft.com/office/drawing/2014/main" id="{0F37C20D-A885-48FD-AA36-4D4D34F72AAF}"/>
              </a:ext>
            </a:extLst>
          </p:cNvPr>
          <p:cNvSpPr>
            <a:spLocks xmlns:a="http://schemas.openxmlformats.org/drawingml/2006/main" noGrp="1"/>
          </p:cNvSpPr>
          <p:nvPr/>
        </p:nvSpPr>
        <p:spPr>
          <a:xfrm xmlns:a="http://schemas.openxmlformats.org/drawingml/2006/main">
            <a:off x="10477500" y="38481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1-M dan 1-L menjadi baris berbeda</a:t>
            </a:r>
          </a:p>
        </p:txBody>
      </p:sp>
      <p:sp>
        <p:nvSpPr>
          <p:cNvPr id="7" name="point-number-2">
            <a:extLst xmlns:a="http://schemas.openxmlformats.org/drawingml/2006/main">
              <a:ext uri="{FF2B5EF4-FFF2-40B4-BE49-F238E27FC236}">
                <a16:creationId xmlns:a16="http://schemas.microsoft.com/office/drawing/2014/main" id="{9E3C4AA5-EC29-4FDF-AF76-98AA7BA06AA3}"/>
              </a:ext>
            </a:extLst>
          </p:cNvPr>
          <p:cNvSpPr>
            <a:spLocks xmlns:a="http://schemas.openxmlformats.org/drawingml/2006/main" noGrp="1"/>
          </p:cNvSpPr>
          <p:nvPr/>
        </p:nvSpPr>
        <p:spPr>
          <a:xfrm xmlns:a="http://schemas.openxmlformats.org/drawingml/2006/main">
            <a:off x="10477500" y="48958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03</a:t>
            </a:r>
          </a:p>
        </p:txBody>
      </p:sp>
      <p:sp>
        <p:nvSpPr>
          <p:cNvPr id="8" name="point-2">
            <a:extLst xmlns:a="http://schemas.openxmlformats.org/drawingml/2006/main">
              <a:ext uri="{FF2B5EF4-FFF2-40B4-BE49-F238E27FC236}">
                <a16:creationId xmlns:a16="http://schemas.microsoft.com/office/drawing/2014/main" id="{C838708D-D35B-41F4-A181-1B639064701A}"/>
              </a:ext>
            </a:extLst>
          </p:cNvPr>
          <p:cNvSpPr>
            <a:spLocks xmlns:a="http://schemas.openxmlformats.org/drawingml/2006/main" noGrp="1"/>
          </p:cNvSpPr>
          <p:nvPr/>
        </p:nvSpPr>
        <p:spPr>
          <a:xfrm xmlns:a="http://schemas.openxmlformats.org/drawingml/2006/main">
            <a:off x="10477500" y="52768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Penambahan mengakumulasi jumlah varian yang sama</a:t>
            </a:r>
          </a:p>
        </p:txBody>
      </p:sp>
      <p:sp>
        <p:nvSpPr>
          <p:cNvPr id="9" name="point-number-3">
            <a:extLst xmlns:a="http://schemas.openxmlformats.org/drawingml/2006/main">
              <a:ext uri="{FF2B5EF4-FFF2-40B4-BE49-F238E27FC236}">
                <a16:creationId xmlns:a16="http://schemas.microsoft.com/office/drawing/2014/main" id="{3857800D-04C9-4E36-9740-081AE6547DCE}"/>
              </a:ext>
            </a:extLst>
          </p:cNvPr>
          <p:cNvSpPr>
            <a:spLocks xmlns:a="http://schemas.openxmlformats.org/drawingml/2006/main" noGrp="1"/>
          </p:cNvSpPr>
          <p:nvPr/>
        </p:nvSpPr>
        <p:spPr>
          <a:xfrm xmlns:a="http://schemas.openxmlformats.org/drawingml/2006/main">
            <a:off x="10477500" y="63246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04</a:t>
            </a:r>
          </a:p>
        </p:txBody>
      </p:sp>
      <p:sp>
        <p:nvSpPr>
          <p:cNvPr id="10" name="point-3">
            <a:extLst xmlns:a="http://schemas.openxmlformats.org/drawingml/2006/main">
              <a:ext uri="{FF2B5EF4-FFF2-40B4-BE49-F238E27FC236}">
                <a16:creationId xmlns:a16="http://schemas.microsoft.com/office/drawing/2014/main" id="{56C5E889-43E5-47AF-80B6-EDDD4877F62D}"/>
              </a:ext>
            </a:extLst>
          </p:cNvPr>
          <p:cNvSpPr>
            <a:spLocks xmlns:a="http://schemas.openxmlformats.org/drawingml/2006/main" noGrp="1"/>
          </p:cNvSpPr>
          <p:nvPr/>
        </p:nvSpPr>
        <p:spPr>
          <a:xfrm xmlns:a="http://schemas.openxmlformats.org/drawingml/2006/main">
            <a:off x="10477500" y="67056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Server membatasi jumlah maksimal 20</a:t>
            </a:r>
          </a:p>
        </p:txBody>
      </p:sp>
      <p:sp>
        <p:nvSpPr>
          <p:cNvPr id="11" name="code-disclosure">
            <a:extLst xmlns:a="http://schemas.openxmlformats.org/drawingml/2006/main">
              <a:ext uri="{FF2B5EF4-FFF2-40B4-BE49-F238E27FC236}">
                <a16:creationId xmlns:a16="http://schemas.microsoft.com/office/drawing/2014/main" id="{05016E7B-BCD5-475C-ABE3-C0F7746A8587}"/>
              </a:ext>
            </a:extLst>
          </p:cNvPr>
          <p:cNvSpPr>
            <a:spLocks xmlns:a="http://schemas.openxmlformats.org/drawingml/2006/main" noGrp="1"/>
          </p:cNvSpPr>
          <p:nvPr/>
        </p:nvSpPr>
        <p:spPr>
          <a:xfrm xmlns:a="http://schemas.openxmlformats.org/drawingml/2006/main">
            <a:off x="762000" y="7534275"/>
            <a:ext cx="1295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Cuplikan dirapikan atau dipadatkan. Lokasi source tercantum di bawah.</a:t>
            </a:r>
          </a:p>
        </p:txBody>
      </p:sp>
      <p:sp>
        <p:nvSpPr>
          <p:cNvPr id="12" name="source-label">
            <a:extLst xmlns:a="http://schemas.openxmlformats.org/drawingml/2006/main">
              <a:ext uri="{FF2B5EF4-FFF2-40B4-BE49-F238E27FC236}">
                <a16:creationId xmlns:a16="http://schemas.microsoft.com/office/drawing/2014/main" id="{86BBE188-1348-45F3-ACBB-E00460529431}"/>
              </a:ext>
            </a:extLst>
          </p:cNvPr>
          <p:cNvSpPr>
            <a:spLocks xmlns:a="http://schemas.openxmlformats.org/drawingml/2006/main" noGrp="1"/>
          </p:cNvSpPr>
          <p:nvPr/>
        </p:nvSpPr>
        <p:spPr>
          <a:xfrm xmlns:a="http://schemas.openxmlformats.org/drawingml/2006/main">
            <a:off x="762000" y="7981950"/>
            <a:ext cx="1266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Source: includes/actions.php, action add</a:t>
            </a:r>
          </a:p>
        </p:txBody>
      </p:sp>
      <p:sp>
        <p:nvSpPr>
          <p:cNvPr id="13" name="page-number">
            <a:extLst xmlns:a="http://schemas.openxmlformats.org/drawingml/2006/main">
              <a:ext uri="{FF2B5EF4-FFF2-40B4-BE49-F238E27FC236}">
                <a16:creationId xmlns:a16="http://schemas.microsoft.com/office/drawing/2014/main" id="{B158032F-BC42-49DD-9136-E5207A114C9D}"/>
              </a:ext>
            </a:extLst>
          </p:cNvPr>
          <p:cNvSpPr>
            <a:spLocks xmlns:a="http://schemas.openxmlformats.org/drawingml/2006/main" noGrp="1"/>
          </p:cNvSpPr>
          <p:nvPr/>
        </p:nvSpPr>
        <p:spPr>
          <a:xfrm xmlns:a="http://schemas.openxmlformats.org/drawingml/2006/main">
            <a:off x="14097000" y="79819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888888"/>
                </a:solidFill>
                <a:latin typeface="DejaVu Sans"/>
                <a:ea typeface="DejaVu Sans"/>
                <a:cs typeface="DejaVu Sans"/>
              </a:defRPr>
            </a:defPPr>
          </a:lstStyle>
          <a:p xmlns:a="http://schemas.openxmlformats.org/drawingml/2006/main">
            <a:pPr>
              <a:defRPr sz="1350" b="0">
                <a:solidFill>
                  <a:srgbClr val="888888"/>
                </a:solidFill>
                <a:latin typeface="DejaVu Sans"/>
                <a:ea typeface="DejaVu Sans"/>
                <a:cs typeface="DejaVu Sans"/>
              </a:defRPr>
            </a:pPr>
            <a:r>
              <a:rPr sz="1350" b="0">
                <a:solidFill>
                  <a:srgbClr val="888888"/>
                </a:solidFill>
                <a:latin typeface="DejaVu Sans"/>
                <a:ea typeface="DejaVu Sans"/>
                <a:cs typeface="DejaVu Sans"/>
              </a:rPr>
              <a:t>12</a:t>
            </a:r>
          </a:p>
        </p:txBody>
      </p:sp>
    </p:spTree>
    <p:extLst>
      <p:ext uri="{BB962C8B-B14F-4D97-AF65-F5344CB8AC3E}">
        <p14:creationId xmlns:p14="http://schemas.microsoft.com/office/powerpoint/2010/main" val="403235068"/>
      </p:ext>
    </p:extLst>
  </p:cSld>
</p:sld>
</file>

<file path=ppt/slides/slide13.xml><?xml version="1.0" encoding="utf-8"?>
<p:sld xmlns:p="http://schemas.openxmlformats.org/presentationml/2006/main">
  <p:cSld>
    <p:bg>
      <p:bgPr>
        <a:solidFill xmlns:a="http://schemas.openxmlformats.org/drawingml/2006/main">
          <a:srgbClr val="101112"/>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EC4D8300-6FA4-4BDA-94B4-A53430031A84}"/>
              </a:ext>
            </a:extLst>
          </p:cNvPr>
          <p:cNvSpPr>
            <a:spLocks xmlns:a="http://schemas.openxmlformats.org/drawingml/2006/main" noGrp="1"/>
          </p:cNvSpPr>
          <p:nvPr/>
        </p:nvSpPr>
        <p:spPr>
          <a:xfrm xmlns:a="http://schemas.openxmlformats.org/drawingml/2006/main">
            <a:off x="762000" y="609600"/>
            <a:ext cx="1371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WHILE membaca keranjang</a:t>
            </a:r>
          </a:p>
        </p:txBody>
      </p:sp>
      <p:sp>
        <p:nvSpPr>
          <p:cNvPr id="2" name="code">
            <a:extLst xmlns:a="http://schemas.openxmlformats.org/drawingml/2006/main">
              <a:ext uri="{FF2B5EF4-FFF2-40B4-BE49-F238E27FC236}">
                <a16:creationId xmlns:a16="http://schemas.microsoft.com/office/drawing/2014/main" id="{061ECC69-6D99-4404-825A-E575E9D5F2EF}"/>
              </a:ext>
            </a:extLst>
          </p:cNvPr>
          <p:cNvSpPr>
            <a:spLocks xmlns:a="http://schemas.openxmlformats.org/drawingml/2006/main" noGrp="1"/>
          </p:cNvSpPr>
          <p:nvPr/>
        </p:nvSpPr>
        <p:spPr>
          <a:xfrm xmlns:a="http://schemas.openxmlformats.org/drawingml/2006/main">
            <a:off x="762000" y="1971675"/>
            <a:ext cx="9286875" cy="533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E3E8EF"/>
                </a:solidFill>
                <a:latin typeface="DejaVu Sans Mono"/>
                <a:ea typeface="DejaVu Sans Mono"/>
                <a:cs typeface="DejaVu Sans Mono"/>
              </a:defRPr>
            </a:defPPr>
          </a:lstStyle>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$keys = array_keys($cart);</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$i = 0;</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while ($i &lt; count($keys))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$key = $keys[$i];</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$entry = $cart[$key];</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 Isi asli: bentuk row dari katalog</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 dan hitung price * qty.</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$i++;</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a:t>
            </a:r>
          </a:p>
        </p:txBody>
      </p:sp>
      <p:sp>
        <p:nvSpPr>
          <p:cNvPr id="3" name="point-number-0">
            <a:extLst xmlns:a="http://schemas.openxmlformats.org/drawingml/2006/main">
              <a:ext uri="{FF2B5EF4-FFF2-40B4-BE49-F238E27FC236}">
                <a16:creationId xmlns:a16="http://schemas.microsoft.com/office/drawing/2014/main" id="{338D580E-1411-428B-866B-D53F371CD03E}"/>
              </a:ext>
            </a:extLst>
          </p:cNvPr>
          <p:cNvSpPr>
            <a:spLocks xmlns:a="http://schemas.openxmlformats.org/drawingml/2006/main" noGrp="1"/>
          </p:cNvSpPr>
          <p:nvPr/>
        </p:nvSpPr>
        <p:spPr>
          <a:xfrm xmlns:a="http://schemas.openxmlformats.org/drawingml/2006/main">
            <a:off x="10477500" y="20383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01</a:t>
            </a:r>
          </a:p>
        </p:txBody>
      </p:sp>
      <p:sp>
        <p:nvSpPr>
          <p:cNvPr id="4" name="point-0">
            <a:extLst xmlns:a="http://schemas.openxmlformats.org/drawingml/2006/main">
              <a:ext uri="{FF2B5EF4-FFF2-40B4-BE49-F238E27FC236}">
                <a16:creationId xmlns:a16="http://schemas.microsoft.com/office/drawing/2014/main" id="{C9EEB0AB-4A96-41FD-A2F0-FF740CBEDC68}"/>
              </a:ext>
            </a:extLst>
          </p:cNvPr>
          <p:cNvSpPr>
            <a:spLocks xmlns:a="http://schemas.openxmlformats.org/drawingml/2006/main" noGrp="1"/>
          </p:cNvSpPr>
          <p:nvPr/>
        </p:nvSpPr>
        <p:spPr>
          <a:xfrm xmlns:a="http://schemas.openxmlformats.org/drawingml/2006/main">
            <a:off x="10477500" y="24193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Kondisi dicek sebelum badan loop berjalan</a:t>
            </a:r>
          </a:p>
        </p:txBody>
      </p:sp>
      <p:sp>
        <p:nvSpPr>
          <p:cNvPr id="5" name="point-number-1">
            <a:extLst xmlns:a="http://schemas.openxmlformats.org/drawingml/2006/main">
              <a:ext uri="{FF2B5EF4-FFF2-40B4-BE49-F238E27FC236}">
                <a16:creationId xmlns:a16="http://schemas.microsoft.com/office/drawing/2014/main" id="{2757A5FA-C952-464E-9E36-B713625608CC}"/>
              </a:ext>
            </a:extLst>
          </p:cNvPr>
          <p:cNvSpPr>
            <a:spLocks xmlns:a="http://schemas.openxmlformats.org/drawingml/2006/main" noGrp="1"/>
          </p:cNvSpPr>
          <p:nvPr/>
        </p:nvSpPr>
        <p:spPr>
          <a:xfrm xmlns:a="http://schemas.openxmlformats.org/drawingml/2006/main">
            <a:off x="10477500" y="34671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02</a:t>
            </a:r>
          </a:p>
        </p:txBody>
      </p:sp>
      <p:sp>
        <p:nvSpPr>
          <p:cNvPr id="6" name="point-1">
            <a:extLst xmlns:a="http://schemas.openxmlformats.org/drawingml/2006/main">
              <a:ext uri="{FF2B5EF4-FFF2-40B4-BE49-F238E27FC236}">
                <a16:creationId xmlns:a16="http://schemas.microsoft.com/office/drawing/2014/main" id="{535D828F-B576-4FEB-9B18-06E109D23EA4}"/>
              </a:ext>
            </a:extLst>
          </p:cNvPr>
          <p:cNvSpPr>
            <a:spLocks xmlns:a="http://schemas.openxmlformats.org/drawingml/2006/main" noGrp="1"/>
          </p:cNvSpPr>
          <p:nvPr/>
        </p:nvSpPr>
        <p:spPr>
          <a:xfrm xmlns:a="http://schemas.openxmlformats.org/drawingml/2006/main">
            <a:off x="10477500" y="38481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array_keys menyediakan daftar varian</a:t>
            </a:r>
          </a:p>
        </p:txBody>
      </p:sp>
      <p:sp>
        <p:nvSpPr>
          <p:cNvPr id="7" name="point-number-2">
            <a:extLst xmlns:a="http://schemas.openxmlformats.org/drawingml/2006/main">
              <a:ext uri="{FF2B5EF4-FFF2-40B4-BE49-F238E27FC236}">
                <a16:creationId xmlns:a16="http://schemas.microsoft.com/office/drawing/2014/main" id="{1C92918F-C7D9-436E-934A-BECFFF314F57}"/>
              </a:ext>
            </a:extLst>
          </p:cNvPr>
          <p:cNvSpPr>
            <a:spLocks xmlns:a="http://schemas.openxmlformats.org/drawingml/2006/main" noGrp="1"/>
          </p:cNvSpPr>
          <p:nvPr/>
        </p:nvSpPr>
        <p:spPr>
          <a:xfrm xmlns:a="http://schemas.openxmlformats.org/drawingml/2006/main">
            <a:off x="10477500" y="48958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03</a:t>
            </a:r>
          </a:p>
        </p:txBody>
      </p:sp>
      <p:sp>
        <p:nvSpPr>
          <p:cNvPr id="8" name="point-2">
            <a:extLst xmlns:a="http://schemas.openxmlformats.org/drawingml/2006/main">
              <a:ext uri="{FF2B5EF4-FFF2-40B4-BE49-F238E27FC236}">
                <a16:creationId xmlns:a16="http://schemas.microsoft.com/office/drawing/2014/main" id="{C3DC3CA1-5250-4DCB-ACFE-FFBB96D5E302}"/>
              </a:ext>
            </a:extLst>
          </p:cNvPr>
          <p:cNvSpPr>
            <a:spLocks xmlns:a="http://schemas.openxmlformats.org/drawingml/2006/main" noGrp="1"/>
          </p:cNvSpPr>
          <p:nvPr/>
        </p:nvSpPr>
        <p:spPr>
          <a:xfrm xmlns:a="http://schemas.openxmlformats.org/drawingml/2006/main">
            <a:off x="10477500" y="52768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Counter i bertambah pada setiap iterasi</a:t>
            </a:r>
          </a:p>
        </p:txBody>
      </p:sp>
      <p:sp>
        <p:nvSpPr>
          <p:cNvPr id="9" name="point-number-3">
            <a:extLst xmlns:a="http://schemas.openxmlformats.org/drawingml/2006/main">
              <a:ext uri="{FF2B5EF4-FFF2-40B4-BE49-F238E27FC236}">
                <a16:creationId xmlns:a16="http://schemas.microsoft.com/office/drawing/2014/main" id="{85A61DF8-6617-40EE-B2F1-165B81884F7B}"/>
              </a:ext>
            </a:extLst>
          </p:cNvPr>
          <p:cNvSpPr>
            <a:spLocks xmlns:a="http://schemas.openxmlformats.org/drawingml/2006/main" noGrp="1"/>
          </p:cNvSpPr>
          <p:nvPr/>
        </p:nvSpPr>
        <p:spPr>
          <a:xfrm xmlns:a="http://schemas.openxmlformats.org/drawingml/2006/main">
            <a:off x="10477500" y="63246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04</a:t>
            </a:r>
          </a:p>
        </p:txBody>
      </p:sp>
      <p:sp>
        <p:nvSpPr>
          <p:cNvPr id="10" name="point-3">
            <a:extLst xmlns:a="http://schemas.openxmlformats.org/drawingml/2006/main">
              <a:ext uri="{FF2B5EF4-FFF2-40B4-BE49-F238E27FC236}">
                <a16:creationId xmlns:a16="http://schemas.microsoft.com/office/drawing/2014/main" id="{18980A4F-EACE-45C4-9A35-EA53E6A6F35D}"/>
              </a:ext>
            </a:extLst>
          </p:cNvPr>
          <p:cNvSpPr>
            <a:spLocks xmlns:a="http://schemas.openxmlformats.org/drawingml/2006/main" noGrp="1"/>
          </p:cNvSpPr>
          <p:nvPr/>
        </p:nvSpPr>
        <p:spPr>
          <a:xfrm xmlns:a="http://schemas.openxmlformats.org/drawingml/2006/main">
            <a:off x="10477500" y="67056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Keranjang kosong menghasilkan nol iterasi</a:t>
            </a:r>
          </a:p>
        </p:txBody>
      </p:sp>
      <p:sp>
        <p:nvSpPr>
          <p:cNvPr id="11" name="code-disclosure">
            <a:extLst xmlns:a="http://schemas.openxmlformats.org/drawingml/2006/main">
              <a:ext uri="{FF2B5EF4-FFF2-40B4-BE49-F238E27FC236}">
                <a16:creationId xmlns:a16="http://schemas.microsoft.com/office/drawing/2014/main" id="{3D537672-AA55-4B4E-A8EA-4623CB8358DE}"/>
              </a:ext>
            </a:extLst>
          </p:cNvPr>
          <p:cNvSpPr>
            <a:spLocks xmlns:a="http://schemas.openxmlformats.org/drawingml/2006/main" noGrp="1"/>
          </p:cNvSpPr>
          <p:nvPr/>
        </p:nvSpPr>
        <p:spPr>
          <a:xfrm xmlns:a="http://schemas.openxmlformats.org/drawingml/2006/main">
            <a:off x="762000" y="7534275"/>
            <a:ext cx="1295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Cuplikan dirapikan atau dipadatkan. Lokasi source tercantum di bawah.</a:t>
            </a:r>
          </a:p>
        </p:txBody>
      </p:sp>
      <p:sp>
        <p:nvSpPr>
          <p:cNvPr id="12" name="source-label">
            <a:extLst xmlns:a="http://schemas.openxmlformats.org/drawingml/2006/main">
              <a:ext uri="{FF2B5EF4-FFF2-40B4-BE49-F238E27FC236}">
                <a16:creationId xmlns:a16="http://schemas.microsoft.com/office/drawing/2014/main" id="{FC82F4B1-D834-4C33-B177-ABAE275ADDDC}"/>
              </a:ext>
            </a:extLst>
          </p:cNvPr>
          <p:cNvSpPr>
            <a:spLocks xmlns:a="http://schemas.openxmlformats.org/drawingml/2006/main" noGrp="1"/>
          </p:cNvSpPr>
          <p:nvPr/>
        </p:nvSpPr>
        <p:spPr>
          <a:xfrm xmlns:a="http://schemas.openxmlformats.org/drawingml/2006/main">
            <a:off x="762000" y="7981950"/>
            <a:ext cx="1266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Source: includes/bootstrap.php, cartRows()</a:t>
            </a:r>
          </a:p>
        </p:txBody>
      </p:sp>
      <p:sp>
        <p:nvSpPr>
          <p:cNvPr id="13" name="page-number">
            <a:extLst xmlns:a="http://schemas.openxmlformats.org/drawingml/2006/main">
              <a:ext uri="{FF2B5EF4-FFF2-40B4-BE49-F238E27FC236}">
                <a16:creationId xmlns:a16="http://schemas.microsoft.com/office/drawing/2014/main" id="{7C073035-4FC7-4155-942D-2E56F5C5AEDE}"/>
              </a:ext>
            </a:extLst>
          </p:cNvPr>
          <p:cNvSpPr>
            <a:spLocks xmlns:a="http://schemas.openxmlformats.org/drawingml/2006/main" noGrp="1"/>
          </p:cNvSpPr>
          <p:nvPr/>
        </p:nvSpPr>
        <p:spPr>
          <a:xfrm xmlns:a="http://schemas.openxmlformats.org/drawingml/2006/main">
            <a:off x="14097000" y="79819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888888"/>
                </a:solidFill>
                <a:latin typeface="DejaVu Sans"/>
                <a:ea typeface="DejaVu Sans"/>
                <a:cs typeface="DejaVu Sans"/>
              </a:defRPr>
            </a:defPPr>
          </a:lstStyle>
          <a:p xmlns:a="http://schemas.openxmlformats.org/drawingml/2006/main">
            <a:pPr>
              <a:defRPr sz="1350" b="0">
                <a:solidFill>
                  <a:srgbClr val="888888"/>
                </a:solidFill>
                <a:latin typeface="DejaVu Sans"/>
                <a:ea typeface="DejaVu Sans"/>
                <a:cs typeface="DejaVu Sans"/>
              </a:defRPr>
            </a:pPr>
            <a:r>
              <a:rPr sz="1350" b="0">
                <a:solidFill>
                  <a:srgbClr val="888888"/>
                </a:solidFill>
                <a:latin typeface="DejaVu Sans"/>
                <a:ea typeface="DejaVu Sans"/>
                <a:cs typeface="DejaVu Sans"/>
              </a:rPr>
              <a:t>13</a:t>
            </a:r>
          </a:p>
        </p:txBody>
      </p:sp>
    </p:spTree>
    <p:extLst>
      <p:ext uri="{BB962C8B-B14F-4D97-AF65-F5344CB8AC3E}">
        <p14:creationId xmlns:p14="http://schemas.microsoft.com/office/powerpoint/2010/main" val="422118006"/>
      </p:ext>
    </p:extLst>
  </p:cSld>
</p:sld>
</file>

<file path=ppt/slides/slide14.xml><?xml version="1.0" encoding="utf-8"?>
<p:sld xmlns:p="http://schemas.openxmlformats.org/presentationml/2006/main">
  <p:cSld>
    <p:bg>
      <p:bgPr>
        <a:solidFill xmlns:a="http://schemas.openxmlformats.org/drawingml/2006/main">
          <a:srgbClr val="101112"/>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33128D14-8C45-468C-B22D-FDFE1584EFE1}"/>
              </a:ext>
            </a:extLst>
          </p:cNvPr>
          <p:cNvSpPr>
            <a:spLocks xmlns:a="http://schemas.openxmlformats.org/drawingml/2006/main" noGrp="1"/>
          </p:cNvSpPr>
          <p:nvPr/>
        </p:nvSpPr>
        <p:spPr>
          <a:xfrm xmlns:a="http://schemas.openxmlformats.org/drawingml/2006/main">
            <a:off x="762000" y="609600"/>
            <a:ext cx="1371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FOR menghitung subtotal dan diskon</a:t>
            </a:r>
          </a:p>
        </p:txBody>
      </p:sp>
      <p:sp>
        <p:nvSpPr>
          <p:cNvPr id="2" name="code">
            <a:extLst xmlns:a="http://schemas.openxmlformats.org/drawingml/2006/main">
              <a:ext uri="{FF2B5EF4-FFF2-40B4-BE49-F238E27FC236}">
                <a16:creationId xmlns:a16="http://schemas.microsoft.com/office/drawing/2014/main" id="{F1249E21-4DF8-4E24-8EC9-D510F71FF35F}"/>
              </a:ext>
            </a:extLst>
          </p:cNvPr>
          <p:cNvSpPr>
            <a:spLocks xmlns:a="http://schemas.openxmlformats.org/drawingml/2006/main" noGrp="1"/>
          </p:cNvSpPr>
          <p:nvPr/>
        </p:nvSpPr>
        <p:spPr>
          <a:xfrm xmlns:a="http://schemas.openxmlformats.org/drawingml/2006/main">
            <a:off x="762000" y="1971675"/>
            <a:ext cx="9286875" cy="533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E3E8EF"/>
                </a:solidFill>
                <a:latin typeface="DejaVu Sans Mono"/>
                <a:ea typeface="DejaVu Sans Mono"/>
                <a:cs typeface="DejaVu Sans Mono"/>
              </a:defRPr>
            </a:defPPr>
          </a:lstStyle>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$subtotal = 0;</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for ($i = 0; $i &lt; count($rows); $i++)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$subtotal += $rows[$i]['subtotal'];</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$discount = $subtotal &gt;= DISCOUNT_THRESHOLD</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 (int)round($subtotal * DISCOUNT_RATE)</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 0;</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return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'subtotal' =&gt; $subtotal,</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'discount' =&gt; $discount,</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'total' =&gt; $subtotal - $discount</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a:t>
            </a:r>
          </a:p>
        </p:txBody>
      </p:sp>
      <p:sp>
        <p:nvSpPr>
          <p:cNvPr id="3" name="point-number-0">
            <a:extLst xmlns:a="http://schemas.openxmlformats.org/drawingml/2006/main">
              <a:ext uri="{FF2B5EF4-FFF2-40B4-BE49-F238E27FC236}">
                <a16:creationId xmlns:a16="http://schemas.microsoft.com/office/drawing/2014/main" id="{9BBA3EE0-A375-430B-BD6B-30625ADE7345}"/>
              </a:ext>
            </a:extLst>
          </p:cNvPr>
          <p:cNvSpPr>
            <a:spLocks xmlns:a="http://schemas.openxmlformats.org/drawingml/2006/main" noGrp="1"/>
          </p:cNvSpPr>
          <p:nvPr/>
        </p:nvSpPr>
        <p:spPr>
          <a:xfrm xmlns:a="http://schemas.openxmlformats.org/drawingml/2006/main">
            <a:off x="10477500" y="20383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01</a:t>
            </a:r>
          </a:p>
        </p:txBody>
      </p:sp>
      <p:sp>
        <p:nvSpPr>
          <p:cNvPr id="4" name="point-0">
            <a:extLst xmlns:a="http://schemas.openxmlformats.org/drawingml/2006/main">
              <a:ext uri="{FF2B5EF4-FFF2-40B4-BE49-F238E27FC236}">
                <a16:creationId xmlns:a16="http://schemas.microsoft.com/office/drawing/2014/main" id="{B0371A1A-B305-4517-B2C8-AC3C8FBF4D71}"/>
              </a:ext>
            </a:extLst>
          </p:cNvPr>
          <p:cNvSpPr>
            <a:spLocks xmlns:a="http://schemas.openxmlformats.org/drawingml/2006/main" noGrp="1"/>
          </p:cNvSpPr>
          <p:nvPr/>
        </p:nvSpPr>
        <p:spPr>
          <a:xfrm xmlns:a="http://schemas.openxmlformats.org/drawingml/2006/main">
            <a:off x="10477500" y="24193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subtotal dimulai dari nol</a:t>
            </a:r>
          </a:p>
        </p:txBody>
      </p:sp>
      <p:sp>
        <p:nvSpPr>
          <p:cNvPr id="5" name="point-number-1">
            <a:extLst xmlns:a="http://schemas.openxmlformats.org/drawingml/2006/main">
              <a:ext uri="{FF2B5EF4-FFF2-40B4-BE49-F238E27FC236}">
                <a16:creationId xmlns:a16="http://schemas.microsoft.com/office/drawing/2014/main" id="{59711F20-91C3-4D63-B2A1-A9332DC18A2D}"/>
              </a:ext>
            </a:extLst>
          </p:cNvPr>
          <p:cNvSpPr>
            <a:spLocks xmlns:a="http://schemas.openxmlformats.org/drawingml/2006/main" noGrp="1"/>
          </p:cNvSpPr>
          <p:nvPr/>
        </p:nvSpPr>
        <p:spPr>
          <a:xfrm xmlns:a="http://schemas.openxmlformats.org/drawingml/2006/main">
            <a:off x="10477500" y="34671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02</a:t>
            </a:r>
          </a:p>
        </p:txBody>
      </p:sp>
      <p:sp>
        <p:nvSpPr>
          <p:cNvPr id="6" name="point-1">
            <a:extLst xmlns:a="http://schemas.openxmlformats.org/drawingml/2006/main">
              <a:ext uri="{FF2B5EF4-FFF2-40B4-BE49-F238E27FC236}">
                <a16:creationId xmlns:a16="http://schemas.microsoft.com/office/drawing/2014/main" id="{68C46127-37AB-40EB-BFCE-D91EB306B11E}"/>
              </a:ext>
            </a:extLst>
          </p:cNvPr>
          <p:cNvSpPr>
            <a:spLocks xmlns:a="http://schemas.openxmlformats.org/drawingml/2006/main" noGrp="1"/>
          </p:cNvSpPr>
          <p:nvPr/>
        </p:nvSpPr>
        <p:spPr>
          <a:xfrm xmlns:a="http://schemas.openxmlformats.org/drawingml/2006/main">
            <a:off x="10477500" y="38481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 menambah setiap subtotal baris</a:t>
            </a:r>
          </a:p>
        </p:txBody>
      </p:sp>
      <p:sp>
        <p:nvSpPr>
          <p:cNvPr id="7" name="point-number-2">
            <a:extLst xmlns:a="http://schemas.openxmlformats.org/drawingml/2006/main">
              <a:ext uri="{FF2B5EF4-FFF2-40B4-BE49-F238E27FC236}">
                <a16:creationId xmlns:a16="http://schemas.microsoft.com/office/drawing/2014/main" id="{EE3F7640-1557-43FE-B0AD-1A9AD0781FA0}"/>
              </a:ext>
            </a:extLst>
          </p:cNvPr>
          <p:cNvSpPr>
            <a:spLocks xmlns:a="http://schemas.openxmlformats.org/drawingml/2006/main" noGrp="1"/>
          </p:cNvSpPr>
          <p:nvPr/>
        </p:nvSpPr>
        <p:spPr>
          <a:xfrm xmlns:a="http://schemas.openxmlformats.org/drawingml/2006/main">
            <a:off x="10477500" y="48958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03</a:t>
            </a:r>
          </a:p>
        </p:txBody>
      </p:sp>
      <p:sp>
        <p:nvSpPr>
          <p:cNvPr id="8" name="point-2">
            <a:extLst xmlns:a="http://schemas.openxmlformats.org/drawingml/2006/main">
              <a:ext uri="{FF2B5EF4-FFF2-40B4-BE49-F238E27FC236}">
                <a16:creationId xmlns:a16="http://schemas.microsoft.com/office/drawing/2014/main" id="{A99A59F4-A3DB-4917-94D9-E33FA69BFB3B}"/>
              </a:ext>
            </a:extLst>
          </p:cNvPr>
          <p:cNvSpPr>
            <a:spLocks xmlns:a="http://schemas.openxmlformats.org/drawingml/2006/main" noGrp="1"/>
          </p:cNvSpPr>
          <p:nvPr/>
        </p:nvSpPr>
        <p:spPr>
          <a:xfrm xmlns:a="http://schemas.openxmlformats.org/drawingml/2006/main">
            <a:off x="10477500" y="52768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&gt;= menguji syarat diskon</a:t>
            </a:r>
          </a:p>
        </p:txBody>
      </p:sp>
      <p:sp>
        <p:nvSpPr>
          <p:cNvPr id="9" name="point-number-3">
            <a:extLst xmlns:a="http://schemas.openxmlformats.org/drawingml/2006/main">
              <a:ext uri="{FF2B5EF4-FFF2-40B4-BE49-F238E27FC236}">
                <a16:creationId xmlns:a16="http://schemas.microsoft.com/office/drawing/2014/main" id="{524A65CA-5490-4495-9A67-01F7CA04BE2B}"/>
              </a:ext>
            </a:extLst>
          </p:cNvPr>
          <p:cNvSpPr>
            <a:spLocks xmlns:a="http://schemas.openxmlformats.org/drawingml/2006/main" noGrp="1"/>
          </p:cNvSpPr>
          <p:nvPr/>
        </p:nvSpPr>
        <p:spPr>
          <a:xfrm xmlns:a="http://schemas.openxmlformats.org/drawingml/2006/main">
            <a:off x="10477500" y="63246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04</a:t>
            </a:r>
          </a:p>
        </p:txBody>
      </p:sp>
      <p:sp>
        <p:nvSpPr>
          <p:cNvPr id="10" name="point-3">
            <a:extLst xmlns:a="http://schemas.openxmlformats.org/drawingml/2006/main">
              <a:ext uri="{FF2B5EF4-FFF2-40B4-BE49-F238E27FC236}">
                <a16:creationId xmlns:a16="http://schemas.microsoft.com/office/drawing/2014/main" id="{0E1CBA63-AF38-448A-A628-30DD05378B0E}"/>
              </a:ext>
            </a:extLst>
          </p:cNvPr>
          <p:cNvSpPr>
            <a:spLocks xmlns:a="http://schemas.openxmlformats.org/drawingml/2006/main" noGrp="1"/>
          </p:cNvSpPr>
          <p:nvPr/>
        </p:nvSpPr>
        <p:spPr>
          <a:xfrm xmlns:a="http://schemas.openxmlformats.org/drawingml/2006/main">
            <a:off x="10477500" y="67056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Total akhir adalah subtotal dikurangi diskon</a:t>
            </a:r>
          </a:p>
        </p:txBody>
      </p:sp>
      <p:sp>
        <p:nvSpPr>
          <p:cNvPr id="11" name="code-disclosure">
            <a:extLst xmlns:a="http://schemas.openxmlformats.org/drawingml/2006/main">
              <a:ext uri="{FF2B5EF4-FFF2-40B4-BE49-F238E27FC236}">
                <a16:creationId xmlns:a16="http://schemas.microsoft.com/office/drawing/2014/main" id="{FA58868F-B64A-460B-95BF-830ACDF11D08}"/>
              </a:ext>
            </a:extLst>
          </p:cNvPr>
          <p:cNvSpPr>
            <a:spLocks xmlns:a="http://schemas.openxmlformats.org/drawingml/2006/main" noGrp="1"/>
          </p:cNvSpPr>
          <p:nvPr/>
        </p:nvSpPr>
        <p:spPr>
          <a:xfrm xmlns:a="http://schemas.openxmlformats.org/drawingml/2006/main">
            <a:off x="762000" y="7534275"/>
            <a:ext cx="1295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Cuplikan dirapikan atau dipadatkan. Lokasi source tercantum di bawah.</a:t>
            </a:r>
          </a:p>
        </p:txBody>
      </p:sp>
      <p:sp>
        <p:nvSpPr>
          <p:cNvPr id="12" name="source-label">
            <a:extLst xmlns:a="http://schemas.openxmlformats.org/drawingml/2006/main">
              <a:ext uri="{FF2B5EF4-FFF2-40B4-BE49-F238E27FC236}">
                <a16:creationId xmlns:a16="http://schemas.microsoft.com/office/drawing/2014/main" id="{549CD3BC-DEC5-4A6D-8752-17798E530445}"/>
              </a:ext>
            </a:extLst>
          </p:cNvPr>
          <p:cNvSpPr>
            <a:spLocks xmlns:a="http://schemas.openxmlformats.org/drawingml/2006/main" noGrp="1"/>
          </p:cNvSpPr>
          <p:nvPr/>
        </p:nvSpPr>
        <p:spPr>
          <a:xfrm xmlns:a="http://schemas.openxmlformats.org/drawingml/2006/main">
            <a:off x="762000" y="7981950"/>
            <a:ext cx="1266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Source: includes/bootstrap.php, totals()</a:t>
            </a:r>
          </a:p>
        </p:txBody>
      </p:sp>
      <p:sp>
        <p:nvSpPr>
          <p:cNvPr id="13" name="page-number">
            <a:extLst xmlns:a="http://schemas.openxmlformats.org/drawingml/2006/main">
              <a:ext uri="{FF2B5EF4-FFF2-40B4-BE49-F238E27FC236}">
                <a16:creationId xmlns:a16="http://schemas.microsoft.com/office/drawing/2014/main" id="{4D26E964-757E-4982-9924-71EDEEEE238B}"/>
              </a:ext>
            </a:extLst>
          </p:cNvPr>
          <p:cNvSpPr>
            <a:spLocks xmlns:a="http://schemas.openxmlformats.org/drawingml/2006/main" noGrp="1"/>
          </p:cNvSpPr>
          <p:nvPr/>
        </p:nvSpPr>
        <p:spPr>
          <a:xfrm xmlns:a="http://schemas.openxmlformats.org/drawingml/2006/main">
            <a:off x="14097000" y="79819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888888"/>
                </a:solidFill>
                <a:latin typeface="DejaVu Sans"/>
                <a:ea typeface="DejaVu Sans"/>
                <a:cs typeface="DejaVu Sans"/>
              </a:defRPr>
            </a:defPPr>
          </a:lstStyle>
          <a:p xmlns:a="http://schemas.openxmlformats.org/drawingml/2006/main">
            <a:pPr>
              <a:defRPr sz="1350" b="0">
                <a:solidFill>
                  <a:srgbClr val="888888"/>
                </a:solidFill>
                <a:latin typeface="DejaVu Sans"/>
                <a:ea typeface="DejaVu Sans"/>
                <a:cs typeface="DejaVu Sans"/>
              </a:defRPr>
            </a:pPr>
            <a:r>
              <a:rPr sz="1350" b="0">
                <a:solidFill>
                  <a:srgbClr val="888888"/>
                </a:solidFill>
                <a:latin typeface="DejaVu Sans"/>
                <a:ea typeface="DejaVu Sans"/>
                <a:cs typeface="DejaVu Sans"/>
              </a:rPr>
              <a:t>14</a:t>
            </a:r>
          </a:p>
        </p:txBody>
      </p:sp>
    </p:spTree>
    <p:extLst>
      <p:ext uri="{BB962C8B-B14F-4D97-AF65-F5344CB8AC3E}">
        <p14:creationId xmlns:p14="http://schemas.microsoft.com/office/powerpoint/2010/main" val="112336883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F221DBAE-5A89-41DA-BDED-08581F921953}"/>
              </a:ext>
            </a:extLst>
          </p:cNvPr>
          <p:cNvSpPr>
            <a:spLocks xmlns:a="http://schemas.openxmlformats.org/drawingml/2006/main" noGrp="1"/>
          </p:cNvSpPr>
          <p:nvPr/>
        </p:nvSpPr>
        <p:spPr>
          <a:xfrm xmlns:a="http://schemas.openxmlformats.org/drawingml/2006/main">
            <a:off x="762000" y="609600"/>
            <a:ext cx="1371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111111"/>
                </a:solidFill>
                <a:latin typeface="DejaVu Sans"/>
                <a:ea typeface="DejaVu Sans"/>
                <a:cs typeface="DejaVu Sans"/>
              </a:defRPr>
            </a:defPPr>
          </a:lstStyle>
          <a:p xmlns:a="http://schemas.openxmlformats.org/drawingml/2006/main">
            <a:pPr>
              <a:defRPr sz="3600" b="1">
                <a:solidFill>
                  <a:srgbClr val="111111"/>
                </a:solidFill>
                <a:latin typeface="DejaVu Sans"/>
                <a:ea typeface="DejaVu Sans"/>
                <a:cs typeface="DejaVu Sans"/>
              </a:defRPr>
            </a:pPr>
            <a:r>
              <a:rPr sz="3600" b="1">
                <a:solidFill>
                  <a:srgbClr val="111111"/>
                </a:solidFill>
                <a:latin typeface="DejaVu Sans"/>
                <a:ea typeface="DejaVu Sans"/>
                <a:cs typeface="DejaVu Sans"/>
              </a:rPr>
              <a:t>Contoh perhitungan belanja</a:t>
            </a:r>
          </a:p>
        </p:txBody>
      </p:sp>
      <p:sp>
        <p:nvSpPr>
          <p:cNvPr id="2" name="expression">
            <a:extLst xmlns:a="http://schemas.openxmlformats.org/drawingml/2006/main">
              <a:ext uri="{FF2B5EF4-FFF2-40B4-BE49-F238E27FC236}">
                <a16:creationId xmlns:a16="http://schemas.microsoft.com/office/drawing/2014/main" id="{307C074B-D4CE-4422-A076-DC06E40AABC1}"/>
              </a:ext>
            </a:extLst>
          </p:cNvPr>
          <p:cNvSpPr>
            <a:spLocks xmlns:a="http://schemas.openxmlformats.org/drawingml/2006/main" noGrp="1"/>
          </p:cNvSpPr>
          <p:nvPr/>
        </p:nvSpPr>
        <p:spPr>
          <a:xfrm xmlns:a="http://schemas.openxmlformats.org/drawingml/2006/main">
            <a:off x="762000" y="209550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5250" b="1">
                <a:solidFill>
                  <a:srgbClr val="111111"/>
                </a:solidFill>
                <a:latin typeface="DejaVu Sans"/>
                <a:ea typeface="DejaVu Sans"/>
                <a:cs typeface="DejaVu Sans"/>
              </a:defRPr>
            </a:defPPr>
          </a:lstStyle>
          <a:p xmlns:a="http://schemas.openxmlformats.org/drawingml/2006/main">
            <a:pPr>
              <a:defRPr sz="5250" b="1">
                <a:solidFill>
                  <a:srgbClr val="111111"/>
                </a:solidFill>
                <a:latin typeface="DejaVu Sans"/>
                <a:ea typeface="DejaVu Sans"/>
                <a:cs typeface="DejaVu Sans"/>
              </a:defRPr>
            </a:pPr>
            <a:r>
              <a:rPr sz="5250" b="1">
                <a:solidFill>
                  <a:srgbClr val="111111"/>
                </a:solidFill>
                <a:latin typeface="DejaVu Sans"/>
                <a:ea typeface="DejaVu Sans"/>
                <a:cs typeface="DejaVu Sans"/>
              </a:rPr>
              <a:t>3 × Rp 300.000</a:t>
            </a:r>
          </a:p>
        </p:txBody>
      </p:sp>
      <p:sp>
        <p:nvSpPr>
          <p:cNvPr id="3" name="subtotal">
            <a:extLst xmlns:a="http://schemas.openxmlformats.org/drawingml/2006/main">
              <a:ext uri="{FF2B5EF4-FFF2-40B4-BE49-F238E27FC236}">
                <a16:creationId xmlns:a16="http://schemas.microsoft.com/office/drawing/2014/main" id="{D87C6535-F2E0-4CF1-8867-6B0B2B904664}"/>
              </a:ext>
            </a:extLst>
          </p:cNvPr>
          <p:cNvSpPr>
            <a:spLocks xmlns:a="http://schemas.openxmlformats.org/drawingml/2006/main" noGrp="1"/>
          </p:cNvSpPr>
          <p:nvPr/>
        </p:nvSpPr>
        <p:spPr>
          <a:xfrm xmlns:a="http://schemas.openxmlformats.org/drawingml/2006/main">
            <a:off x="762000" y="3981450"/>
            <a:ext cx="433387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225" b="0">
                <a:solidFill>
                  <a:srgbClr val="111111"/>
                </a:solidFill>
                <a:latin typeface="DejaVu Sans"/>
                <a:ea typeface="DejaVu Sans"/>
                <a:cs typeface="DejaVu Sans"/>
              </a:defRPr>
            </a:defPPr>
          </a:lstStyle>
          <a:p xmlns:a="http://schemas.openxmlformats.org/drawingml/2006/main">
            <a:pPr>
              <a:defRPr sz="3225" b="0">
                <a:solidFill>
                  <a:srgbClr val="111111"/>
                </a:solidFill>
                <a:latin typeface="DejaVu Sans"/>
                <a:ea typeface="DejaVu Sans"/>
                <a:cs typeface="DejaVu Sans"/>
              </a:defRPr>
            </a:pPr>
            <a:r>
              <a:rPr sz="3225" b="0">
                <a:solidFill>
                  <a:srgbClr val="111111"/>
                </a:solidFill>
                <a:latin typeface="DejaVu Sans"/>
                <a:ea typeface="DejaVu Sans"/>
                <a:cs typeface="DejaVu Sans"/>
              </a:rPr>
              <a:t>Subtotal</a:t>
            </a:r>
          </a:p>
          <a:p xmlns:a="http://schemas.openxmlformats.org/drawingml/2006/main">
            <a:pPr>
              <a:defRPr sz="3225" b="0">
                <a:solidFill>
                  <a:srgbClr val="111111"/>
                </a:solidFill>
                <a:latin typeface="DejaVu Sans"/>
                <a:ea typeface="DejaVu Sans"/>
                <a:cs typeface="DejaVu Sans"/>
              </a:defRPr>
            </a:pPr>
            <a:r>
              <a:rPr sz="3225" b="0">
                <a:solidFill>
                  <a:srgbClr val="111111"/>
                </a:solidFill>
                <a:latin typeface="DejaVu Sans"/>
                <a:ea typeface="DejaVu Sans"/>
                <a:cs typeface="DejaVu Sans"/>
              </a:rPr>
              <a:t>Rp 900.000</a:t>
            </a:r>
          </a:p>
        </p:txBody>
      </p:sp>
      <p:sp>
        <p:nvSpPr>
          <p:cNvPr id="4" name="discount">
            <a:extLst xmlns:a="http://schemas.openxmlformats.org/drawingml/2006/main">
              <a:ext uri="{FF2B5EF4-FFF2-40B4-BE49-F238E27FC236}">
                <a16:creationId xmlns:a16="http://schemas.microsoft.com/office/drawing/2014/main" id="{BE1CEF06-7295-48DA-BEEB-E9B556EC8BEC}"/>
              </a:ext>
            </a:extLst>
          </p:cNvPr>
          <p:cNvSpPr>
            <a:spLocks xmlns:a="http://schemas.openxmlformats.org/drawingml/2006/main" noGrp="1"/>
          </p:cNvSpPr>
          <p:nvPr/>
        </p:nvSpPr>
        <p:spPr>
          <a:xfrm xmlns:a="http://schemas.openxmlformats.org/drawingml/2006/main">
            <a:off x="5762625" y="3981450"/>
            <a:ext cx="4286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225" b="0">
                <a:solidFill>
                  <a:srgbClr val="111111"/>
                </a:solidFill>
                <a:latin typeface="DejaVu Sans"/>
                <a:ea typeface="DejaVu Sans"/>
                <a:cs typeface="DejaVu Sans"/>
              </a:defRPr>
            </a:defPPr>
          </a:lstStyle>
          <a:p xmlns:a="http://schemas.openxmlformats.org/drawingml/2006/main">
            <a:pPr>
              <a:defRPr sz="3225" b="0">
                <a:solidFill>
                  <a:srgbClr val="111111"/>
                </a:solidFill>
                <a:latin typeface="DejaVu Sans"/>
                <a:ea typeface="DejaVu Sans"/>
                <a:cs typeface="DejaVu Sans"/>
              </a:defRPr>
            </a:pPr>
            <a:r>
              <a:rPr sz="3225" b="0">
                <a:solidFill>
                  <a:srgbClr val="111111"/>
                </a:solidFill>
                <a:latin typeface="DejaVu Sans"/>
                <a:ea typeface="DejaVu Sans"/>
                <a:cs typeface="DejaVu Sans"/>
              </a:rPr>
              <a:t>Diskon 10%</a:t>
            </a:r>
          </a:p>
          <a:p xmlns:a="http://schemas.openxmlformats.org/drawingml/2006/main">
            <a:pPr>
              <a:defRPr sz="3225" b="0">
                <a:solidFill>
                  <a:srgbClr val="111111"/>
                </a:solidFill>
                <a:latin typeface="DejaVu Sans"/>
                <a:ea typeface="DejaVu Sans"/>
                <a:cs typeface="DejaVu Sans"/>
              </a:defRPr>
            </a:pPr>
            <a:r>
              <a:rPr sz="3225" b="0">
                <a:solidFill>
                  <a:srgbClr val="111111"/>
                </a:solidFill>
                <a:latin typeface="DejaVu Sans"/>
                <a:ea typeface="DejaVu Sans"/>
                <a:cs typeface="DejaVu Sans"/>
              </a:rPr>
              <a:t>Rp 90.000</a:t>
            </a:r>
          </a:p>
        </p:txBody>
      </p:sp>
      <p:sp>
        <p:nvSpPr>
          <p:cNvPr id="5" name="total">
            <a:extLst xmlns:a="http://schemas.openxmlformats.org/drawingml/2006/main">
              <a:ext uri="{FF2B5EF4-FFF2-40B4-BE49-F238E27FC236}">
                <a16:creationId xmlns:a16="http://schemas.microsoft.com/office/drawing/2014/main" id="{29DDB118-FEF4-4E27-970A-C8D0E243963D}"/>
              </a:ext>
            </a:extLst>
          </p:cNvPr>
          <p:cNvSpPr>
            <a:spLocks xmlns:a="http://schemas.openxmlformats.org/drawingml/2006/main" noGrp="1"/>
          </p:cNvSpPr>
          <p:nvPr/>
        </p:nvSpPr>
        <p:spPr>
          <a:xfrm xmlns:a="http://schemas.openxmlformats.org/drawingml/2006/main">
            <a:off x="10668000" y="3981450"/>
            <a:ext cx="3810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225" b="1">
                <a:solidFill>
                  <a:srgbClr val="D82929"/>
                </a:solidFill>
                <a:latin typeface="DejaVu Sans"/>
                <a:ea typeface="DejaVu Sans"/>
                <a:cs typeface="DejaVu Sans"/>
              </a:defRPr>
            </a:defPPr>
          </a:lstStyle>
          <a:p xmlns:a="http://schemas.openxmlformats.org/drawingml/2006/main">
            <a:pPr>
              <a:defRPr sz="3225" b="1">
                <a:solidFill>
                  <a:srgbClr val="D82929"/>
                </a:solidFill>
                <a:latin typeface="DejaVu Sans"/>
                <a:ea typeface="DejaVu Sans"/>
                <a:cs typeface="DejaVu Sans"/>
              </a:defRPr>
            </a:pPr>
            <a:r>
              <a:rPr sz="3225" b="1">
                <a:solidFill>
                  <a:srgbClr val="D82929"/>
                </a:solidFill>
                <a:latin typeface="DejaVu Sans"/>
                <a:ea typeface="DejaVu Sans"/>
                <a:cs typeface="DejaVu Sans"/>
              </a:rPr>
              <a:t>Total</a:t>
            </a:r>
          </a:p>
          <a:p xmlns:a="http://schemas.openxmlformats.org/drawingml/2006/main">
            <a:pPr>
              <a:defRPr sz="3225" b="1">
                <a:solidFill>
                  <a:srgbClr val="D82929"/>
                </a:solidFill>
                <a:latin typeface="DejaVu Sans"/>
                <a:ea typeface="DejaVu Sans"/>
                <a:cs typeface="DejaVu Sans"/>
              </a:defRPr>
            </a:pPr>
            <a:r>
              <a:rPr sz="3225" b="1">
                <a:solidFill>
                  <a:srgbClr val="D82929"/>
                </a:solidFill>
                <a:latin typeface="DejaVu Sans"/>
                <a:ea typeface="DejaVu Sans"/>
                <a:cs typeface="DejaVu Sans"/>
              </a:rPr>
              <a:t>Rp 810.000</a:t>
            </a:r>
          </a:p>
        </p:txBody>
      </p:sp>
      <p:sp>
        <p:nvSpPr>
          <p:cNvPr id="6" name="threshold">
            <a:extLst xmlns:a="http://schemas.openxmlformats.org/drawingml/2006/main">
              <a:ext uri="{FF2B5EF4-FFF2-40B4-BE49-F238E27FC236}">
                <a16:creationId xmlns:a16="http://schemas.microsoft.com/office/drawing/2014/main" id="{608B0362-650B-4826-9CF1-1BC960F205FF}"/>
              </a:ext>
            </a:extLst>
          </p:cNvPr>
          <p:cNvSpPr>
            <a:spLocks xmlns:a="http://schemas.openxmlformats.org/drawingml/2006/main" noGrp="1"/>
          </p:cNvSpPr>
          <p:nvPr/>
        </p:nvSpPr>
        <p:spPr>
          <a:xfrm xmlns:a="http://schemas.openxmlformats.org/drawingml/2006/main">
            <a:off x="762000" y="6648450"/>
            <a:ext cx="1314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00" b="0">
                <a:solidFill>
                  <a:srgbClr val="62656A"/>
                </a:solidFill>
                <a:latin typeface="DejaVu Sans"/>
                <a:ea typeface="DejaVu Sans"/>
                <a:cs typeface="DejaVu Sans"/>
              </a:defRPr>
            </a:defPPr>
          </a:lstStyle>
          <a:p xmlns:a="http://schemas.openxmlformats.org/drawingml/2006/main">
            <a:pPr>
              <a:defRPr sz="2100" b="0">
                <a:solidFill>
                  <a:srgbClr val="62656A"/>
                </a:solidFill>
                <a:latin typeface="DejaVu Sans"/>
                <a:ea typeface="DejaVu Sans"/>
                <a:cs typeface="DejaVu Sans"/>
              </a:defRPr>
            </a:pPr>
            <a:r>
              <a:rPr sz="2100" b="0">
                <a:solidFill>
                  <a:srgbClr val="62656A"/>
                </a:solidFill>
                <a:latin typeface="DejaVu Sans"/>
                <a:ea typeface="DejaVu Sans"/>
                <a:cs typeface="DejaVu Sans"/>
              </a:rPr>
              <a:t>Syarat diskon: subtotal ≥ Rp 900.000. Pengiriman simulasi gratis.</a:t>
            </a:r>
          </a:p>
        </p:txBody>
      </p:sp>
      <p:sp>
        <p:nvSpPr>
          <p:cNvPr id="7" name="source-label">
            <a:extLst xmlns:a="http://schemas.openxmlformats.org/drawingml/2006/main">
              <a:ext uri="{FF2B5EF4-FFF2-40B4-BE49-F238E27FC236}">
                <a16:creationId xmlns:a16="http://schemas.microsoft.com/office/drawing/2014/main" id="{B5F55669-A7D0-40DA-AA64-C17B824A53B8}"/>
              </a:ext>
            </a:extLst>
          </p:cNvPr>
          <p:cNvSpPr>
            <a:spLocks xmlns:a="http://schemas.openxmlformats.org/drawingml/2006/main" noGrp="1"/>
          </p:cNvSpPr>
          <p:nvPr/>
        </p:nvSpPr>
        <p:spPr>
          <a:xfrm xmlns:a="http://schemas.openxmlformats.org/drawingml/2006/main">
            <a:off x="762000" y="7981950"/>
            <a:ext cx="1266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62656A"/>
                </a:solidFill>
                <a:latin typeface="DejaVu Sans"/>
                <a:ea typeface="DejaVu Sans"/>
                <a:cs typeface="DejaVu Sans"/>
              </a:defRPr>
            </a:defPPr>
          </a:lstStyle>
          <a:p xmlns:a="http://schemas.openxmlformats.org/drawingml/2006/main">
            <a:pPr>
              <a:defRPr sz="1275" b="0">
                <a:solidFill>
                  <a:srgbClr val="62656A"/>
                </a:solidFill>
                <a:latin typeface="DejaVu Sans"/>
                <a:ea typeface="DejaVu Sans"/>
                <a:cs typeface="DejaVu Sans"/>
              </a:defRPr>
            </a:pPr>
            <a:r>
              <a:rPr sz="1275" b="0">
                <a:solidFill>
                  <a:srgbClr val="62656A"/>
                </a:solidFill>
                <a:latin typeface="DejaVu Sans"/>
                <a:ea typeface="DejaVu Sans"/>
                <a:cs typeface="DejaVu Sans"/>
              </a:rPr>
              <a:t>Source: includes/bootstrap.php, konstanta dan totals()</a:t>
            </a:r>
          </a:p>
        </p:txBody>
      </p:sp>
      <p:sp>
        <p:nvSpPr>
          <p:cNvPr id="8" name="page-number">
            <a:extLst xmlns:a="http://schemas.openxmlformats.org/drawingml/2006/main">
              <a:ext uri="{FF2B5EF4-FFF2-40B4-BE49-F238E27FC236}">
                <a16:creationId xmlns:a16="http://schemas.microsoft.com/office/drawing/2014/main" id="{FE057D40-C608-4A0B-9B97-7177CFD8E26C}"/>
              </a:ext>
            </a:extLst>
          </p:cNvPr>
          <p:cNvSpPr>
            <a:spLocks xmlns:a="http://schemas.openxmlformats.org/drawingml/2006/main" noGrp="1"/>
          </p:cNvSpPr>
          <p:nvPr/>
        </p:nvSpPr>
        <p:spPr>
          <a:xfrm xmlns:a="http://schemas.openxmlformats.org/drawingml/2006/main">
            <a:off x="14097000" y="79819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777777"/>
                </a:solidFill>
                <a:latin typeface="DejaVu Sans"/>
                <a:ea typeface="DejaVu Sans"/>
                <a:cs typeface="DejaVu Sans"/>
              </a:defRPr>
            </a:defPPr>
          </a:lstStyle>
          <a:p xmlns:a="http://schemas.openxmlformats.org/drawingml/2006/main">
            <a:pPr>
              <a:defRPr sz="1350" b="0">
                <a:solidFill>
                  <a:srgbClr val="777777"/>
                </a:solidFill>
                <a:latin typeface="DejaVu Sans"/>
                <a:ea typeface="DejaVu Sans"/>
                <a:cs typeface="DejaVu Sans"/>
              </a:defRPr>
            </a:pPr>
            <a:r>
              <a:rPr sz="1350" b="0">
                <a:solidFill>
                  <a:srgbClr val="777777"/>
                </a:solidFill>
                <a:latin typeface="DejaVu Sans"/>
                <a:ea typeface="DejaVu Sans"/>
                <a:cs typeface="DejaVu Sans"/>
              </a:rPr>
              <a:t>15</a:t>
            </a:r>
          </a:p>
        </p:txBody>
      </p:sp>
    </p:spTree>
    <p:extLst>
      <p:ext uri="{BB962C8B-B14F-4D97-AF65-F5344CB8AC3E}">
        <p14:creationId xmlns:p14="http://schemas.microsoft.com/office/powerpoint/2010/main" val="1998509912"/>
      </p:ext>
    </p:extLst>
  </p:cSld>
</p:sld>
</file>

<file path=ppt/slides/slide16.xml><?xml version="1.0" encoding="utf-8"?>
<p:sld xmlns:p="http://schemas.openxmlformats.org/presentationml/2006/main">
  <p:cSld>
    <p:bg>
      <p:bgPr>
        <a:solidFill xmlns:a="http://schemas.openxmlformats.org/drawingml/2006/main">
          <a:srgbClr val="101112"/>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4C4684D3-4C6E-4304-94E0-7CDDBD6B2B8F}"/>
              </a:ext>
            </a:extLst>
          </p:cNvPr>
          <p:cNvSpPr>
            <a:spLocks xmlns:a="http://schemas.openxmlformats.org/drawingml/2006/main" noGrp="1"/>
          </p:cNvSpPr>
          <p:nvPr/>
        </p:nvSpPr>
        <p:spPr>
          <a:xfrm xmlns:a="http://schemas.openxmlformats.org/drawingml/2006/main">
            <a:off x="762000" y="609600"/>
            <a:ext cx="1371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DO-WHILE membuat kode pesanan</a:t>
            </a:r>
          </a:p>
        </p:txBody>
      </p:sp>
      <p:sp>
        <p:nvSpPr>
          <p:cNvPr id="2" name="code">
            <a:extLst xmlns:a="http://schemas.openxmlformats.org/drawingml/2006/main">
              <a:ext uri="{FF2B5EF4-FFF2-40B4-BE49-F238E27FC236}">
                <a16:creationId xmlns:a16="http://schemas.microsoft.com/office/drawing/2014/main" id="{0F804662-AABE-4E55-A22F-362A86F7E4A1}"/>
              </a:ext>
            </a:extLst>
          </p:cNvPr>
          <p:cNvSpPr>
            <a:spLocks xmlns:a="http://schemas.openxmlformats.org/drawingml/2006/main" noGrp="1"/>
          </p:cNvSpPr>
          <p:nvPr/>
        </p:nvSpPr>
        <p:spPr>
          <a:xfrm xmlns:a="http://schemas.openxmlformats.org/drawingml/2006/main">
            <a:off x="762000" y="1971675"/>
            <a:ext cx="9286875" cy="533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E3E8EF"/>
                </a:solidFill>
                <a:latin typeface="DejaVu Sans Mono"/>
                <a:ea typeface="DejaVu Sans Mono"/>
                <a:cs typeface="DejaVu Sans Mono"/>
              </a:defRPr>
            </a:defPPr>
          </a:lstStyle>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$check = $connection-&gt;prepare(</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'SELECT id FROM orders WHERE code =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do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$code = 'DR-' . date('ymd') .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 strtoupper(bin2hex(random_bytes(3)));</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$check-&gt;execute([$code]);</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$exists = (bool)$check-&gt;fetch();</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while ($exists);</a:t>
            </a:r>
          </a:p>
        </p:txBody>
      </p:sp>
      <p:sp>
        <p:nvSpPr>
          <p:cNvPr id="3" name="point-number-0">
            <a:extLst xmlns:a="http://schemas.openxmlformats.org/drawingml/2006/main">
              <a:ext uri="{FF2B5EF4-FFF2-40B4-BE49-F238E27FC236}">
                <a16:creationId xmlns:a16="http://schemas.microsoft.com/office/drawing/2014/main" id="{FB2D7F22-60F7-4A01-8CEC-0601B0952E3B}"/>
              </a:ext>
            </a:extLst>
          </p:cNvPr>
          <p:cNvSpPr>
            <a:spLocks xmlns:a="http://schemas.openxmlformats.org/drawingml/2006/main" noGrp="1"/>
          </p:cNvSpPr>
          <p:nvPr/>
        </p:nvSpPr>
        <p:spPr>
          <a:xfrm xmlns:a="http://schemas.openxmlformats.org/drawingml/2006/main">
            <a:off x="10477500" y="20383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01</a:t>
            </a:r>
          </a:p>
        </p:txBody>
      </p:sp>
      <p:sp>
        <p:nvSpPr>
          <p:cNvPr id="4" name="point-0">
            <a:extLst xmlns:a="http://schemas.openxmlformats.org/drawingml/2006/main">
              <a:ext uri="{FF2B5EF4-FFF2-40B4-BE49-F238E27FC236}">
                <a16:creationId xmlns:a16="http://schemas.microsoft.com/office/drawing/2014/main" id="{1AE20213-CC4A-4068-B239-BE36A39C6DF0}"/>
              </a:ext>
            </a:extLst>
          </p:cNvPr>
          <p:cNvSpPr>
            <a:spLocks xmlns:a="http://schemas.openxmlformats.org/drawingml/2006/main" noGrp="1"/>
          </p:cNvSpPr>
          <p:nvPr/>
        </p:nvSpPr>
        <p:spPr>
          <a:xfrm xmlns:a="http://schemas.openxmlformats.org/drawingml/2006/main">
            <a:off x="10477500" y="24193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do membuat kandidat minimal satu kali</a:t>
            </a:r>
          </a:p>
        </p:txBody>
      </p:sp>
      <p:sp>
        <p:nvSpPr>
          <p:cNvPr id="5" name="point-number-1">
            <a:extLst xmlns:a="http://schemas.openxmlformats.org/drawingml/2006/main">
              <a:ext uri="{FF2B5EF4-FFF2-40B4-BE49-F238E27FC236}">
                <a16:creationId xmlns:a16="http://schemas.microsoft.com/office/drawing/2014/main" id="{B3A62CFA-B26F-4B53-BA50-5B9BEA011196}"/>
              </a:ext>
            </a:extLst>
          </p:cNvPr>
          <p:cNvSpPr>
            <a:spLocks xmlns:a="http://schemas.openxmlformats.org/drawingml/2006/main" noGrp="1"/>
          </p:cNvSpPr>
          <p:nvPr/>
        </p:nvSpPr>
        <p:spPr>
          <a:xfrm xmlns:a="http://schemas.openxmlformats.org/drawingml/2006/main">
            <a:off x="10477500" y="34671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02</a:t>
            </a:r>
          </a:p>
        </p:txBody>
      </p:sp>
      <p:sp>
        <p:nvSpPr>
          <p:cNvPr id="6" name="point-1">
            <a:extLst xmlns:a="http://schemas.openxmlformats.org/drawingml/2006/main">
              <a:ext uri="{FF2B5EF4-FFF2-40B4-BE49-F238E27FC236}">
                <a16:creationId xmlns:a16="http://schemas.microsoft.com/office/drawing/2014/main" id="{C4FB110F-EA0C-448C-99A3-45AD4B31446F}"/>
              </a:ext>
            </a:extLst>
          </p:cNvPr>
          <p:cNvSpPr>
            <a:spLocks xmlns:a="http://schemas.openxmlformats.org/drawingml/2006/main" noGrp="1"/>
          </p:cNvSpPr>
          <p:nvPr/>
        </p:nvSpPr>
        <p:spPr>
          <a:xfrm xmlns:a="http://schemas.openxmlformats.org/drawingml/2006/main">
            <a:off x="10477500" y="38481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SELECT memeriksa kandidat pada tabel orders</a:t>
            </a:r>
          </a:p>
        </p:txBody>
      </p:sp>
      <p:sp>
        <p:nvSpPr>
          <p:cNvPr id="7" name="point-number-2">
            <a:extLst xmlns:a="http://schemas.openxmlformats.org/drawingml/2006/main">
              <a:ext uri="{FF2B5EF4-FFF2-40B4-BE49-F238E27FC236}">
                <a16:creationId xmlns:a16="http://schemas.microsoft.com/office/drawing/2014/main" id="{E168D582-D8ED-4F9C-A3BE-78740F3A712B}"/>
              </a:ext>
            </a:extLst>
          </p:cNvPr>
          <p:cNvSpPr>
            <a:spLocks xmlns:a="http://schemas.openxmlformats.org/drawingml/2006/main" noGrp="1"/>
          </p:cNvSpPr>
          <p:nvPr/>
        </p:nvSpPr>
        <p:spPr>
          <a:xfrm xmlns:a="http://schemas.openxmlformats.org/drawingml/2006/main">
            <a:off x="10477500" y="48958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03</a:t>
            </a:r>
          </a:p>
        </p:txBody>
      </p:sp>
      <p:sp>
        <p:nvSpPr>
          <p:cNvPr id="8" name="point-2">
            <a:extLst xmlns:a="http://schemas.openxmlformats.org/drawingml/2006/main">
              <a:ext uri="{FF2B5EF4-FFF2-40B4-BE49-F238E27FC236}">
                <a16:creationId xmlns:a16="http://schemas.microsoft.com/office/drawing/2014/main" id="{A8A30436-1231-4B81-A19C-7273A8694150}"/>
              </a:ext>
            </a:extLst>
          </p:cNvPr>
          <p:cNvSpPr>
            <a:spLocks xmlns:a="http://schemas.openxmlformats.org/drawingml/2006/main" noGrp="1"/>
          </p:cNvSpPr>
          <p:nvPr/>
        </p:nvSpPr>
        <p:spPr>
          <a:xfrm xmlns:a="http://schemas.openxmlformats.org/drawingml/2006/main">
            <a:off x="10477500" y="52768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Loop mengulang bila kode sudah dipakai</a:t>
            </a:r>
          </a:p>
        </p:txBody>
      </p:sp>
      <p:sp>
        <p:nvSpPr>
          <p:cNvPr id="9" name="point-number-3">
            <a:extLst xmlns:a="http://schemas.openxmlformats.org/drawingml/2006/main">
              <a:ext uri="{FF2B5EF4-FFF2-40B4-BE49-F238E27FC236}">
                <a16:creationId xmlns:a16="http://schemas.microsoft.com/office/drawing/2014/main" id="{DC2A07C0-CB2B-4A69-97BE-35458A903E48}"/>
              </a:ext>
            </a:extLst>
          </p:cNvPr>
          <p:cNvSpPr>
            <a:spLocks xmlns:a="http://schemas.openxmlformats.org/drawingml/2006/main" noGrp="1"/>
          </p:cNvSpPr>
          <p:nvPr/>
        </p:nvSpPr>
        <p:spPr>
          <a:xfrm xmlns:a="http://schemas.openxmlformats.org/drawingml/2006/main">
            <a:off x="10477500" y="63246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04</a:t>
            </a:r>
          </a:p>
        </p:txBody>
      </p:sp>
      <p:sp>
        <p:nvSpPr>
          <p:cNvPr id="10" name="point-3">
            <a:extLst xmlns:a="http://schemas.openxmlformats.org/drawingml/2006/main">
              <a:ext uri="{FF2B5EF4-FFF2-40B4-BE49-F238E27FC236}">
                <a16:creationId xmlns:a16="http://schemas.microsoft.com/office/drawing/2014/main" id="{389E5C58-D744-4723-88DA-478F4E552AA4}"/>
              </a:ext>
            </a:extLst>
          </p:cNvPr>
          <p:cNvSpPr>
            <a:spLocks xmlns:a="http://schemas.openxmlformats.org/drawingml/2006/main" noGrp="1"/>
          </p:cNvSpPr>
          <p:nvPr/>
        </p:nvSpPr>
        <p:spPr>
          <a:xfrm xmlns:a="http://schemas.openxmlformats.org/drawingml/2006/main">
            <a:off x="10477500" y="67056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Unique index menjadi pengaman terakhir</a:t>
            </a:r>
          </a:p>
        </p:txBody>
      </p:sp>
      <p:sp>
        <p:nvSpPr>
          <p:cNvPr id="11" name="code-disclosure">
            <a:extLst xmlns:a="http://schemas.openxmlformats.org/drawingml/2006/main">
              <a:ext uri="{FF2B5EF4-FFF2-40B4-BE49-F238E27FC236}">
                <a16:creationId xmlns:a16="http://schemas.microsoft.com/office/drawing/2014/main" id="{EA2E3385-D418-4BC8-83A5-026B4C924996}"/>
              </a:ext>
            </a:extLst>
          </p:cNvPr>
          <p:cNvSpPr>
            <a:spLocks xmlns:a="http://schemas.openxmlformats.org/drawingml/2006/main" noGrp="1"/>
          </p:cNvSpPr>
          <p:nvPr/>
        </p:nvSpPr>
        <p:spPr>
          <a:xfrm xmlns:a="http://schemas.openxmlformats.org/drawingml/2006/main">
            <a:off x="762000" y="7534275"/>
            <a:ext cx="1295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Cuplikan dirapikan atau dipadatkan. Lokasi source tercantum di bawah.</a:t>
            </a:r>
          </a:p>
        </p:txBody>
      </p:sp>
      <p:sp>
        <p:nvSpPr>
          <p:cNvPr id="12" name="source-label">
            <a:extLst xmlns:a="http://schemas.openxmlformats.org/drawingml/2006/main">
              <a:ext uri="{FF2B5EF4-FFF2-40B4-BE49-F238E27FC236}">
                <a16:creationId xmlns:a16="http://schemas.microsoft.com/office/drawing/2014/main" id="{F194DD6C-CE7D-42C0-97C1-E57FA92F9632}"/>
              </a:ext>
            </a:extLst>
          </p:cNvPr>
          <p:cNvSpPr>
            <a:spLocks xmlns:a="http://schemas.openxmlformats.org/drawingml/2006/main" noGrp="1"/>
          </p:cNvSpPr>
          <p:nvPr/>
        </p:nvSpPr>
        <p:spPr>
          <a:xfrm xmlns:a="http://schemas.openxmlformats.org/drawingml/2006/main">
            <a:off x="762000" y="7981950"/>
            <a:ext cx="1266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Source: includes/actions.php, checkout; SQL unique key</a:t>
            </a:r>
          </a:p>
        </p:txBody>
      </p:sp>
      <p:sp>
        <p:nvSpPr>
          <p:cNvPr id="13" name="page-number">
            <a:extLst xmlns:a="http://schemas.openxmlformats.org/drawingml/2006/main">
              <a:ext uri="{FF2B5EF4-FFF2-40B4-BE49-F238E27FC236}">
                <a16:creationId xmlns:a16="http://schemas.microsoft.com/office/drawing/2014/main" id="{11B892BD-855B-4701-B1D9-863627AC0607}"/>
              </a:ext>
            </a:extLst>
          </p:cNvPr>
          <p:cNvSpPr>
            <a:spLocks xmlns:a="http://schemas.openxmlformats.org/drawingml/2006/main" noGrp="1"/>
          </p:cNvSpPr>
          <p:nvPr/>
        </p:nvSpPr>
        <p:spPr>
          <a:xfrm xmlns:a="http://schemas.openxmlformats.org/drawingml/2006/main">
            <a:off x="14097000" y="79819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888888"/>
                </a:solidFill>
                <a:latin typeface="DejaVu Sans"/>
                <a:ea typeface="DejaVu Sans"/>
                <a:cs typeface="DejaVu Sans"/>
              </a:defRPr>
            </a:defPPr>
          </a:lstStyle>
          <a:p xmlns:a="http://schemas.openxmlformats.org/drawingml/2006/main">
            <a:pPr>
              <a:defRPr sz="1350" b="0">
                <a:solidFill>
                  <a:srgbClr val="888888"/>
                </a:solidFill>
                <a:latin typeface="DejaVu Sans"/>
                <a:ea typeface="DejaVu Sans"/>
                <a:cs typeface="DejaVu Sans"/>
              </a:defRPr>
            </a:pPr>
            <a:r>
              <a:rPr sz="1350" b="0">
                <a:solidFill>
                  <a:srgbClr val="888888"/>
                </a:solidFill>
                <a:latin typeface="DejaVu Sans"/>
                <a:ea typeface="DejaVu Sans"/>
                <a:cs typeface="DejaVu Sans"/>
              </a:rPr>
              <a:t>16</a:t>
            </a:r>
          </a:p>
        </p:txBody>
      </p:sp>
    </p:spTree>
    <p:extLst>
      <p:ext uri="{BB962C8B-B14F-4D97-AF65-F5344CB8AC3E}">
        <p14:creationId xmlns:p14="http://schemas.microsoft.com/office/powerpoint/2010/main" val="235565346"/>
      </p:ext>
    </p:extLst>
  </p:cSld>
</p:sld>
</file>

<file path=ppt/slides/slide17.xml><?xml version="1.0" encoding="utf-8"?>
<p:sld xmlns:p="http://schemas.openxmlformats.org/presentationml/2006/main">
  <p:cSld>
    <p:bg>
      <p:bgPr>
        <a:solidFill xmlns:a="http://schemas.openxmlformats.org/drawingml/2006/main">
          <a:srgbClr val="101112"/>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85CAEE76-6CDA-45E0-9192-C18A83027EC8}"/>
              </a:ext>
            </a:extLst>
          </p:cNvPr>
          <p:cNvSpPr>
            <a:spLocks xmlns:a="http://schemas.openxmlformats.org/drawingml/2006/main" noGrp="1"/>
          </p:cNvSpPr>
          <p:nvPr/>
        </p:nvSpPr>
        <p:spPr>
          <a:xfrm xmlns:a="http://schemas.openxmlformats.org/drawingml/2006/main">
            <a:off x="762000" y="609600"/>
            <a:ext cx="1371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Nested FOR pada tabel ukuran</a:t>
            </a:r>
          </a:p>
        </p:txBody>
      </p:sp>
      <p:sp>
        <p:nvSpPr>
          <p:cNvPr id="2" name="code">
            <a:extLst xmlns:a="http://schemas.openxmlformats.org/drawingml/2006/main">
              <a:ext uri="{FF2B5EF4-FFF2-40B4-BE49-F238E27FC236}">
                <a16:creationId xmlns:a16="http://schemas.microsoft.com/office/drawing/2014/main" id="{6F5E67CA-F682-4DF8-B094-E27454C91BBC}"/>
              </a:ext>
            </a:extLst>
          </p:cNvPr>
          <p:cNvSpPr>
            <a:spLocks xmlns:a="http://schemas.openxmlformats.org/drawingml/2006/main" noGrp="1"/>
          </p:cNvSpPr>
          <p:nvPr/>
        </p:nvSpPr>
        <p:spPr>
          <a:xfrm xmlns:a="http://schemas.openxmlformats.org/drawingml/2006/main">
            <a:off x="762000" y="1971675"/>
            <a:ext cx="9286875" cy="533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E3E8EF"/>
                </a:solidFill>
                <a:latin typeface="DejaVu Sans Mono"/>
                <a:ea typeface="DejaVu Sans Mono"/>
                <a:cs typeface="DejaVu Sans Mono"/>
              </a:defRPr>
            </a:defPPr>
          </a:lstStyle>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Padanan logika HTML pada index.php</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for ($i = 0; $i &lt; count($measure); $i++)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echo '&lt;tr&gt;';</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for ($j = 0;</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$j &lt; count($measure[$i]); $j++)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echo '&lt;td&gt;'</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 e($measure[$i][$j]) . '&lt;/td&gt;';</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echo '&lt;/tr&gt;';</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a:t>
            </a:r>
          </a:p>
        </p:txBody>
      </p:sp>
      <p:sp>
        <p:nvSpPr>
          <p:cNvPr id="3" name="point-number-0">
            <a:extLst xmlns:a="http://schemas.openxmlformats.org/drawingml/2006/main">
              <a:ext uri="{FF2B5EF4-FFF2-40B4-BE49-F238E27FC236}">
                <a16:creationId xmlns:a16="http://schemas.microsoft.com/office/drawing/2014/main" id="{317B0941-363D-4910-962F-C57557032E94}"/>
              </a:ext>
            </a:extLst>
          </p:cNvPr>
          <p:cNvSpPr>
            <a:spLocks xmlns:a="http://schemas.openxmlformats.org/drawingml/2006/main" noGrp="1"/>
          </p:cNvSpPr>
          <p:nvPr/>
        </p:nvSpPr>
        <p:spPr>
          <a:xfrm xmlns:a="http://schemas.openxmlformats.org/drawingml/2006/main">
            <a:off x="10477500" y="20383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01</a:t>
            </a:r>
          </a:p>
        </p:txBody>
      </p:sp>
      <p:sp>
        <p:nvSpPr>
          <p:cNvPr id="4" name="point-0">
            <a:extLst xmlns:a="http://schemas.openxmlformats.org/drawingml/2006/main">
              <a:ext uri="{FF2B5EF4-FFF2-40B4-BE49-F238E27FC236}">
                <a16:creationId xmlns:a16="http://schemas.microsoft.com/office/drawing/2014/main" id="{E8193A8D-01A8-403F-9045-A995A27CEF49}"/>
              </a:ext>
            </a:extLst>
          </p:cNvPr>
          <p:cNvSpPr>
            <a:spLocks xmlns:a="http://schemas.openxmlformats.org/drawingml/2006/main" noGrp="1"/>
          </p:cNvSpPr>
          <p:nvPr/>
        </p:nvSpPr>
        <p:spPr>
          <a:xfrm xmlns:a="http://schemas.openxmlformats.org/drawingml/2006/main">
            <a:off x="10477500" y="24193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Loop luar memilih baris ukuran</a:t>
            </a:r>
          </a:p>
        </p:txBody>
      </p:sp>
      <p:sp>
        <p:nvSpPr>
          <p:cNvPr id="5" name="point-number-1">
            <a:extLst xmlns:a="http://schemas.openxmlformats.org/drawingml/2006/main">
              <a:ext uri="{FF2B5EF4-FFF2-40B4-BE49-F238E27FC236}">
                <a16:creationId xmlns:a16="http://schemas.microsoft.com/office/drawing/2014/main" id="{0ADCEC7E-D436-4B70-A404-00AE33479E37}"/>
              </a:ext>
            </a:extLst>
          </p:cNvPr>
          <p:cNvSpPr>
            <a:spLocks xmlns:a="http://schemas.openxmlformats.org/drawingml/2006/main" noGrp="1"/>
          </p:cNvSpPr>
          <p:nvPr/>
        </p:nvSpPr>
        <p:spPr>
          <a:xfrm xmlns:a="http://schemas.openxmlformats.org/drawingml/2006/main">
            <a:off x="10477500" y="34671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02</a:t>
            </a:r>
          </a:p>
        </p:txBody>
      </p:sp>
      <p:sp>
        <p:nvSpPr>
          <p:cNvPr id="6" name="point-1">
            <a:extLst xmlns:a="http://schemas.openxmlformats.org/drawingml/2006/main">
              <a:ext uri="{FF2B5EF4-FFF2-40B4-BE49-F238E27FC236}">
                <a16:creationId xmlns:a16="http://schemas.microsoft.com/office/drawing/2014/main" id="{8C069BF9-DA8F-4CE9-9E56-63C9C3BA11E9}"/>
              </a:ext>
            </a:extLst>
          </p:cNvPr>
          <p:cNvSpPr>
            <a:spLocks xmlns:a="http://schemas.openxmlformats.org/drawingml/2006/main" noGrp="1"/>
          </p:cNvSpPr>
          <p:nvPr/>
        </p:nvSpPr>
        <p:spPr>
          <a:xfrm xmlns:a="http://schemas.openxmlformats.org/drawingml/2006/main">
            <a:off x="10477500" y="38481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Loop dalam memilih kolom</a:t>
            </a:r>
          </a:p>
        </p:txBody>
      </p:sp>
      <p:sp>
        <p:nvSpPr>
          <p:cNvPr id="7" name="point-number-2">
            <a:extLst xmlns:a="http://schemas.openxmlformats.org/drawingml/2006/main">
              <a:ext uri="{FF2B5EF4-FFF2-40B4-BE49-F238E27FC236}">
                <a16:creationId xmlns:a16="http://schemas.microsoft.com/office/drawing/2014/main" id="{611CB2E0-455E-4DF3-A5C2-0A44A202C8C3}"/>
              </a:ext>
            </a:extLst>
          </p:cNvPr>
          <p:cNvSpPr>
            <a:spLocks xmlns:a="http://schemas.openxmlformats.org/drawingml/2006/main" noGrp="1"/>
          </p:cNvSpPr>
          <p:nvPr/>
        </p:nvSpPr>
        <p:spPr>
          <a:xfrm xmlns:a="http://schemas.openxmlformats.org/drawingml/2006/main">
            <a:off x="10477500" y="48958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03</a:t>
            </a:r>
          </a:p>
        </p:txBody>
      </p:sp>
      <p:sp>
        <p:nvSpPr>
          <p:cNvPr id="8" name="point-2">
            <a:extLst xmlns:a="http://schemas.openxmlformats.org/drawingml/2006/main">
              <a:ext uri="{FF2B5EF4-FFF2-40B4-BE49-F238E27FC236}">
                <a16:creationId xmlns:a16="http://schemas.microsoft.com/office/drawing/2014/main" id="{FCB6529A-0202-4DDD-A725-5BC5BF4B6CD8}"/>
              </a:ext>
            </a:extLst>
          </p:cNvPr>
          <p:cNvSpPr>
            <a:spLocks xmlns:a="http://schemas.openxmlformats.org/drawingml/2006/main" noGrp="1"/>
          </p:cNvSpPr>
          <p:nvPr/>
        </p:nvSpPr>
        <p:spPr>
          <a:xfrm xmlns:a="http://schemas.openxmlformats.org/drawingml/2006/main">
            <a:off x="10477500" y="52768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echo membentuk elemen HTML tabel</a:t>
            </a:r>
          </a:p>
        </p:txBody>
      </p:sp>
      <p:sp>
        <p:nvSpPr>
          <p:cNvPr id="9" name="point-number-3">
            <a:extLst xmlns:a="http://schemas.openxmlformats.org/drawingml/2006/main">
              <a:ext uri="{FF2B5EF4-FFF2-40B4-BE49-F238E27FC236}">
                <a16:creationId xmlns:a16="http://schemas.microsoft.com/office/drawing/2014/main" id="{166824DB-1778-4BF2-B20B-46EEED1A3A71}"/>
              </a:ext>
            </a:extLst>
          </p:cNvPr>
          <p:cNvSpPr>
            <a:spLocks xmlns:a="http://schemas.openxmlformats.org/drawingml/2006/main" noGrp="1"/>
          </p:cNvSpPr>
          <p:nvPr/>
        </p:nvSpPr>
        <p:spPr>
          <a:xfrm xmlns:a="http://schemas.openxmlformats.org/drawingml/2006/main">
            <a:off x="10477500" y="63246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04</a:t>
            </a:r>
          </a:p>
        </p:txBody>
      </p:sp>
      <p:sp>
        <p:nvSpPr>
          <p:cNvPr id="10" name="point-3">
            <a:extLst xmlns:a="http://schemas.openxmlformats.org/drawingml/2006/main">
              <a:ext uri="{FF2B5EF4-FFF2-40B4-BE49-F238E27FC236}">
                <a16:creationId xmlns:a16="http://schemas.microsoft.com/office/drawing/2014/main" id="{E6280AD0-E4F9-4C7E-AE83-D7AD758C7A7B}"/>
              </a:ext>
            </a:extLst>
          </p:cNvPr>
          <p:cNvSpPr>
            <a:spLocks xmlns:a="http://schemas.openxmlformats.org/drawingml/2006/main" noGrp="1"/>
          </p:cNvSpPr>
          <p:nvPr/>
        </p:nvSpPr>
        <p:spPr>
          <a:xfrm xmlns:a="http://schemas.openxmlformats.org/drawingml/2006/main">
            <a:off x="10477500" y="67056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e melakukan escaping isi sel</a:t>
            </a:r>
          </a:p>
        </p:txBody>
      </p:sp>
      <p:sp>
        <p:nvSpPr>
          <p:cNvPr id="11" name="code-disclosure">
            <a:extLst xmlns:a="http://schemas.openxmlformats.org/drawingml/2006/main">
              <a:ext uri="{FF2B5EF4-FFF2-40B4-BE49-F238E27FC236}">
                <a16:creationId xmlns:a16="http://schemas.microsoft.com/office/drawing/2014/main" id="{20596E79-43B6-46D1-9BB1-30A07989FA73}"/>
              </a:ext>
            </a:extLst>
          </p:cNvPr>
          <p:cNvSpPr>
            <a:spLocks xmlns:a="http://schemas.openxmlformats.org/drawingml/2006/main" noGrp="1"/>
          </p:cNvSpPr>
          <p:nvPr/>
        </p:nvSpPr>
        <p:spPr>
          <a:xfrm xmlns:a="http://schemas.openxmlformats.org/drawingml/2006/main">
            <a:off x="762000" y="7534275"/>
            <a:ext cx="1295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Cuplikan dirapikan atau dipadatkan. Lokasi source tercantum di bawah.</a:t>
            </a:r>
          </a:p>
        </p:txBody>
      </p:sp>
      <p:sp>
        <p:nvSpPr>
          <p:cNvPr id="12" name="source-label">
            <a:extLst xmlns:a="http://schemas.openxmlformats.org/drawingml/2006/main">
              <a:ext uri="{FF2B5EF4-FFF2-40B4-BE49-F238E27FC236}">
                <a16:creationId xmlns:a16="http://schemas.microsoft.com/office/drawing/2014/main" id="{C001837E-6684-49FB-B1DF-EDAC610E65BE}"/>
              </a:ext>
            </a:extLst>
          </p:cNvPr>
          <p:cNvSpPr>
            <a:spLocks xmlns:a="http://schemas.openxmlformats.org/drawingml/2006/main" noGrp="1"/>
          </p:cNvSpPr>
          <p:nvPr/>
        </p:nvSpPr>
        <p:spPr>
          <a:xfrm xmlns:a="http://schemas.openxmlformats.org/drawingml/2006/main">
            <a:off x="762000" y="7981950"/>
            <a:ext cx="1266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Source: index.php, Size &amp; Fit</a:t>
            </a:r>
          </a:p>
        </p:txBody>
      </p:sp>
      <p:sp>
        <p:nvSpPr>
          <p:cNvPr id="13" name="page-number">
            <a:extLst xmlns:a="http://schemas.openxmlformats.org/drawingml/2006/main">
              <a:ext uri="{FF2B5EF4-FFF2-40B4-BE49-F238E27FC236}">
                <a16:creationId xmlns:a16="http://schemas.microsoft.com/office/drawing/2014/main" id="{867F8250-3B8D-4608-B6FC-1B4FA9CC1787}"/>
              </a:ext>
            </a:extLst>
          </p:cNvPr>
          <p:cNvSpPr>
            <a:spLocks xmlns:a="http://schemas.openxmlformats.org/drawingml/2006/main" noGrp="1"/>
          </p:cNvSpPr>
          <p:nvPr/>
        </p:nvSpPr>
        <p:spPr>
          <a:xfrm xmlns:a="http://schemas.openxmlformats.org/drawingml/2006/main">
            <a:off x="14097000" y="79819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888888"/>
                </a:solidFill>
                <a:latin typeface="DejaVu Sans"/>
                <a:ea typeface="DejaVu Sans"/>
                <a:cs typeface="DejaVu Sans"/>
              </a:defRPr>
            </a:defPPr>
          </a:lstStyle>
          <a:p xmlns:a="http://schemas.openxmlformats.org/drawingml/2006/main">
            <a:pPr>
              <a:defRPr sz="1350" b="0">
                <a:solidFill>
                  <a:srgbClr val="888888"/>
                </a:solidFill>
                <a:latin typeface="DejaVu Sans"/>
                <a:ea typeface="DejaVu Sans"/>
                <a:cs typeface="DejaVu Sans"/>
              </a:defRPr>
            </a:pPr>
            <a:r>
              <a:rPr sz="1350" b="0">
                <a:solidFill>
                  <a:srgbClr val="888888"/>
                </a:solidFill>
                <a:latin typeface="DejaVu Sans"/>
                <a:ea typeface="DejaVu Sans"/>
                <a:cs typeface="DejaVu Sans"/>
              </a:rPr>
              <a:t>17</a:t>
            </a:r>
          </a:p>
        </p:txBody>
      </p:sp>
    </p:spTree>
    <p:extLst>
      <p:ext uri="{BB962C8B-B14F-4D97-AF65-F5344CB8AC3E}">
        <p14:creationId xmlns:p14="http://schemas.microsoft.com/office/powerpoint/2010/main" val="1622954151"/>
      </p:ext>
    </p:extLst>
  </p:cSld>
</p:sld>
</file>

<file path=ppt/slides/slide18.xml><?xml version="1.0" encoding="utf-8"?>
<p:sld xmlns:p="http://schemas.openxmlformats.org/presentationml/2006/main">
  <p:cSld>
    <p:bg>
      <p:bgPr>
        <a:solidFill xmlns:a="http://schemas.openxmlformats.org/drawingml/2006/main">
          <a:srgbClr val="101112"/>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FE2EEB7A-6708-4889-A9BE-0EA5B83137B9}"/>
              </a:ext>
            </a:extLst>
          </p:cNvPr>
          <p:cNvSpPr>
            <a:spLocks xmlns:a="http://schemas.openxmlformats.org/drawingml/2006/main" noGrp="1"/>
          </p:cNvSpPr>
          <p:nvPr/>
        </p:nvSpPr>
        <p:spPr>
          <a:xfrm xmlns:a="http://schemas.openxmlformats.org/drawingml/2006/main">
            <a:off x="762000" y="609600"/>
            <a:ext cx="1371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Register dan hash password</a:t>
            </a:r>
          </a:p>
        </p:txBody>
      </p:sp>
      <p:sp>
        <p:nvSpPr>
          <p:cNvPr id="2" name="code">
            <a:extLst xmlns:a="http://schemas.openxmlformats.org/drawingml/2006/main">
              <a:ext uri="{FF2B5EF4-FFF2-40B4-BE49-F238E27FC236}">
                <a16:creationId xmlns:a16="http://schemas.microsoft.com/office/drawing/2014/main" id="{6F7860C0-1D33-420C-8AC7-D562F37ABA86}"/>
              </a:ext>
            </a:extLst>
          </p:cNvPr>
          <p:cNvSpPr>
            <a:spLocks xmlns:a="http://schemas.openxmlformats.org/drawingml/2006/main" noGrp="1"/>
          </p:cNvSpPr>
          <p:nvPr/>
        </p:nvSpPr>
        <p:spPr>
          <a:xfrm xmlns:a="http://schemas.openxmlformats.org/drawingml/2006/main">
            <a:off x="762000" y="1971675"/>
            <a:ext cx="9286875" cy="533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E3E8EF"/>
                </a:solidFill>
                <a:latin typeface="DejaVu Sans Mono"/>
                <a:ea typeface="DejaVu Sans Mono"/>
                <a:cs typeface="DejaVu Sans Mono"/>
              </a:defRPr>
            </a:defPPr>
          </a:lstStyle>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$statement = db()-&gt;prepare(</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'INSERT INTO users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 '(name, email, password_hash)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 'VALUES (?, ?,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$statement-&gt;execute([</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trim($first . ' ' . $last),</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$email,</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password_hash($password, PASSWORD_DEFAULT)</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a:t>
            </a:r>
          </a:p>
        </p:txBody>
      </p:sp>
      <p:sp>
        <p:nvSpPr>
          <p:cNvPr id="3" name="point-number-0">
            <a:extLst xmlns:a="http://schemas.openxmlformats.org/drawingml/2006/main">
              <a:ext uri="{FF2B5EF4-FFF2-40B4-BE49-F238E27FC236}">
                <a16:creationId xmlns:a16="http://schemas.microsoft.com/office/drawing/2014/main" id="{70DAA19F-62FF-40EC-9A30-66F2B2A1D9E8}"/>
              </a:ext>
            </a:extLst>
          </p:cNvPr>
          <p:cNvSpPr>
            <a:spLocks xmlns:a="http://schemas.openxmlformats.org/drawingml/2006/main" noGrp="1"/>
          </p:cNvSpPr>
          <p:nvPr/>
        </p:nvSpPr>
        <p:spPr>
          <a:xfrm xmlns:a="http://schemas.openxmlformats.org/drawingml/2006/main">
            <a:off x="10477500" y="20383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01</a:t>
            </a:r>
          </a:p>
        </p:txBody>
      </p:sp>
      <p:sp>
        <p:nvSpPr>
          <p:cNvPr id="4" name="point-0">
            <a:extLst xmlns:a="http://schemas.openxmlformats.org/drawingml/2006/main">
              <a:ext uri="{FF2B5EF4-FFF2-40B4-BE49-F238E27FC236}">
                <a16:creationId xmlns:a16="http://schemas.microsoft.com/office/drawing/2014/main" id="{F943E65F-9E9E-4274-8F3B-8E1243EF66E7}"/>
              </a:ext>
            </a:extLst>
          </p:cNvPr>
          <p:cNvSpPr>
            <a:spLocks xmlns:a="http://schemas.openxmlformats.org/drawingml/2006/main" noGrp="1"/>
          </p:cNvSpPr>
          <p:nvPr/>
        </p:nvSpPr>
        <p:spPr>
          <a:xfrm xmlns:a="http://schemas.openxmlformats.org/drawingml/2006/main">
            <a:off x="10477500" y="24193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Server mengecek nama, email, dan konfirmasi</a:t>
            </a:r>
          </a:p>
        </p:txBody>
      </p:sp>
      <p:sp>
        <p:nvSpPr>
          <p:cNvPr id="5" name="point-number-1">
            <a:extLst xmlns:a="http://schemas.openxmlformats.org/drawingml/2006/main">
              <a:ext uri="{FF2B5EF4-FFF2-40B4-BE49-F238E27FC236}">
                <a16:creationId xmlns:a16="http://schemas.microsoft.com/office/drawing/2014/main" id="{0802E63E-0E14-45BE-9C98-D421507FCC32}"/>
              </a:ext>
            </a:extLst>
          </p:cNvPr>
          <p:cNvSpPr>
            <a:spLocks xmlns:a="http://schemas.openxmlformats.org/drawingml/2006/main" noGrp="1"/>
          </p:cNvSpPr>
          <p:nvPr/>
        </p:nvSpPr>
        <p:spPr>
          <a:xfrm xmlns:a="http://schemas.openxmlformats.org/drawingml/2006/main">
            <a:off x="10477500" y="34671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02</a:t>
            </a:r>
          </a:p>
        </p:txBody>
      </p:sp>
      <p:sp>
        <p:nvSpPr>
          <p:cNvPr id="6" name="point-1">
            <a:extLst xmlns:a="http://schemas.openxmlformats.org/drawingml/2006/main">
              <a:ext uri="{FF2B5EF4-FFF2-40B4-BE49-F238E27FC236}">
                <a16:creationId xmlns:a16="http://schemas.microsoft.com/office/drawing/2014/main" id="{E80707B5-50EB-4AF7-B1EC-8ABBF210F72D}"/>
              </a:ext>
            </a:extLst>
          </p:cNvPr>
          <p:cNvSpPr>
            <a:spLocks xmlns:a="http://schemas.openxmlformats.org/drawingml/2006/main" noGrp="1"/>
          </p:cNvSpPr>
          <p:nvPr/>
        </p:nvSpPr>
        <p:spPr>
          <a:xfrm xmlns:a="http://schemas.openxmlformats.org/drawingml/2006/main">
            <a:off x="10477500" y="38481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Email dinormalisasi dengan strtolower</a:t>
            </a:r>
          </a:p>
        </p:txBody>
      </p:sp>
      <p:sp>
        <p:nvSpPr>
          <p:cNvPr id="7" name="point-number-2">
            <a:extLst xmlns:a="http://schemas.openxmlformats.org/drawingml/2006/main">
              <a:ext uri="{FF2B5EF4-FFF2-40B4-BE49-F238E27FC236}">
                <a16:creationId xmlns:a16="http://schemas.microsoft.com/office/drawing/2014/main" id="{B80FA883-18D5-42A9-BCEF-EBEEBDB34659}"/>
              </a:ext>
            </a:extLst>
          </p:cNvPr>
          <p:cNvSpPr>
            <a:spLocks xmlns:a="http://schemas.openxmlformats.org/drawingml/2006/main" noGrp="1"/>
          </p:cNvSpPr>
          <p:nvPr/>
        </p:nvSpPr>
        <p:spPr>
          <a:xfrm xmlns:a="http://schemas.openxmlformats.org/drawingml/2006/main">
            <a:off x="10477500" y="48958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03</a:t>
            </a:r>
          </a:p>
        </p:txBody>
      </p:sp>
      <p:sp>
        <p:nvSpPr>
          <p:cNvPr id="8" name="point-2">
            <a:extLst xmlns:a="http://schemas.openxmlformats.org/drawingml/2006/main">
              <a:ext uri="{FF2B5EF4-FFF2-40B4-BE49-F238E27FC236}">
                <a16:creationId xmlns:a16="http://schemas.microsoft.com/office/drawing/2014/main" id="{29A7866A-3F3B-442F-A2FF-2ECC856F48FF}"/>
              </a:ext>
            </a:extLst>
          </p:cNvPr>
          <p:cNvSpPr>
            <a:spLocks xmlns:a="http://schemas.openxmlformats.org/drawingml/2006/main" noGrp="1"/>
          </p:cNvSpPr>
          <p:nvPr/>
        </p:nvSpPr>
        <p:spPr>
          <a:xfrm xmlns:a="http://schemas.openxmlformats.org/drawingml/2006/main">
            <a:off x="10477500" y="52768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Email duplikat ditolak sebelum penyimpanan</a:t>
            </a:r>
          </a:p>
        </p:txBody>
      </p:sp>
      <p:sp>
        <p:nvSpPr>
          <p:cNvPr id="9" name="point-number-3">
            <a:extLst xmlns:a="http://schemas.openxmlformats.org/drawingml/2006/main">
              <a:ext uri="{FF2B5EF4-FFF2-40B4-BE49-F238E27FC236}">
                <a16:creationId xmlns:a16="http://schemas.microsoft.com/office/drawing/2014/main" id="{C2072983-2BD4-435B-8498-545CDCB991C4}"/>
              </a:ext>
            </a:extLst>
          </p:cNvPr>
          <p:cNvSpPr>
            <a:spLocks xmlns:a="http://schemas.openxmlformats.org/drawingml/2006/main" noGrp="1"/>
          </p:cNvSpPr>
          <p:nvPr/>
        </p:nvSpPr>
        <p:spPr>
          <a:xfrm xmlns:a="http://schemas.openxmlformats.org/drawingml/2006/main">
            <a:off x="10477500" y="63246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04</a:t>
            </a:r>
          </a:p>
        </p:txBody>
      </p:sp>
      <p:sp>
        <p:nvSpPr>
          <p:cNvPr id="10" name="point-3">
            <a:extLst xmlns:a="http://schemas.openxmlformats.org/drawingml/2006/main">
              <a:ext uri="{FF2B5EF4-FFF2-40B4-BE49-F238E27FC236}">
                <a16:creationId xmlns:a16="http://schemas.microsoft.com/office/drawing/2014/main" id="{B3422733-99FF-49BF-9675-38B00C9DD2DE}"/>
              </a:ext>
            </a:extLst>
          </p:cNvPr>
          <p:cNvSpPr>
            <a:spLocks xmlns:a="http://schemas.openxmlformats.org/drawingml/2006/main" noGrp="1"/>
          </p:cNvSpPr>
          <p:nvPr/>
        </p:nvSpPr>
        <p:spPr>
          <a:xfrm xmlns:a="http://schemas.openxmlformats.org/drawingml/2006/main">
            <a:off x="10477500" y="67056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password_hash menghasilkan hash satu arah</a:t>
            </a:r>
          </a:p>
        </p:txBody>
      </p:sp>
      <p:sp>
        <p:nvSpPr>
          <p:cNvPr id="11" name="code-disclosure">
            <a:extLst xmlns:a="http://schemas.openxmlformats.org/drawingml/2006/main">
              <a:ext uri="{FF2B5EF4-FFF2-40B4-BE49-F238E27FC236}">
                <a16:creationId xmlns:a16="http://schemas.microsoft.com/office/drawing/2014/main" id="{38B4495A-9F4E-4BE9-BE76-1E7C5E02E54E}"/>
              </a:ext>
            </a:extLst>
          </p:cNvPr>
          <p:cNvSpPr>
            <a:spLocks xmlns:a="http://schemas.openxmlformats.org/drawingml/2006/main" noGrp="1"/>
          </p:cNvSpPr>
          <p:nvPr/>
        </p:nvSpPr>
        <p:spPr>
          <a:xfrm xmlns:a="http://schemas.openxmlformats.org/drawingml/2006/main">
            <a:off x="762000" y="7534275"/>
            <a:ext cx="1295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Cuplikan dirapikan atau dipadatkan. Lokasi source tercantum di bawah.</a:t>
            </a:r>
          </a:p>
        </p:txBody>
      </p:sp>
      <p:sp>
        <p:nvSpPr>
          <p:cNvPr id="12" name="source-label">
            <a:extLst xmlns:a="http://schemas.openxmlformats.org/drawingml/2006/main">
              <a:ext uri="{FF2B5EF4-FFF2-40B4-BE49-F238E27FC236}">
                <a16:creationId xmlns:a16="http://schemas.microsoft.com/office/drawing/2014/main" id="{40729013-AABA-483E-87B7-368C4DCEF064}"/>
              </a:ext>
            </a:extLst>
          </p:cNvPr>
          <p:cNvSpPr>
            <a:spLocks xmlns:a="http://schemas.openxmlformats.org/drawingml/2006/main" noGrp="1"/>
          </p:cNvSpPr>
          <p:nvPr/>
        </p:nvSpPr>
        <p:spPr>
          <a:xfrm xmlns:a="http://schemas.openxmlformats.org/drawingml/2006/main">
            <a:off x="762000" y="7981950"/>
            <a:ext cx="1266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Source: includes/actions.php, register; users</a:t>
            </a:r>
          </a:p>
        </p:txBody>
      </p:sp>
      <p:sp>
        <p:nvSpPr>
          <p:cNvPr id="13" name="page-number">
            <a:extLst xmlns:a="http://schemas.openxmlformats.org/drawingml/2006/main">
              <a:ext uri="{FF2B5EF4-FFF2-40B4-BE49-F238E27FC236}">
                <a16:creationId xmlns:a16="http://schemas.microsoft.com/office/drawing/2014/main" id="{204D6D5D-36E9-49AA-B484-ED54CE18586F}"/>
              </a:ext>
            </a:extLst>
          </p:cNvPr>
          <p:cNvSpPr>
            <a:spLocks xmlns:a="http://schemas.openxmlformats.org/drawingml/2006/main" noGrp="1"/>
          </p:cNvSpPr>
          <p:nvPr/>
        </p:nvSpPr>
        <p:spPr>
          <a:xfrm xmlns:a="http://schemas.openxmlformats.org/drawingml/2006/main">
            <a:off x="14097000" y="79819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888888"/>
                </a:solidFill>
                <a:latin typeface="DejaVu Sans"/>
                <a:ea typeface="DejaVu Sans"/>
                <a:cs typeface="DejaVu Sans"/>
              </a:defRPr>
            </a:defPPr>
          </a:lstStyle>
          <a:p xmlns:a="http://schemas.openxmlformats.org/drawingml/2006/main">
            <a:pPr>
              <a:defRPr sz="1350" b="0">
                <a:solidFill>
                  <a:srgbClr val="888888"/>
                </a:solidFill>
                <a:latin typeface="DejaVu Sans"/>
                <a:ea typeface="DejaVu Sans"/>
                <a:cs typeface="DejaVu Sans"/>
              </a:defRPr>
            </a:pPr>
            <a:r>
              <a:rPr sz="1350" b="0">
                <a:solidFill>
                  <a:srgbClr val="888888"/>
                </a:solidFill>
                <a:latin typeface="DejaVu Sans"/>
                <a:ea typeface="DejaVu Sans"/>
                <a:cs typeface="DejaVu Sans"/>
              </a:rPr>
              <a:t>18</a:t>
            </a:r>
          </a:p>
        </p:txBody>
      </p:sp>
    </p:spTree>
    <p:extLst>
      <p:ext uri="{BB962C8B-B14F-4D97-AF65-F5344CB8AC3E}">
        <p14:creationId xmlns:p14="http://schemas.microsoft.com/office/powerpoint/2010/main" val="498693605"/>
      </p:ext>
    </p:extLst>
  </p:cSld>
</p:sld>
</file>

<file path=ppt/slides/slide19.xml><?xml version="1.0" encoding="utf-8"?>
<p:sld xmlns:p="http://schemas.openxmlformats.org/presentationml/2006/main">
  <p:cSld>
    <p:bg>
      <p:bgPr>
        <a:solidFill xmlns:a="http://schemas.openxmlformats.org/drawingml/2006/main">
          <a:srgbClr val="101112"/>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1E405863-885B-4C76-BC28-214C8800D8EE}"/>
              </a:ext>
            </a:extLst>
          </p:cNvPr>
          <p:cNvSpPr>
            <a:spLocks xmlns:a="http://schemas.openxmlformats.org/drawingml/2006/main" noGrp="1"/>
          </p:cNvSpPr>
          <p:nvPr/>
        </p:nvSpPr>
        <p:spPr>
          <a:xfrm xmlns:a="http://schemas.openxmlformats.org/drawingml/2006/main">
            <a:off x="762000" y="609600"/>
            <a:ext cx="1371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Login dan identitas sesi</a:t>
            </a:r>
          </a:p>
        </p:txBody>
      </p:sp>
      <p:sp>
        <p:nvSpPr>
          <p:cNvPr id="2" name="code">
            <a:extLst xmlns:a="http://schemas.openxmlformats.org/drawingml/2006/main">
              <a:ext uri="{FF2B5EF4-FFF2-40B4-BE49-F238E27FC236}">
                <a16:creationId xmlns:a16="http://schemas.microsoft.com/office/drawing/2014/main" id="{3D15FC07-211B-4EAD-AEE8-E99994B62256}"/>
              </a:ext>
            </a:extLst>
          </p:cNvPr>
          <p:cNvSpPr>
            <a:spLocks xmlns:a="http://schemas.openxmlformats.org/drawingml/2006/main" noGrp="1"/>
          </p:cNvSpPr>
          <p:nvPr/>
        </p:nvSpPr>
        <p:spPr>
          <a:xfrm xmlns:a="http://schemas.openxmlformats.org/drawingml/2006/main">
            <a:off x="762000" y="1971675"/>
            <a:ext cx="9286875" cy="533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E3E8EF"/>
                </a:solidFill>
                <a:latin typeface="DejaVu Sans Mono"/>
                <a:ea typeface="DejaVu Sans Mono"/>
                <a:cs typeface="DejaVu Sans Mono"/>
              </a:defRPr>
            </a:defPPr>
          </a:lstStyle>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if (!$user || !password_verify(</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$password, $user['password_hash']</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$error = 'Email atau password salah.';</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else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session_regenerate_id(true);</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unset($user['password_hash']);</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$_SESSION['user'] = $user;</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$_SESSION['login_failures'] = 0;</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a:t>
            </a:r>
          </a:p>
        </p:txBody>
      </p:sp>
      <p:sp>
        <p:nvSpPr>
          <p:cNvPr id="3" name="point-number-0">
            <a:extLst xmlns:a="http://schemas.openxmlformats.org/drawingml/2006/main">
              <a:ext uri="{FF2B5EF4-FFF2-40B4-BE49-F238E27FC236}">
                <a16:creationId xmlns:a16="http://schemas.microsoft.com/office/drawing/2014/main" id="{15216CF6-2781-4F64-8308-8B839AAA83F9}"/>
              </a:ext>
            </a:extLst>
          </p:cNvPr>
          <p:cNvSpPr>
            <a:spLocks xmlns:a="http://schemas.openxmlformats.org/drawingml/2006/main" noGrp="1"/>
          </p:cNvSpPr>
          <p:nvPr/>
        </p:nvSpPr>
        <p:spPr>
          <a:xfrm xmlns:a="http://schemas.openxmlformats.org/drawingml/2006/main">
            <a:off x="10477500" y="20383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01</a:t>
            </a:r>
          </a:p>
        </p:txBody>
      </p:sp>
      <p:sp>
        <p:nvSpPr>
          <p:cNvPr id="4" name="point-0">
            <a:extLst xmlns:a="http://schemas.openxmlformats.org/drawingml/2006/main">
              <a:ext uri="{FF2B5EF4-FFF2-40B4-BE49-F238E27FC236}">
                <a16:creationId xmlns:a16="http://schemas.microsoft.com/office/drawing/2014/main" id="{A6A8C809-BAC7-46CE-B509-E027AF09A209}"/>
              </a:ext>
            </a:extLst>
          </p:cNvPr>
          <p:cNvSpPr>
            <a:spLocks xmlns:a="http://schemas.openxmlformats.org/drawingml/2006/main" noGrp="1"/>
          </p:cNvSpPr>
          <p:nvPr/>
        </p:nvSpPr>
        <p:spPr>
          <a:xfrm xmlns:a="http://schemas.openxmlformats.org/drawingml/2006/main">
            <a:off x="10477500" y="24193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Email mencari akun lokal</a:t>
            </a:r>
          </a:p>
        </p:txBody>
      </p:sp>
      <p:sp>
        <p:nvSpPr>
          <p:cNvPr id="5" name="point-number-1">
            <a:extLst xmlns:a="http://schemas.openxmlformats.org/drawingml/2006/main">
              <a:ext uri="{FF2B5EF4-FFF2-40B4-BE49-F238E27FC236}">
                <a16:creationId xmlns:a16="http://schemas.microsoft.com/office/drawing/2014/main" id="{A9F5E309-66DE-4C48-B445-C2D87FA87853}"/>
              </a:ext>
            </a:extLst>
          </p:cNvPr>
          <p:cNvSpPr>
            <a:spLocks xmlns:a="http://schemas.openxmlformats.org/drawingml/2006/main" noGrp="1"/>
          </p:cNvSpPr>
          <p:nvPr/>
        </p:nvSpPr>
        <p:spPr>
          <a:xfrm xmlns:a="http://schemas.openxmlformats.org/drawingml/2006/main">
            <a:off x="10477500" y="34671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02</a:t>
            </a:r>
          </a:p>
        </p:txBody>
      </p:sp>
      <p:sp>
        <p:nvSpPr>
          <p:cNvPr id="6" name="point-1">
            <a:extLst xmlns:a="http://schemas.openxmlformats.org/drawingml/2006/main">
              <a:ext uri="{FF2B5EF4-FFF2-40B4-BE49-F238E27FC236}">
                <a16:creationId xmlns:a16="http://schemas.microsoft.com/office/drawing/2014/main" id="{0DA491B9-644C-48E8-B34F-0A5437CA3E09}"/>
              </a:ext>
            </a:extLst>
          </p:cNvPr>
          <p:cNvSpPr>
            <a:spLocks xmlns:a="http://schemas.openxmlformats.org/drawingml/2006/main" noGrp="1"/>
          </p:cNvSpPr>
          <p:nvPr/>
        </p:nvSpPr>
        <p:spPr>
          <a:xfrm xmlns:a="http://schemas.openxmlformats.org/drawingml/2006/main">
            <a:off x="10477500" y="38481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password_verify mencocokkan input dengan hash</a:t>
            </a:r>
          </a:p>
        </p:txBody>
      </p:sp>
      <p:sp>
        <p:nvSpPr>
          <p:cNvPr id="7" name="point-number-2">
            <a:extLst xmlns:a="http://schemas.openxmlformats.org/drawingml/2006/main">
              <a:ext uri="{FF2B5EF4-FFF2-40B4-BE49-F238E27FC236}">
                <a16:creationId xmlns:a16="http://schemas.microsoft.com/office/drawing/2014/main" id="{FB35927D-54D4-41EC-8683-874D77F1E7F5}"/>
              </a:ext>
            </a:extLst>
          </p:cNvPr>
          <p:cNvSpPr>
            <a:spLocks xmlns:a="http://schemas.openxmlformats.org/drawingml/2006/main" noGrp="1"/>
          </p:cNvSpPr>
          <p:nvPr/>
        </p:nvSpPr>
        <p:spPr>
          <a:xfrm xmlns:a="http://schemas.openxmlformats.org/drawingml/2006/main">
            <a:off x="10477500" y="48958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03</a:t>
            </a:r>
          </a:p>
        </p:txBody>
      </p:sp>
      <p:sp>
        <p:nvSpPr>
          <p:cNvPr id="8" name="point-2">
            <a:extLst xmlns:a="http://schemas.openxmlformats.org/drawingml/2006/main">
              <a:ext uri="{FF2B5EF4-FFF2-40B4-BE49-F238E27FC236}">
                <a16:creationId xmlns:a16="http://schemas.microsoft.com/office/drawing/2014/main" id="{61C40E2D-BDC3-4B35-A1EA-AFE7B0B36824}"/>
              </a:ext>
            </a:extLst>
          </p:cNvPr>
          <p:cNvSpPr>
            <a:spLocks xmlns:a="http://schemas.openxmlformats.org/drawingml/2006/main" noGrp="1"/>
          </p:cNvSpPr>
          <p:nvPr/>
        </p:nvSpPr>
        <p:spPr>
          <a:xfrm xmlns:a="http://schemas.openxmlformats.org/drawingml/2006/main">
            <a:off x="10477500" y="52768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ID sesi diperbarui setelah autentikasi</a:t>
            </a:r>
          </a:p>
        </p:txBody>
      </p:sp>
      <p:sp>
        <p:nvSpPr>
          <p:cNvPr id="9" name="point-number-3">
            <a:extLst xmlns:a="http://schemas.openxmlformats.org/drawingml/2006/main">
              <a:ext uri="{FF2B5EF4-FFF2-40B4-BE49-F238E27FC236}">
                <a16:creationId xmlns:a16="http://schemas.microsoft.com/office/drawing/2014/main" id="{32D2D21E-A25E-4D2E-983A-702995050A60}"/>
              </a:ext>
            </a:extLst>
          </p:cNvPr>
          <p:cNvSpPr>
            <a:spLocks xmlns:a="http://schemas.openxmlformats.org/drawingml/2006/main" noGrp="1"/>
          </p:cNvSpPr>
          <p:nvPr/>
        </p:nvSpPr>
        <p:spPr>
          <a:xfrm xmlns:a="http://schemas.openxmlformats.org/drawingml/2006/main">
            <a:off x="10477500" y="63246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04</a:t>
            </a:r>
          </a:p>
        </p:txBody>
      </p:sp>
      <p:sp>
        <p:nvSpPr>
          <p:cNvPr id="10" name="point-3">
            <a:extLst xmlns:a="http://schemas.openxmlformats.org/drawingml/2006/main">
              <a:ext uri="{FF2B5EF4-FFF2-40B4-BE49-F238E27FC236}">
                <a16:creationId xmlns:a16="http://schemas.microsoft.com/office/drawing/2014/main" id="{504002B7-449A-45B1-84F6-661B7AE14115}"/>
              </a:ext>
            </a:extLst>
          </p:cNvPr>
          <p:cNvSpPr>
            <a:spLocks xmlns:a="http://schemas.openxmlformats.org/drawingml/2006/main" noGrp="1"/>
          </p:cNvSpPr>
          <p:nvPr/>
        </p:nvSpPr>
        <p:spPr>
          <a:xfrm xmlns:a="http://schemas.openxmlformats.org/drawingml/2006/main">
            <a:off x="10477500" y="67056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Pembatasan kegagalan berlaku per sesi</a:t>
            </a:r>
          </a:p>
        </p:txBody>
      </p:sp>
      <p:sp>
        <p:nvSpPr>
          <p:cNvPr id="11" name="code-disclosure">
            <a:extLst xmlns:a="http://schemas.openxmlformats.org/drawingml/2006/main">
              <a:ext uri="{FF2B5EF4-FFF2-40B4-BE49-F238E27FC236}">
                <a16:creationId xmlns:a16="http://schemas.microsoft.com/office/drawing/2014/main" id="{96C26C4A-CD01-4616-B2DB-2FC59AB0EFCA}"/>
              </a:ext>
            </a:extLst>
          </p:cNvPr>
          <p:cNvSpPr>
            <a:spLocks xmlns:a="http://schemas.openxmlformats.org/drawingml/2006/main" noGrp="1"/>
          </p:cNvSpPr>
          <p:nvPr/>
        </p:nvSpPr>
        <p:spPr>
          <a:xfrm xmlns:a="http://schemas.openxmlformats.org/drawingml/2006/main">
            <a:off x="762000" y="7534275"/>
            <a:ext cx="1295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Cuplikan dirapikan atau dipadatkan. Lokasi source tercantum di bawah.</a:t>
            </a:r>
          </a:p>
        </p:txBody>
      </p:sp>
      <p:sp>
        <p:nvSpPr>
          <p:cNvPr id="12" name="source-label">
            <a:extLst xmlns:a="http://schemas.openxmlformats.org/drawingml/2006/main">
              <a:ext uri="{FF2B5EF4-FFF2-40B4-BE49-F238E27FC236}">
                <a16:creationId xmlns:a16="http://schemas.microsoft.com/office/drawing/2014/main" id="{758ECFF8-03ED-4515-AD0B-A6B36D1F79D2}"/>
              </a:ext>
            </a:extLst>
          </p:cNvPr>
          <p:cNvSpPr>
            <a:spLocks xmlns:a="http://schemas.openxmlformats.org/drawingml/2006/main" noGrp="1"/>
          </p:cNvSpPr>
          <p:nvPr/>
        </p:nvSpPr>
        <p:spPr>
          <a:xfrm xmlns:a="http://schemas.openxmlformats.org/drawingml/2006/main">
            <a:off x="762000" y="7981950"/>
            <a:ext cx="1266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Source: includes/actions.php, login; users</a:t>
            </a:r>
          </a:p>
        </p:txBody>
      </p:sp>
      <p:sp>
        <p:nvSpPr>
          <p:cNvPr id="13" name="page-number">
            <a:extLst xmlns:a="http://schemas.openxmlformats.org/drawingml/2006/main">
              <a:ext uri="{FF2B5EF4-FFF2-40B4-BE49-F238E27FC236}">
                <a16:creationId xmlns:a16="http://schemas.microsoft.com/office/drawing/2014/main" id="{597DFC29-77A7-49C3-B6F2-2CF3C4644EE4}"/>
              </a:ext>
            </a:extLst>
          </p:cNvPr>
          <p:cNvSpPr>
            <a:spLocks xmlns:a="http://schemas.openxmlformats.org/drawingml/2006/main" noGrp="1"/>
          </p:cNvSpPr>
          <p:nvPr/>
        </p:nvSpPr>
        <p:spPr>
          <a:xfrm xmlns:a="http://schemas.openxmlformats.org/drawingml/2006/main">
            <a:off x="14097000" y="79819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888888"/>
                </a:solidFill>
                <a:latin typeface="DejaVu Sans"/>
                <a:ea typeface="DejaVu Sans"/>
                <a:cs typeface="DejaVu Sans"/>
              </a:defRPr>
            </a:defPPr>
          </a:lstStyle>
          <a:p xmlns:a="http://schemas.openxmlformats.org/drawingml/2006/main">
            <a:pPr>
              <a:defRPr sz="1350" b="0">
                <a:solidFill>
                  <a:srgbClr val="888888"/>
                </a:solidFill>
                <a:latin typeface="DejaVu Sans"/>
                <a:ea typeface="DejaVu Sans"/>
                <a:cs typeface="DejaVu Sans"/>
              </a:defRPr>
            </a:pPr>
            <a:r>
              <a:rPr sz="1350" b="0">
                <a:solidFill>
                  <a:srgbClr val="888888"/>
                </a:solidFill>
                <a:latin typeface="DejaVu Sans"/>
                <a:ea typeface="DejaVu Sans"/>
                <a:cs typeface="DejaVu Sans"/>
              </a:rPr>
              <a:t>19</a:t>
            </a:r>
          </a:p>
        </p:txBody>
      </p:sp>
    </p:spTree>
    <p:extLst>
      <p:ext uri="{BB962C8B-B14F-4D97-AF65-F5344CB8AC3E}">
        <p14:creationId xmlns:p14="http://schemas.microsoft.com/office/powerpoint/2010/main" val="1189220727"/>
      </p:ext>
    </p:extLst>
  </p:cSld>
</p:sld>
</file>

<file path=ppt/slides/slide20.xml><?xml version="1.0" encoding="utf-8"?>
<p:sld xmlns:p="http://schemas.openxmlformats.org/presentationml/2006/main">
  <p:cSld>
    <p:bg>
      <p:bgPr>
        <a:solidFill xmlns:a="http://schemas.openxmlformats.org/drawingml/2006/main">
          <a:srgbClr val="101112"/>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DB0D014D-1B17-486D-AB34-F1830E35DB36}"/>
              </a:ext>
            </a:extLst>
          </p:cNvPr>
          <p:cNvSpPr>
            <a:spLocks xmlns:a="http://schemas.openxmlformats.org/drawingml/2006/main" noGrp="1"/>
          </p:cNvSpPr>
          <p:nvPr/>
        </p:nvSpPr>
        <p:spPr>
          <a:xfrm xmlns:a="http://schemas.openxmlformats.org/drawingml/2006/main">
            <a:off x="762000" y="609600"/>
            <a:ext cx="1371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Checkout dan riwayat pesanan</a:t>
            </a:r>
          </a:p>
        </p:txBody>
      </p:sp>
      <p:sp>
        <p:nvSpPr>
          <p:cNvPr id="2" name="code">
            <a:extLst xmlns:a="http://schemas.openxmlformats.org/drawingml/2006/main">
              <a:ext uri="{FF2B5EF4-FFF2-40B4-BE49-F238E27FC236}">
                <a16:creationId xmlns:a16="http://schemas.microsoft.com/office/drawing/2014/main" id="{D36153F4-349B-4BA8-8777-5BFE825CC17D}"/>
              </a:ext>
            </a:extLst>
          </p:cNvPr>
          <p:cNvSpPr>
            <a:spLocks xmlns:a="http://schemas.openxmlformats.org/drawingml/2006/main" noGrp="1"/>
          </p:cNvSpPr>
          <p:nvPr/>
        </p:nvSpPr>
        <p:spPr>
          <a:xfrm xmlns:a="http://schemas.openxmlformats.org/drawingml/2006/main">
            <a:off x="762000" y="1971675"/>
            <a:ext cx="9286875" cy="533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E3E8EF"/>
                </a:solidFill>
                <a:latin typeface="DejaVu Sans Mono"/>
                <a:ea typeface="DejaVu Sans Mono"/>
                <a:cs typeface="DejaVu Sans Mono"/>
              </a:defRPr>
            </a:defPPr>
          </a:lstStyle>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$statement = db()-&gt;prepare(</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'SELECT id, code, total FROM orders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 'WHERE user_id = ? ORDER BY id DESC'</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$statement-&gt;execute([$_SESSION['user']['id']]);</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$orders = $statement-&gt;fetchAll();</a:t>
            </a:r>
          </a:p>
        </p:txBody>
      </p:sp>
      <p:sp>
        <p:nvSpPr>
          <p:cNvPr id="3" name="point-number-0">
            <a:extLst xmlns:a="http://schemas.openxmlformats.org/drawingml/2006/main">
              <a:ext uri="{FF2B5EF4-FFF2-40B4-BE49-F238E27FC236}">
                <a16:creationId xmlns:a16="http://schemas.microsoft.com/office/drawing/2014/main" id="{2DF5BE07-B0D0-4026-A5C1-5F2076A95ADB}"/>
              </a:ext>
            </a:extLst>
          </p:cNvPr>
          <p:cNvSpPr>
            <a:spLocks xmlns:a="http://schemas.openxmlformats.org/drawingml/2006/main" noGrp="1"/>
          </p:cNvSpPr>
          <p:nvPr/>
        </p:nvSpPr>
        <p:spPr>
          <a:xfrm xmlns:a="http://schemas.openxmlformats.org/drawingml/2006/main">
            <a:off x="10477500" y="20383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01</a:t>
            </a:r>
          </a:p>
        </p:txBody>
      </p:sp>
      <p:sp>
        <p:nvSpPr>
          <p:cNvPr id="4" name="point-0">
            <a:extLst xmlns:a="http://schemas.openxmlformats.org/drawingml/2006/main">
              <a:ext uri="{FF2B5EF4-FFF2-40B4-BE49-F238E27FC236}">
                <a16:creationId xmlns:a16="http://schemas.microsoft.com/office/drawing/2014/main" id="{2F95F251-0C9F-4975-AFF6-EF501B767322}"/>
              </a:ext>
            </a:extLst>
          </p:cNvPr>
          <p:cNvSpPr>
            <a:spLocks xmlns:a="http://schemas.openxmlformats.org/drawingml/2006/main" noGrp="1"/>
          </p:cNvSpPr>
          <p:nvPr/>
        </p:nvSpPr>
        <p:spPr>
          <a:xfrm xmlns:a="http://schemas.openxmlformats.org/drawingml/2006/main">
            <a:off x="10477500" y="24193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Checkout memerlukan akun dan keranjang berisi</a:t>
            </a:r>
          </a:p>
        </p:txBody>
      </p:sp>
      <p:sp>
        <p:nvSpPr>
          <p:cNvPr id="5" name="point-number-1">
            <a:extLst xmlns:a="http://schemas.openxmlformats.org/drawingml/2006/main">
              <a:ext uri="{FF2B5EF4-FFF2-40B4-BE49-F238E27FC236}">
                <a16:creationId xmlns:a16="http://schemas.microsoft.com/office/drawing/2014/main" id="{20EAA7F2-755E-4C21-8802-BB296EC6C373}"/>
              </a:ext>
            </a:extLst>
          </p:cNvPr>
          <p:cNvSpPr>
            <a:spLocks xmlns:a="http://schemas.openxmlformats.org/drawingml/2006/main" noGrp="1"/>
          </p:cNvSpPr>
          <p:nvPr/>
        </p:nvSpPr>
        <p:spPr>
          <a:xfrm xmlns:a="http://schemas.openxmlformats.org/drawingml/2006/main">
            <a:off x="10477500" y="34671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02</a:t>
            </a:r>
          </a:p>
        </p:txBody>
      </p:sp>
      <p:sp>
        <p:nvSpPr>
          <p:cNvPr id="6" name="point-1">
            <a:extLst xmlns:a="http://schemas.openxmlformats.org/drawingml/2006/main">
              <a:ext uri="{FF2B5EF4-FFF2-40B4-BE49-F238E27FC236}">
                <a16:creationId xmlns:a16="http://schemas.microsoft.com/office/drawing/2014/main" id="{26F3FE72-8B44-4DC4-8841-78E1EF5315EB}"/>
              </a:ext>
            </a:extLst>
          </p:cNvPr>
          <p:cNvSpPr>
            <a:spLocks xmlns:a="http://schemas.openxmlformats.org/drawingml/2006/main" noGrp="1"/>
          </p:cNvSpPr>
          <p:nvPr/>
        </p:nvSpPr>
        <p:spPr>
          <a:xfrm xmlns:a="http://schemas.openxmlformats.org/drawingml/2006/main">
            <a:off x="10477500" y="38481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Server memvalidasi penerima, telepon, dan alamat</a:t>
            </a:r>
          </a:p>
        </p:txBody>
      </p:sp>
      <p:sp>
        <p:nvSpPr>
          <p:cNvPr id="7" name="point-number-2">
            <a:extLst xmlns:a="http://schemas.openxmlformats.org/drawingml/2006/main">
              <a:ext uri="{FF2B5EF4-FFF2-40B4-BE49-F238E27FC236}">
                <a16:creationId xmlns:a16="http://schemas.microsoft.com/office/drawing/2014/main" id="{6487F1DB-1447-46F4-9532-66F440158583}"/>
              </a:ext>
            </a:extLst>
          </p:cNvPr>
          <p:cNvSpPr>
            <a:spLocks xmlns:a="http://schemas.openxmlformats.org/drawingml/2006/main" noGrp="1"/>
          </p:cNvSpPr>
          <p:nvPr/>
        </p:nvSpPr>
        <p:spPr>
          <a:xfrm xmlns:a="http://schemas.openxmlformats.org/drawingml/2006/main">
            <a:off x="10477500" y="48958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03</a:t>
            </a:r>
          </a:p>
        </p:txBody>
      </p:sp>
      <p:sp>
        <p:nvSpPr>
          <p:cNvPr id="8" name="point-2">
            <a:extLst xmlns:a="http://schemas.openxmlformats.org/drawingml/2006/main">
              <a:ext uri="{FF2B5EF4-FFF2-40B4-BE49-F238E27FC236}">
                <a16:creationId xmlns:a16="http://schemas.microsoft.com/office/drawing/2014/main" id="{AF3ECF8D-E4E5-4509-9C2C-98B8D1D5E149}"/>
              </a:ext>
            </a:extLst>
          </p:cNvPr>
          <p:cNvSpPr>
            <a:spLocks xmlns:a="http://schemas.openxmlformats.org/drawingml/2006/main" noGrp="1"/>
          </p:cNvSpPr>
          <p:nvPr/>
        </p:nvSpPr>
        <p:spPr>
          <a:xfrm xmlns:a="http://schemas.openxmlformats.org/drawingml/2006/main">
            <a:off x="10477500" y="52768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Pesanan menyimpan snapshot produk dan total</a:t>
            </a:r>
          </a:p>
        </p:txBody>
      </p:sp>
      <p:sp>
        <p:nvSpPr>
          <p:cNvPr id="9" name="point-number-3">
            <a:extLst xmlns:a="http://schemas.openxmlformats.org/drawingml/2006/main">
              <a:ext uri="{FF2B5EF4-FFF2-40B4-BE49-F238E27FC236}">
                <a16:creationId xmlns:a16="http://schemas.microsoft.com/office/drawing/2014/main" id="{959AA149-D1F0-4130-9C27-AE8EC98DA732}"/>
              </a:ext>
            </a:extLst>
          </p:cNvPr>
          <p:cNvSpPr>
            <a:spLocks xmlns:a="http://schemas.openxmlformats.org/drawingml/2006/main" noGrp="1"/>
          </p:cNvSpPr>
          <p:nvPr/>
        </p:nvSpPr>
        <p:spPr>
          <a:xfrm xmlns:a="http://schemas.openxmlformats.org/drawingml/2006/main">
            <a:off x="10477500" y="63246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04</a:t>
            </a:r>
          </a:p>
        </p:txBody>
      </p:sp>
      <p:sp>
        <p:nvSpPr>
          <p:cNvPr id="10" name="point-3">
            <a:extLst xmlns:a="http://schemas.openxmlformats.org/drawingml/2006/main">
              <a:ext uri="{FF2B5EF4-FFF2-40B4-BE49-F238E27FC236}">
                <a16:creationId xmlns:a16="http://schemas.microsoft.com/office/drawing/2014/main" id="{E05CB13A-5EA5-4DF7-9232-881DCE6AE2CB}"/>
              </a:ext>
            </a:extLst>
          </p:cNvPr>
          <p:cNvSpPr>
            <a:spLocks xmlns:a="http://schemas.openxmlformats.org/drawingml/2006/main" noGrp="1"/>
          </p:cNvSpPr>
          <p:nvPr/>
        </p:nvSpPr>
        <p:spPr>
          <a:xfrm xmlns:a="http://schemas.openxmlformats.org/drawingml/2006/main">
            <a:off x="10477500" y="67056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Riwayat disaring menggunakan user_id</a:t>
            </a:r>
          </a:p>
        </p:txBody>
      </p:sp>
      <p:sp>
        <p:nvSpPr>
          <p:cNvPr id="11" name="code-disclosure">
            <a:extLst xmlns:a="http://schemas.openxmlformats.org/drawingml/2006/main">
              <a:ext uri="{FF2B5EF4-FFF2-40B4-BE49-F238E27FC236}">
                <a16:creationId xmlns:a16="http://schemas.microsoft.com/office/drawing/2014/main" id="{C613CDF8-C0D4-4741-9D0A-E2374D444D98}"/>
              </a:ext>
            </a:extLst>
          </p:cNvPr>
          <p:cNvSpPr>
            <a:spLocks xmlns:a="http://schemas.openxmlformats.org/drawingml/2006/main" noGrp="1"/>
          </p:cNvSpPr>
          <p:nvPr/>
        </p:nvSpPr>
        <p:spPr>
          <a:xfrm xmlns:a="http://schemas.openxmlformats.org/drawingml/2006/main">
            <a:off x="762000" y="7534275"/>
            <a:ext cx="1295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Cuplikan dirapikan atau dipadatkan. Lokasi source tercantum di bawah.</a:t>
            </a:r>
          </a:p>
        </p:txBody>
      </p:sp>
      <p:sp>
        <p:nvSpPr>
          <p:cNvPr id="12" name="source-label">
            <a:extLst xmlns:a="http://schemas.openxmlformats.org/drawingml/2006/main">
              <a:ext uri="{FF2B5EF4-FFF2-40B4-BE49-F238E27FC236}">
                <a16:creationId xmlns:a16="http://schemas.microsoft.com/office/drawing/2014/main" id="{54BBF233-E738-4E50-B132-DC3F3F4FA6B2}"/>
              </a:ext>
            </a:extLst>
          </p:cNvPr>
          <p:cNvSpPr>
            <a:spLocks xmlns:a="http://schemas.openxmlformats.org/drawingml/2006/main" noGrp="1"/>
          </p:cNvSpPr>
          <p:nvPr/>
        </p:nvSpPr>
        <p:spPr>
          <a:xfrm xmlns:a="http://schemas.openxmlformats.org/drawingml/2006/main">
            <a:off x="762000" y="7981950"/>
            <a:ext cx="1266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Source: includes/actions.php, checkout; index.php, account</a:t>
            </a:r>
          </a:p>
        </p:txBody>
      </p:sp>
      <p:sp>
        <p:nvSpPr>
          <p:cNvPr id="13" name="page-number">
            <a:extLst xmlns:a="http://schemas.openxmlformats.org/drawingml/2006/main">
              <a:ext uri="{FF2B5EF4-FFF2-40B4-BE49-F238E27FC236}">
                <a16:creationId xmlns:a16="http://schemas.microsoft.com/office/drawing/2014/main" id="{C386C23C-EC6B-4954-98DC-0C457304987C}"/>
              </a:ext>
            </a:extLst>
          </p:cNvPr>
          <p:cNvSpPr>
            <a:spLocks xmlns:a="http://schemas.openxmlformats.org/drawingml/2006/main" noGrp="1"/>
          </p:cNvSpPr>
          <p:nvPr/>
        </p:nvSpPr>
        <p:spPr>
          <a:xfrm xmlns:a="http://schemas.openxmlformats.org/drawingml/2006/main">
            <a:off x="14097000" y="79819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888888"/>
                </a:solidFill>
                <a:latin typeface="DejaVu Sans"/>
                <a:ea typeface="DejaVu Sans"/>
                <a:cs typeface="DejaVu Sans"/>
              </a:defRPr>
            </a:defPPr>
          </a:lstStyle>
          <a:p xmlns:a="http://schemas.openxmlformats.org/drawingml/2006/main">
            <a:pPr>
              <a:defRPr sz="1350" b="0">
                <a:solidFill>
                  <a:srgbClr val="888888"/>
                </a:solidFill>
                <a:latin typeface="DejaVu Sans"/>
                <a:ea typeface="DejaVu Sans"/>
                <a:cs typeface="DejaVu Sans"/>
              </a:defRPr>
            </a:pPr>
            <a:r>
              <a:rPr sz="1350" b="0">
                <a:solidFill>
                  <a:srgbClr val="888888"/>
                </a:solidFill>
                <a:latin typeface="DejaVu Sans"/>
                <a:ea typeface="DejaVu Sans"/>
                <a:cs typeface="DejaVu Sans"/>
              </a:rPr>
              <a:t>20</a:t>
            </a:r>
          </a:p>
        </p:txBody>
      </p:sp>
    </p:spTree>
    <p:extLst>
      <p:ext uri="{BB962C8B-B14F-4D97-AF65-F5344CB8AC3E}">
        <p14:creationId xmlns:p14="http://schemas.microsoft.com/office/powerpoint/2010/main" val="71647485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D9203DBF-599C-4613-B249-113108DCDA73}"/>
              </a:ext>
            </a:extLst>
          </p:cNvPr>
          <p:cNvSpPr>
            <a:spLocks xmlns:a="http://schemas.openxmlformats.org/drawingml/2006/main" noGrp="1"/>
          </p:cNvSpPr>
          <p:nvPr/>
        </p:nvSpPr>
        <p:spPr>
          <a:xfrm xmlns:a="http://schemas.openxmlformats.org/drawingml/2006/main">
            <a:off x="762000" y="609600"/>
            <a:ext cx="1371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111111"/>
                </a:solidFill>
                <a:latin typeface="DejaVu Sans"/>
                <a:ea typeface="DejaVu Sans"/>
                <a:cs typeface="DejaVu Sans"/>
              </a:defRPr>
            </a:defPPr>
          </a:lstStyle>
          <a:p xmlns:a="http://schemas.openxmlformats.org/drawingml/2006/main">
            <a:pPr>
              <a:defRPr sz="3600" b="1">
                <a:solidFill>
                  <a:srgbClr val="111111"/>
                </a:solidFill>
                <a:latin typeface="DejaVu Sans"/>
                <a:ea typeface="DejaVu Sans"/>
                <a:cs typeface="DejaVu Sans"/>
              </a:defRPr>
            </a:pPr>
            <a:r>
              <a:rPr sz="3600" b="1">
                <a:solidFill>
                  <a:srgbClr val="111111"/>
                </a:solidFill>
                <a:latin typeface="DejaVu Sans"/>
                <a:ea typeface="DejaVu Sans"/>
                <a:cs typeface="DejaVu Sans"/>
              </a:rPr>
              <a:t>Pembayaran setelah checkout</a:t>
            </a:r>
          </a:p>
        </p:txBody>
      </p:sp>
      <p:sp>
        <p:nvSpPr>
          <p:cNvPr id="2" name="index-0">
            <a:extLst xmlns:a="http://schemas.openxmlformats.org/drawingml/2006/main">
              <a:ext uri="{FF2B5EF4-FFF2-40B4-BE49-F238E27FC236}">
                <a16:creationId xmlns:a16="http://schemas.microsoft.com/office/drawing/2014/main" id="{0C7AF609-3C5E-49DA-8F0D-249964343281}"/>
              </a:ext>
            </a:extLst>
          </p:cNvPr>
          <p:cNvSpPr>
            <a:spLocks xmlns:a="http://schemas.openxmlformats.org/drawingml/2006/main" noGrp="1"/>
          </p:cNvSpPr>
          <p:nvPr/>
        </p:nvSpPr>
        <p:spPr>
          <a:xfrm xmlns:a="http://schemas.openxmlformats.org/drawingml/2006/main">
            <a:off x="762000" y="2114550"/>
            <a:ext cx="781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D82929"/>
                </a:solidFill>
                <a:latin typeface="DejaVu Sans"/>
                <a:ea typeface="DejaVu Sans"/>
                <a:cs typeface="DejaVu Sans"/>
              </a:defRPr>
            </a:defPPr>
          </a:lstStyle>
          <a:p xmlns:a="http://schemas.openxmlformats.org/drawingml/2006/main">
            <a:pPr>
              <a:defRPr sz="1875" b="1">
                <a:solidFill>
                  <a:srgbClr val="D82929"/>
                </a:solidFill>
                <a:latin typeface="DejaVu Sans"/>
                <a:ea typeface="DejaVu Sans"/>
                <a:cs typeface="DejaVu Sans"/>
              </a:defRPr>
            </a:pPr>
            <a:r>
              <a:rPr sz="1875" b="1">
                <a:solidFill>
                  <a:srgbClr val="D82929"/>
                </a:solidFill>
                <a:latin typeface="DejaVu Sans"/>
                <a:ea typeface="DejaVu Sans"/>
                <a:cs typeface="DejaVu Sans"/>
              </a:rPr>
              <a:t>01</a:t>
            </a:r>
          </a:p>
        </p:txBody>
      </p:sp>
      <p:sp>
        <p:nvSpPr>
          <p:cNvPr id="3" name="point-0">
            <a:extLst xmlns:a="http://schemas.openxmlformats.org/drawingml/2006/main">
              <a:ext uri="{FF2B5EF4-FFF2-40B4-BE49-F238E27FC236}">
                <a16:creationId xmlns:a16="http://schemas.microsoft.com/office/drawing/2014/main" id="{32CAFA8E-8FFE-4310-BE17-BE008551816D}"/>
              </a:ext>
            </a:extLst>
          </p:cNvPr>
          <p:cNvSpPr>
            <a:spLocks xmlns:a="http://schemas.openxmlformats.org/drawingml/2006/main" noGrp="1"/>
          </p:cNvSpPr>
          <p:nvPr/>
        </p:nvSpPr>
        <p:spPr>
          <a:xfrm xmlns:a="http://schemas.openxmlformats.org/drawingml/2006/main">
            <a:off x="1809750" y="2076450"/>
            <a:ext cx="12192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111111"/>
                </a:solidFill>
                <a:latin typeface="DejaVu Sans"/>
                <a:ea typeface="DejaVu Sans"/>
                <a:cs typeface="DejaVu Sans"/>
              </a:defRPr>
            </a:defPPr>
          </a:lstStyle>
          <a:p xmlns:a="http://schemas.openxmlformats.org/drawingml/2006/main">
            <a:pPr>
              <a:defRPr sz="2550" b="0">
                <a:solidFill>
                  <a:srgbClr val="111111"/>
                </a:solidFill>
                <a:latin typeface="DejaVu Sans"/>
                <a:ea typeface="DejaVu Sans"/>
                <a:cs typeface="DejaVu Sans"/>
              </a:defRPr>
            </a:pPr>
            <a:r>
              <a:rPr sz="2550" b="0">
                <a:solidFill>
                  <a:srgbClr val="111111"/>
                </a:solidFill>
                <a:latin typeface="DejaVu Sans"/>
                <a:ea typeface="DejaVu Sans"/>
                <a:cs typeface="DejaVu Sans"/>
              </a:rPr>
              <a:t>Checkout membuat satu payments berstatus pending</a:t>
            </a:r>
          </a:p>
        </p:txBody>
      </p:sp>
      <p:sp>
        <p:nvSpPr>
          <p:cNvPr id="4" name="index-1">
            <a:extLst xmlns:a="http://schemas.openxmlformats.org/drawingml/2006/main">
              <a:ext uri="{FF2B5EF4-FFF2-40B4-BE49-F238E27FC236}">
                <a16:creationId xmlns:a16="http://schemas.microsoft.com/office/drawing/2014/main" id="{BDA12071-7567-4B24-AAE1-11A74F8E4B2E}"/>
              </a:ext>
            </a:extLst>
          </p:cNvPr>
          <p:cNvSpPr>
            <a:spLocks xmlns:a="http://schemas.openxmlformats.org/drawingml/2006/main" noGrp="1"/>
          </p:cNvSpPr>
          <p:nvPr/>
        </p:nvSpPr>
        <p:spPr>
          <a:xfrm xmlns:a="http://schemas.openxmlformats.org/drawingml/2006/main">
            <a:off x="762000" y="3495675"/>
            <a:ext cx="781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D82929"/>
                </a:solidFill>
                <a:latin typeface="DejaVu Sans"/>
                <a:ea typeface="DejaVu Sans"/>
                <a:cs typeface="DejaVu Sans"/>
              </a:defRPr>
            </a:defPPr>
          </a:lstStyle>
          <a:p xmlns:a="http://schemas.openxmlformats.org/drawingml/2006/main">
            <a:pPr>
              <a:defRPr sz="1875" b="1">
                <a:solidFill>
                  <a:srgbClr val="D82929"/>
                </a:solidFill>
                <a:latin typeface="DejaVu Sans"/>
                <a:ea typeface="DejaVu Sans"/>
                <a:cs typeface="DejaVu Sans"/>
              </a:defRPr>
            </a:pPr>
            <a:r>
              <a:rPr sz="1875" b="1">
                <a:solidFill>
                  <a:srgbClr val="D82929"/>
                </a:solidFill>
                <a:latin typeface="DejaVu Sans"/>
                <a:ea typeface="DejaVu Sans"/>
                <a:cs typeface="DejaVu Sans"/>
              </a:rPr>
              <a:t>02</a:t>
            </a:r>
          </a:p>
        </p:txBody>
      </p:sp>
      <p:sp>
        <p:nvSpPr>
          <p:cNvPr id="5" name="point-1">
            <a:extLst xmlns:a="http://schemas.openxmlformats.org/drawingml/2006/main">
              <a:ext uri="{FF2B5EF4-FFF2-40B4-BE49-F238E27FC236}">
                <a16:creationId xmlns:a16="http://schemas.microsoft.com/office/drawing/2014/main" id="{E3C5E99C-278E-4A1D-87DA-8D093F9A222D}"/>
              </a:ext>
            </a:extLst>
          </p:cNvPr>
          <p:cNvSpPr>
            <a:spLocks xmlns:a="http://schemas.openxmlformats.org/drawingml/2006/main" noGrp="1"/>
          </p:cNvSpPr>
          <p:nvPr/>
        </p:nvSpPr>
        <p:spPr>
          <a:xfrm xmlns:a="http://schemas.openxmlformats.org/drawingml/2006/main">
            <a:off x="1809750" y="3457575"/>
            <a:ext cx="12192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111111"/>
                </a:solidFill>
                <a:latin typeface="DejaVu Sans"/>
                <a:ea typeface="DejaVu Sans"/>
                <a:cs typeface="DejaVu Sans"/>
              </a:defRPr>
            </a:defPPr>
          </a:lstStyle>
          <a:p xmlns:a="http://schemas.openxmlformats.org/drawingml/2006/main">
            <a:pPr>
              <a:defRPr sz="2550" b="0">
                <a:solidFill>
                  <a:srgbClr val="111111"/>
                </a:solidFill>
                <a:latin typeface="DejaVu Sans"/>
                <a:ea typeface="DejaVu Sans"/>
                <a:cs typeface="DejaVu Sans"/>
              </a:defRPr>
            </a:pPr>
            <a:r>
              <a:rPr sz="2550" b="0">
                <a:solidFill>
                  <a:srgbClr val="111111"/>
                </a:solidFill>
                <a:latin typeface="DejaVu Sans"/>
                <a:ea typeface="DejaVu Sans"/>
                <a:cs typeface="DejaVu Sans"/>
              </a:rPr>
              <a:t>Bank dan e-wallet menjadi paid_demo</a:t>
            </a:r>
          </a:p>
        </p:txBody>
      </p:sp>
      <p:sp>
        <p:nvSpPr>
          <p:cNvPr id="6" name="index-2">
            <a:extLst xmlns:a="http://schemas.openxmlformats.org/drawingml/2006/main">
              <a:ext uri="{FF2B5EF4-FFF2-40B4-BE49-F238E27FC236}">
                <a16:creationId xmlns:a16="http://schemas.microsoft.com/office/drawing/2014/main" id="{A4C4ED8F-B8F7-4F29-BADD-61027F7552C3}"/>
              </a:ext>
            </a:extLst>
          </p:cNvPr>
          <p:cNvSpPr>
            <a:spLocks xmlns:a="http://schemas.openxmlformats.org/drawingml/2006/main" noGrp="1"/>
          </p:cNvSpPr>
          <p:nvPr/>
        </p:nvSpPr>
        <p:spPr>
          <a:xfrm xmlns:a="http://schemas.openxmlformats.org/drawingml/2006/main">
            <a:off x="762000" y="4876800"/>
            <a:ext cx="781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D82929"/>
                </a:solidFill>
                <a:latin typeface="DejaVu Sans"/>
                <a:ea typeface="DejaVu Sans"/>
                <a:cs typeface="DejaVu Sans"/>
              </a:defRPr>
            </a:defPPr>
          </a:lstStyle>
          <a:p xmlns:a="http://schemas.openxmlformats.org/drawingml/2006/main">
            <a:pPr>
              <a:defRPr sz="1875" b="1">
                <a:solidFill>
                  <a:srgbClr val="D82929"/>
                </a:solidFill>
                <a:latin typeface="DejaVu Sans"/>
                <a:ea typeface="DejaVu Sans"/>
                <a:cs typeface="DejaVu Sans"/>
              </a:defRPr>
            </a:pPr>
            <a:r>
              <a:rPr sz="1875" b="1">
                <a:solidFill>
                  <a:srgbClr val="D82929"/>
                </a:solidFill>
                <a:latin typeface="DejaVu Sans"/>
                <a:ea typeface="DejaVu Sans"/>
                <a:cs typeface="DejaVu Sans"/>
              </a:rPr>
              <a:t>03</a:t>
            </a:r>
          </a:p>
        </p:txBody>
      </p:sp>
      <p:sp>
        <p:nvSpPr>
          <p:cNvPr id="7" name="point-2">
            <a:extLst xmlns:a="http://schemas.openxmlformats.org/drawingml/2006/main">
              <a:ext uri="{FF2B5EF4-FFF2-40B4-BE49-F238E27FC236}">
                <a16:creationId xmlns:a16="http://schemas.microsoft.com/office/drawing/2014/main" id="{4A739858-71AE-4415-9CA7-5C7ED0FC29C3}"/>
              </a:ext>
            </a:extLst>
          </p:cNvPr>
          <p:cNvSpPr>
            <a:spLocks xmlns:a="http://schemas.openxmlformats.org/drawingml/2006/main" noGrp="1"/>
          </p:cNvSpPr>
          <p:nvPr/>
        </p:nvSpPr>
        <p:spPr>
          <a:xfrm xmlns:a="http://schemas.openxmlformats.org/drawingml/2006/main">
            <a:off x="1809750" y="4838700"/>
            <a:ext cx="12192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111111"/>
                </a:solidFill>
                <a:latin typeface="DejaVu Sans"/>
                <a:ea typeface="DejaVu Sans"/>
                <a:cs typeface="DejaVu Sans"/>
              </a:defRPr>
            </a:defPPr>
          </a:lstStyle>
          <a:p xmlns:a="http://schemas.openxmlformats.org/drawingml/2006/main">
            <a:pPr>
              <a:defRPr sz="2550" b="0">
                <a:solidFill>
                  <a:srgbClr val="111111"/>
                </a:solidFill>
                <a:latin typeface="DejaVu Sans"/>
                <a:ea typeface="DejaVu Sans"/>
                <a:cs typeface="DejaVu Sans"/>
              </a:defRPr>
            </a:pPr>
            <a:r>
              <a:rPr sz="2550" b="0">
                <a:solidFill>
                  <a:srgbClr val="111111"/>
                </a:solidFill>
                <a:latin typeface="DejaVu Sans"/>
                <a:ea typeface="DejaVu Sans"/>
                <a:cs typeface="DejaVu Sans"/>
              </a:rPr>
              <a:t>COD menjadi cod_pending dan belum lunas</a:t>
            </a:r>
          </a:p>
        </p:txBody>
      </p:sp>
      <p:sp>
        <p:nvSpPr>
          <p:cNvPr id="8" name="index-3">
            <a:extLst xmlns:a="http://schemas.openxmlformats.org/drawingml/2006/main">
              <a:ext uri="{FF2B5EF4-FFF2-40B4-BE49-F238E27FC236}">
                <a16:creationId xmlns:a16="http://schemas.microsoft.com/office/drawing/2014/main" id="{6FD46C75-78C5-489B-BBF5-480ADC557415}"/>
              </a:ext>
            </a:extLst>
          </p:cNvPr>
          <p:cNvSpPr>
            <a:spLocks xmlns:a="http://schemas.openxmlformats.org/drawingml/2006/main" noGrp="1"/>
          </p:cNvSpPr>
          <p:nvPr/>
        </p:nvSpPr>
        <p:spPr>
          <a:xfrm xmlns:a="http://schemas.openxmlformats.org/drawingml/2006/main">
            <a:off x="762000" y="6257925"/>
            <a:ext cx="781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D82929"/>
                </a:solidFill>
                <a:latin typeface="DejaVu Sans"/>
                <a:ea typeface="DejaVu Sans"/>
                <a:cs typeface="DejaVu Sans"/>
              </a:defRPr>
            </a:defPPr>
          </a:lstStyle>
          <a:p xmlns:a="http://schemas.openxmlformats.org/drawingml/2006/main">
            <a:pPr>
              <a:defRPr sz="1875" b="1">
                <a:solidFill>
                  <a:srgbClr val="D82929"/>
                </a:solidFill>
                <a:latin typeface="DejaVu Sans"/>
                <a:ea typeface="DejaVu Sans"/>
                <a:cs typeface="DejaVu Sans"/>
              </a:defRPr>
            </a:pPr>
            <a:r>
              <a:rPr sz="1875" b="1">
                <a:solidFill>
                  <a:srgbClr val="D82929"/>
                </a:solidFill>
                <a:latin typeface="DejaVu Sans"/>
                <a:ea typeface="DejaVu Sans"/>
                <a:cs typeface="DejaVu Sans"/>
              </a:rPr>
              <a:t>04</a:t>
            </a:r>
          </a:p>
        </p:txBody>
      </p:sp>
      <p:sp>
        <p:nvSpPr>
          <p:cNvPr id="9" name="point-3">
            <a:extLst xmlns:a="http://schemas.openxmlformats.org/drawingml/2006/main">
              <a:ext uri="{FF2B5EF4-FFF2-40B4-BE49-F238E27FC236}">
                <a16:creationId xmlns:a16="http://schemas.microsoft.com/office/drawing/2014/main" id="{62DD3D45-BC9D-4C17-AA5F-26461718840C}"/>
              </a:ext>
            </a:extLst>
          </p:cNvPr>
          <p:cNvSpPr>
            <a:spLocks xmlns:a="http://schemas.openxmlformats.org/drawingml/2006/main" noGrp="1"/>
          </p:cNvSpPr>
          <p:nvPr/>
        </p:nvSpPr>
        <p:spPr>
          <a:xfrm xmlns:a="http://schemas.openxmlformats.org/drawingml/2006/main">
            <a:off x="1809750" y="6219825"/>
            <a:ext cx="12192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111111"/>
                </a:solidFill>
                <a:latin typeface="DejaVu Sans"/>
                <a:ea typeface="DejaVu Sans"/>
                <a:cs typeface="DejaVu Sans"/>
              </a:defRPr>
            </a:defPPr>
          </a:lstStyle>
          <a:p xmlns:a="http://schemas.openxmlformats.org/drawingml/2006/main">
            <a:pPr>
              <a:defRPr sz="2550" b="0">
                <a:solidFill>
                  <a:srgbClr val="111111"/>
                </a:solidFill>
                <a:latin typeface="DejaVu Sans"/>
                <a:ea typeface="DejaVu Sans"/>
                <a:cs typeface="DejaVu Sans"/>
              </a:defRPr>
            </a:pPr>
            <a:r>
              <a:rPr sz="2550" b="0">
                <a:solidFill>
                  <a:srgbClr val="111111"/>
                </a:solidFill>
                <a:latin typeface="DejaVu Sans"/>
                <a:ea typeface="DejaVu Sans"/>
                <a:cs typeface="DejaVu Sans"/>
              </a:rPr>
              <a:t>Bukti transaksi hanya untuk simulasi tugas</a:t>
            </a:r>
          </a:p>
        </p:txBody>
      </p:sp>
      <p:sp>
        <p:nvSpPr>
          <p:cNvPr id="10" name="source-label">
            <a:extLst xmlns:a="http://schemas.openxmlformats.org/drawingml/2006/main">
              <a:ext uri="{FF2B5EF4-FFF2-40B4-BE49-F238E27FC236}">
                <a16:creationId xmlns:a16="http://schemas.microsoft.com/office/drawing/2014/main" id="{612F88A0-F97B-4102-9CBF-A23998AF0CDA}"/>
              </a:ext>
            </a:extLst>
          </p:cNvPr>
          <p:cNvSpPr>
            <a:spLocks xmlns:a="http://schemas.openxmlformats.org/drawingml/2006/main" noGrp="1"/>
          </p:cNvSpPr>
          <p:nvPr/>
        </p:nvSpPr>
        <p:spPr>
          <a:xfrm xmlns:a="http://schemas.openxmlformats.org/drawingml/2006/main">
            <a:off x="762000" y="7981950"/>
            <a:ext cx="1266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62656A"/>
                </a:solidFill>
                <a:latin typeface="DejaVu Sans"/>
                <a:ea typeface="DejaVu Sans"/>
                <a:cs typeface="DejaVu Sans"/>
              </a:defRPr>
            </a:defPPr>
          </a:lstStyle>
          <a:p xmlns:a="http://schemas.openxmlformats.org/drawingml/2006/main">
            <a:pPr>
              <a:defRPr sz="1275" b="0">
                <a:solidFill>
                  <a:srgbClr val="62656A"/>
                </a:solidFill>
                <a:latin typeface="DejaVu Sans"/>
                <a:ea typeface="DejaVu Sans"/>
                <a:cs typeface="DejaVu Sans"/>
              </a:defRPr>
            </a:pPr>
            <a:r>
              <a:rPr sz="1275" b="0">
                <a:solidFill>
                  <a:srgbClr val="62656A"/>
                </a:solidFill>
                <a:latin typeface="DejaVu Sans"/>
                <a:ea typeface="DejaVu Sans"/>
                <a:cs typeface="DejaVu Sans"/>
              </a:rPr>
              <a:t>Source: includes/actions.php; index.php, payment; tabel payments</a:t>
            </a:r>
          </a:p>
        </p:txBody>
      </p:sp>
      <p:sp>
        <p:nvSpPr>
          <p:cNvPr id="11" name="page-number">
            <a:extLst xmlns:a="http://schemas.openxmlformats.org/drawingml/2006/main">
              <a:ext uri="{FF2B5EF4-FFF2-40B4-BE49-F238E27FC236}">
                <a16:creationId xmlns:a16="http://schemas.microsoft.com/office/drawing/2014/main" id="{CB808966-6501-42D6-A45D-A66188FEA153}"/>
              </a:ext>
            </a:extLst>
          </p:cNvPr>
          <p:cNvSpPr>
            <a:spLocks xmlns:a="http://schemas.openxmlformats.org/drawingml/2006/main" noGrp="1"/>
          </p:cNvSpPr>
          <p:nvPr/>
        </p:nvSpPr>
        <p:spPr>
          <a:xfrm xmlns:a="http://schemas.openxmlformats.org/drawingml/2006/main">
            <a:off x="14097000" y="79819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777777"/>
                </a:solidFill>
                <a:latin typeface="DejaVu Sans"/>
                <a:ea typeface="DejaVu Sans"/>
                <a:cs typeface="DejaVu Sans"/>
              </a:defRPr>
            </a:defPPr>
          </a:lstStyle>
          <a:p xmlns:a="http://schemas.openxmlformats.org/drawingml/2006/main">
            <a:pPr>
              <a:defRPr sz="1350" b="0">
                <a:solidFill>
                  <a:srgbClr val="777777"/>
                </a:solidFill>
                <a:latin typeface="DejaVu Sans"/>
                <a:ea typeface="DejaVu Sans"/>
                <a:cs typeface="DejaVu Sans"/>
              </a:defRPr>
            </a:pPr>
            <a:r>
              <a:rPr sz="1350" b="0">
                <a:solidFill>
                  <a:srgbClr val="777777"/>
                </a:solidFill>
                <a:latin typeface="DejaVu Sans"/>
                <a:ea typeface="DejaVu Sans"/>
                <a:cs typeface="DejaVu Sans"/>
              </a:rPr>
              <a:t>21</a:t>
            </a:r>
          </a:p>
        </p:txBody>
      </p:sp>
    </p:spTree>
    <p:extLst>
      <p:ext uri="{BB962C8B-B14F-4D97-AF65-F5344CB8AC3E}">
        <p14:creationId xmlns:p14="http://schemas.microsoft.com/office/powerpoint/2010/main" val="751679616"/>
      </p:ext>
    </p:extLst>
  </p:cSld>
</p:sld>
</file>

<file path=ppt/slides/slide22.xml><?xml version="1.0" encoding="utf-8"?>
<p:sld xmlns:p="http://schemas.openxmlformats.org/presentationml/2006/main">
  <p:cSld>
    <p:bg>
      <p:bgPr>
        <a:solidFill xmlns:a="http://schemas.openxmlformats.org/drawingml/2006/main">
          <a:srgbClr val="101112"/>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AC42EE97-6D14-45B5-83CD-EBD08C87617D}"/>
              </a:ext>
            </a:extLst>
          </p:cNvPr>
          <p:cNvSpPr>
            <a:spLocks xmlns:a="http://schemas.openxmlformats.org/drawingml/2006/main" noGrp="1"/>
          </p:cNvSpPr>
          <p:nvPr/>
        </p:nvSpPr>
        <p:spPr>
          <a:xfrm xmlns:a="http://schemas.openxmlformats.org/drawingml/2006/main">
            <a:off x="762000" y="609600"/>
            <a:ext cx="1371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Pencegahan konfirmasi ganda</a:t>
            </a:r>
          </a:p>
        </p:txBody>
      </p:sp>
      <p:sp>
        <p:nvSpPr>
          <p:cNvPr id="2" name="code">
            <a:extLst xmlns:a="http://schemas.openxmlformats.org/drawingml/2006/main">
              <a:ext uri="{FF2B5EF4-FFF2-40B4-BE49-F238E27FC236}">
                <a16:creationId xmlns:a16="http://schemas.microsoft.com/office/drawing/2014/main" id="{2A520A09-8899-4925-95F4-30771407896E}"/>
              </a:ext>
            </a:extLst>
          </p:cNvPr>
          <p:cNvSpPr>
            <a:spLocks xmlns:a="http://schemas.openxmlformats.org/drawingml/2006/main" noGrp="1"/>
          </p:cNvSpPr>
          <p:nvPr/>
        </p:nvSpPr>
        <p:spPr>
          <a:xfrm xmlns:a="http://schemas.openxmlformats.org/drawingml/2006/main">
            <a:off x="762000" y="1971675"/>
            <a:ext cx="9286875" cy="533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E3E8EF"/>
                </a:solidFill>
                <a:latin typeface="DejaVu Sans Mono"/>
                <a:ea typeface="DejaVu Sans Mono"/>
                <a:cs typeface="DejaVu Sans Mono"/>
              </a:defRPr>
            </a:defPPr>
          </a:lstStyle>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if ($payment['status'] !== 'pending')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throw new RuntimeException(</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'Pembayaran sudah dikonfirmasi.'</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$status = $method === 'cod'</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 'cod_pending' : 'paid_demo';</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UPDATE payments dan orders</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dalam transaksi yang sama.</a:t>
            </a:r>
          </a:p>
        </p:txBody>
      </p:sp>
      <p:sp>
        <p:nvSpPr>
          <p:cNvPr id="3" name="point-number-0">
            <a:extLst xmlns:a="http://schemas.openxmlformats.org/drawingml/2006/main">
              <a:ext uri="{FF2B5EF4-FFF2-40B4-BE49-F238E27FC236}">
                <a16:creationId xmlns:a16="http://schemas.microsoft.com/office/drawing/2014/main" id="{BE47AEFE-335B-4113-AB0D-CAACF3B57461}"/>
              </a:ext>
            </a:extLst>
          </p:cNvPr>
          <p:cNvSpPr>
            <a:spLocks xmlns:a="http://schemas.openxmlformats.org/drawingml/2006/main" noGrp="1"/>
          </p:cNvSpPr>
          <p:nvPr/>
        </p:nvSpPr>
        <p:spPr>
          <a:xfrm xmlns:a="http://schemas.openxmlformats.org/drawingml/2006/main">
            <a:off x="10477500" y="20383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01</a:t>
            </a:r>
          </a:p>
        </p:txBody>
      </p:sp>
      <p:sp>
        <p:nvSpPr>
          <p:cNvPr id="4" name="point-0">
            <a:extLst xmlns:a="http://schemas.openxmlformats.org/drawingml/2006/main">
              <a:ext uri="{FF2B5EF4-FFF2-40B4-BE49-F238E27FC236}">
                <a16:creationId xmlns:a16="http://schemas.microsoft.com/office/drawing/2014/main" id="{045D4908-B634-412A-A882-9125ED4E4E44}"/>
              </a:ext>
            </a:extLst>
          </p:cNvPr>
          <p:cNvSpPr>
            <a:spLocks xmlns:a="http://schemas.openxmlformats.org/drawingml/2006/main" noGrp="1"/>
          </p:cNvSpPr>
          <p:nvPr/>
        </p:nvSpPr>
        <p:spPr>
          <a:xfrm xmlns:a="http://schemas.openxmlformats.org/drawingml/2006/main">
            <a:off x="10477500" y="24193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SELECT FOR UPDATE mengunci order milik user</a:t>
            </a:r>
          </a:p>
        </p:txBody>
      </p:sp>
      <p:sp>
        <p:nvSpPr>
          <p:cNvPr id="5" name="point-number-1">
            <a:extLst xmlns:a="http://schemas.openxmlformats.org/drawingml/2006/main">
              <a:ext uri="{FF2B5EF4-FFF2-40B4-BE49-F238E27FC236}">
                <a16:creationId xmlns:a16="http://schemas.microsoft.com/office/drawing/2014/main" id="{56CE4B4C-BBC0-4ACE-8478-FBEDED998A42}"/>
              </a:ext>
            </a:extLst>
          </p:cNvPr>
          <p:cNvSpPr>
            <a:spLocks xmlns:a="http://schemas.openxmlformats.org/drawingml/2006/main" noGrp="1"/>
          </p:cNvSpPr>
          <p:nvPr/>
        </p:nvSpPr>
        <p:spPr>
          <a:xfrm xmlns:a="http://schemas.openxmlformats.org/drawingml/2006/main">
            <a:off x="10477500" y="34671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02</a:t>
            </a:r>
          </a:p>
        </p:txBody>
      </p:sp>
      <p:sp>
        <p:nvSpPr>
          <p:cNvPr id="6" name="point-1">
            <a:extLst xmlns:a="http://schemas.openxmlformats.org/drawingml/2006/main">
              <a:ext uri="{FF2B5EF4-FFF2-40B4-BE49-F238E27FC236}">
                <a16:creationId xmlns:a16="http://schemas.microsoft.com/office/drawing/2014/main" id="{1725794B-1D9D-42B9-86C0-F95ACA214DB8}"/>
              </a:ext>
            </a:extLst>
          </p:cNvPr>
          <p:cNvSpPr>
            <a:spLocks xmlns:a="http://schemas.openxmlformats.org/drawingml/2006/main" noGrp="1"/>
          </p:cNvSpPr>
          <p:nvPr/>
        </p:nvSpPr>
        <p:spPr>
          <a:xfrm xmlns:a="http://schemas.openxmlformats.org/drawingml/2006/main">
            <a:off x="10477500" y="38481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Hanya pending boleh dikonfirmasi</a:t>
            </a:r>
          </a:p>
        </p:txBody>
      </p:sp>
      <p:sp>
        <p:nvSpPr>
          <p:cNvPr id="7" name="point-number-2">
            <a:extLst xmlns:a="http://schemas.openxmlformats.org/drawingml/2006/main">
              <a:ext uri="{FF2B5EF4-FFF2-40B4-BE49-F238E27FC236}">
                <a16:creationId xmlns:a16="http://schemas.microsoft.com/office/drawing/2014/main" id="{6009FDA6-2203-4F97-BC35-872FDCC60B54}"/>
              </a:ext>
            </a:extLst>
          </p:cNvPr>
          <p:cNvSpPr>
            <a:spLocks xmlns:a="http://schemas.openxmlformats.org/drawingml/2006/main" noGrp="1"/>
          </p:cNvSpPr>
          <p:nvPr/>
        </p:nvSpPr>
        <p:spPr>
          <a:xfrm xmlns:a="http://schemas.openxmlformats.org/drawingml/2006/main">
            <a:off x="10477500" y="48958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03</a:t>
            </a:r>
          </a:p>
        </p:txBody>
      </p:sp>
      <p:sp>
        <p:nvSpPr>
          <p:cNvPr id="8" name="point-2">
            <a:extLst xmlns:a="http://schemas.openxmlformats.org/drawingml/2006/main">
              <a:ext uri="{FF2B5EF4-FFF2-40B4-BE49-F238E27FC236}">
                <a16:creationId xmlns:a16="http://schemas.microsoft.com/office/drawing/2014/main" id="{D8CEA5C8-9B98-4A7E-A43B-EABB76005D72}"/>
              </a:ext>
            </a:extLst>
          </p:cNvPr>
          <p:cNvSpPr>
            <a:spLocks xmlns:a="http://schemas.openxmlformats.org/drawingml/2006/main" noGrp="1"/>
          </p:cNvSpPr>
          <p:nvPr/>
        </p:nvSpPr>
        <p:spPr>
          <a:xfrm xmlns:a="http://schemas.openxmlformats.org/drawingml/2006/main">
            <a:off x="10477500" y="52768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Unique order_id membatasi satu row pembayaran</a:t>
            </a:r>
          </a:p>
        </p:txBody>
      </p:sp>
      <p:sp>
        <p:nvSpPr>
          <p:cNvPr id="9" name="point-number-3">
            <a:extLst xmlns:a="http://schemas.openxmlformats.org/drawingml/2006/main">
              <a:ext uri="{FF2B5EF4-FFF2-40B4-BE49-F238E27FC236}">
                <a16:creationId xmlns:a16="http://schemas.microsoft.com/office/drawing/2014/main" id="{85A7051C-4EA1-4CE0-B3F9-F5A4280E8A25}"/>
              </a:ext>
            </a:extLst>
          </p:cNvPr>
          <p:cNvSpPr>
            <a:spLocks xmlns:a="http://schemas.openxmlformats.org/drawingml/2006/main" noGrp="1"/>
          </p:cNvSpPr>
          <p:nvPr/>
        </p:nvSpPr>
        <p:spPr>
          <a:xfrm xmlns:a="http://schemas.openxmlformats.org/drawingml/2006/main">
            <a:off x="10477500" y="63246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04</a:t>
            </a:r>
          </a:p>
        </p:txBody>
      </p:sp>
      <p:sp>
        <p:nvSpPr>
          <p:cNvPr id="10" name="point-3">
            <a:extLst xmlns:a="http://schemas.openxmlformats.org/drawingml/2006/main">
              <a:ext uri="{FF2B5EF4-FFF2-40B4-BE49-F238E27FC236}">
                <a16:creationId xmlns:a16="http://schemas.microsoft.com/office/drawing/2014/main" id="{7EF73642-8C9D-4581-B4D5-DEA42038A5C7}"/>
              </a:ext>
            </a:extLst>
          </p:cNvPr>
          <p:cNvSpPr>
            <a:spLocks xmlns:a="http://schemas.openxmlformats.org/drawingml/2006/main" noGrp="1"/>
          </p:cNvSpPr>
          <p:nvPr/>
        </p:nvSpPr>
        <p:spPr>
          <a:xfrm xmlns:a="http://schemas.openxmlformats.org/drawingml/2006/main">
            <a:off x="10477500" y="67056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Transaksi memperbarui payment dan order bersama</a:t>
            </a:r>
          </a:p>
        </p:txBody>
      </p:sp>
      <p:sp>
        <p:nvSpPr>
          <p:cNvPr id="11" name="code-disclosure">
            <a:extLst xmlns:a="http://schemas.openxmlformats.org/drawingml/2006/main">
              <a:ext uri="{FF2B5EF4-FFF2-40B4-BE49-F238E27FC236}">
                <a16:creationId xmlns:a16="http://schemas.microsoft.com/office/drawing/2014/main" id="{476D182D-FCF0-4EC8-A575-F5233EFB4B0D}"/>
              </a:ext>
            </a:extLst>
          </p:cNvPr>
          <p:cNvSpPr>
            <a:spLocks xmlns:a="http://schemas.openxmlformats.org/drawingml/2006/main" noGrp="1"/>
          </p:cNvSpPr>
          <p:nvPr/>
        </p:nvSpPr>
        <p:spPr>
          <a:xfrm xmlns:a="http://schemas.openxmlformats.org/drawingml/2006/main">
            <a:off x="762000" y="7534275"/>
            <a:ext cx="1295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Cuplikan dirapikan atau dipadatkan. Lokasi source tercantum di bawah.</a:t>
            </a:r>
          </a:p>
        </p:txBody>
      </p:sp>
      <p:sp>
        <p:nvSpPr>
          <p:cNvPr id="12" name="source-label">
            <a:extLst xmlns:a="http://schemas.openxmlformats.org/drawingml/2006/main">
              <a:ext uri="{FF2B5EF4-FFF2-40B4-BE49-F238E27FC236}">
                <a16:creationId xmlns:a16="http://schemas.microsoft.com/office/drawing/2014/main" id="{84C27FE3-9EF6-4C90-A206-F226C339F7DF}"/>
              </a:ext>
            </a:extLst>
          </p:cNvPr>
          <p:cNvSpPr>
            <a:spLocks xmlns:a="http://schemas.openxmlformats.org/drawingml/2006/main" noGrp="1"/>
          </p:cNvSpPr>
          <p:nvPr/>
        </p:nvSpPr>
        <p:spPr>
          <a:xfrm xmlns:a="http://schemas.openxmlformats.org/drawingml/2006/main">
            <a:off x="762000" y="7981950"/>
            <a:ext cx="1266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Source: includes/actions.php, action pay</a:t>
            </a:r>
          </a:p>
        </p:txBody>
      </p:sp>
      <p:sp>
        <p:nvSpPr>
          <p:cNvPr id="13" name="page-number">
            <a:extLst xmlns:a="http://schemas.openxmlformats.org/drawingml/2006/main">
              <a:ext uri="{FF2B5EF4-FFF2-40B4-BE49-F238E27FC236}">
                <a16:creationId xmlns:a16="http://schemas.microsoft.com/office/drawing/2014/main" id="{B843A560-B49E-4C4B-A911-75B487CF68DC}"/>
              </a:ext>
            </a:extLst>
          </p:cNvPr>
          <p:cNvSpPr>
            <a:spLocks xmlns:a="http://schemas.openxmlformats.org/drawingml/2006/main" noGrp="1"/>
          </p:cNvSpPr>
          <p:nvPr/>
        </p:nvSpPr>
        <p:spPr>
          <a:xfrm xmlns:a="http://schemas.openxmlformats.org/drawingml/2006/main">
            <a:off x="14097000" y="79819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888888"/>
                </a:solidFill>
                <a:latin typeface="DejaVu Sans"/>
                <a:ea typeface="DejaVu Sans"/>
                <a:cs typeface="DejaVu Sans"/>
              </a:defRPr>
            </a:defPPr>
          </a:lstStyle>
          <a:p xmlns:a="http://schemas.openxmlformats.org/drawingml/2006/main">
            <a:pPr>
              <a:defRPr sz="1350" b="0">
                <a:solidFill>
                  <a:srgbClr val="888888"/>
                </a:solidFill>
                <a:latin typeface="DejaVu Sans"/>
                <a:ea typeface="DejaVu Sans"/>
                <a:cs typeface="DejaVu Sans"/>
              </a:defRPr>
            </a:pPr>
            <a:r>
              <a:rPr sz="1350" b="0">
                <a:solidFill>
                  <a:srgbClr val="888888"/>
                </a:solidFill>
                <a:latin typeface="DejaVu Sans"/>
                <a:ea typeface="DejaVu Sans"/>
                <a:cs typeface="DejaVu Sans"/>
              </a:rPr>
              <a:t>22</a:t>
            </a:r>
          </a:p>
        </p:txBody>
      </p:sp>
    </p:spTree>
    <p:extLst>
      <p:ext uri="{BB962C8B-B14F-4D97-AF65-F5344CB8AC3E}">
        <p14:creationId xmlns:p14="http://schemas.microsoft.com/office/powerpoint/2010/main" val="1909573358"/>
      </p:ext>
    </p:extLst>
  </p:cSld>
</p:sld>
</file>

<file path=ppt/slides/slide23.xml><?xml version="1.0" encoding="utf-8"?>
<p:sld xmlns:p="http://schemas.openxmlformats.org/presentationml/2006/main">
  <p:cSld>
    <p:bg>
      <p:bgPr>
        <a:solidFill xmlns:a="http://schemas.openxmlformats.org/drawingml/2006/main">
          <a:srgbClr val="101112"/>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3B171252-27A0-4317-897A-FE9C060A7CE9}"/>
              </a:ext>
            </a:extLst>
          </p:cNvPr>
          <p:cNvSpPr>
            <a:spLocks xmlns:a="http://schemas.openxmlformats.org/drawingml/2006/main" noGrp="1"/>
          </p:cNvSpPr>
          <p:nvPr/>
        </p:nvSpPr>
        <p:spPr>
          <a:xfrm xmlns:a="http://schemas.openxmlformats.org/drawingml/2006/main">
            <a:off x="762000" y="609600"/>
            <a:ext cx="1371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Prepared statements dan transaksi</a:t>
            </a:r>
          </a:p>
        </p:txBody>
      </p:sp>
      <p:sp>
        <p:nvSpPr>
          <p:cNvPr id="2" name="code">
            <a:extLst xmlns:a="http://schemas.openxmlformats.org/drawingml/2006/main">
              <a:ext uri="{FF2B5EF4-FFF2-40B4-BE49-F238E27FC236}">
                <a16:creationId xmlns:a16="http://schemas.microsoft.com/office/drawing/2014/main" id="{AA3154AF-112F-4A90-904C-2D3ED03B9013}"/>
              </a:ext>
            </a:extLst>
          </p:cNvPr>
          <p:cNvSpPr>
            <a:spLocks xmlns:a="http://schemas.openxmlformats.org/drawingml/2006/main" noGrp="1"/>
          </p:cNvSpPr>
          <p:nvPr/>
        </p:nvSpPr>
        <p:spPr>
          <a:xfrm xmlns:a="http://schemas.openxmlformats.org/drawingml/2006/main">
            <a:off x="762000" y="1971675"/>
            <a:ext cx="9286875" cy="533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E3E8EF"/>
                </a:solidFill>
                <a:latin typeface="DejaVu Sans Mono"/>
                <a:ea typeface="DejaVu Sans Mono"/>
                <a:cs typeface="DejaVu Sans Mono"/>
              </a:defRPr>
            </a:defPPr>
          </a:lstStyle>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$connection-&gt;beginTransaction();</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try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 INSERT orders</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 FOR: INSERT order_items</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$connection-&gt;commit();</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catch (Throwable $ex)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if ($connection-&gt;inTransaction())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$connection-&gt;rollBack();</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throw $ex;</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a:t>
            </a:r>
          </a:p>
        </p:txBody>
      </p:sp>
      <p:sp>
        <p:nvSpPr>
          <p:cNvPr id="3" name="point-number-0">
            <a:extLst xmlns:a="http://schemas.openxmlformats.org/drawingml/2006/main">
              <a:ext uri="{FF2B5EF4-FFF2-40B4-BE49-F238E27FC236}">
                <a16:creationId xmlns:a16="http://schemas.microsoft.com/office/drawing/2014/main" id="{E38B5A4B-C601-4C11-88A4-6F204AD529C5}"/>
              </a:ext>
            </a:extLst>
          </p:cNvPr>
          <p:cNvSpPr>
            <a:spLocks xmlns:a="http://schemas.openxmlformats.org/drawingml/2006/main" noGrp="1"/>
          </p:cNvSpPr>
          <p:nvPr/>
        </p:nvSpPr>
        <p:spPr>
          <a:xfrm xmlns:a="http://schemas.openxmlformats.org/drawingml/2006/main">
            <a:off x="10477500" y="20383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01</a:t>
            </a:r>
          </a:p>
        </p:txBody>
      </p:sp>
      <p:sp>
        <p:nvSpPr>
          <p:cNvPr id="4" name="point-0">
            <a:extLst xmlns:a="http://schemas.openxmlformats.org/drawingml/2006/main">
              <a:ext uri="{FF2B5EF4-FFF2-40B4-BE49-F238E27FC236}">
                <a16:creationId xmlns:a16="http://schemas.microsoft.com/office/drawing/2014/main" id="{8DDDA256-A3F9-4415-A84C-22DCF30F8385}"/>
              </a:ext>
            </a:extLst>
          </p:cNvPr>
          <p:cNvSpPr>
            <a:spLocks xmlns:a="http://schemas.openxmlformats.org/drawingml/2006/main" noGrp="1"/>
          </p:cNvSpPr>
          <p:nvPr/>
        </p:nvSpPr>
        <p:spPr>
          <a:xfrm xmlns:a="http://schemas.openxmlformats.org/drawingml/2006/main">
            <a:off x="10477500" y="24193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Placeholder memisahkan SQL dari nilai input</a:t>
            </a:r>
          </a:p>
        </p:txBody>
      </p:sp>
      <p:sp>
        <p:nvSpPr>
          <p:cNvPr id="5" name="point-number-1">
            <a:extLst xmlns:a="http://schemas.openxmlformats.org/drawingml/2006/main">
              <a:ext uri="{FF2B5EF4-FFF2-40B4-BE49-F238E27FC236}">
                <a16:creationId xmlns:a16="http://schemas.microsoft.com/office/drawing/2014/main" id="{EE5B93F9-E299-45C5-8D4E-52E7913D16D6}"/>
              </a:ext>
            </a:extLst>
          </p:cNvPr>
          <p:cNvSpPr>
            <a:spLocks xmlns:a="http://schemas.openxmlformats.org/drawingml/2006/main" noGrp="1"/>
          </p:cNvSpPr>
          <p:nvPr/>
        </p:nvSpPr>
        <p:spPr>
          <a:xfrm xmlns:a="http://schemas.openxmlformats.org/drawingml/2006/main">
            <a:off x="10477500" y="34671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02</a:t>
            </a:r>
          </a:p>
        </p:txBody>
      </p:sp>
      <p:sp>
        <p:nvSpPr>
          <p:cNvPr id="6" name="point-1">
            <a:extLst xmlns:a="http://schemas.openxmlformats.org/drawingml/2006/main">
              <a:ext uri="{FF2B5EF4-FFF2-40B4-BE49-F238E27FC236}">
                <a16:creationId xmlns:a16="http://schemas.microsoft.com/office/drawing/2014/main" id="{9DC1A407-6E55-4D22-94DD-4EDC858C9CC6}"/>
              </a:ext>
            </a:extLst>
          </p:cNvPr>
          <p:cNvSpPr>
            <a:spLocks xmlns:a="http://schemas.openxmlformats.org/drawingml/2006/main" noGrp="1"/>
          </p:cNvSpPr>
          <p:nvPr/>
        </p:nvSpPr>
        <p:spPr>
          <a:xfrm xmlns:a="http://schemas.openxmlformats.org/drawingml/2006/main">
            <a:off x="10477500" y="38481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beginTransaction memulai unit penyimpanan</a:t>
            </a:r>
          </a:p>
        </p:txBody>
      </p:sp>
      <p:sp>
        <p:nvSpPr>
          <p:cNvPr id="7" name="point-number-2">
            <a:extLst xmlns:a="http://schemas.openxmlformats.org/drawingml/2006/main">
              <a:ext uri="{FF2B5EF4-FFF2-40B4-BE49-F238E27FC236}">
                <a16:creationId xmlns:a16="http://schemas.microsoft.com/office/drawing/2014/main" id="{09F831E0-63A2-400D-A58A-2DF92899F8B5}"/>
              </a:ext>
            </a:extLst>
          </p:cNvPr>
          <p:cNvSpPr>
            <a:spLocks xmlns:a="http://schemas.openxmlformats.org/drawingml/2006/main" noGrp="1"/>
          </p:cNvSpPr>
          <p:nvPr/>
        </p:nvSpPr>
        <p:spPr>
          <a:xfrm xmlns:a="http://schemas.openxmlformats.org/drawingml/2006/main">
            <a:off x="10477500" y="48958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03</a:t>
            </a:r>
          </a:p>
        </p:txBody>
      </p:sp>
      <p:sp>
        <p:nvSpPr>
          <p:cNvPr id="8" name="point-2">
            <a:extLst xmlns:a="http://schemas.openxmlformats.org/drawingml/2006/main">
              <a:ext uri="{FF2B5EF4-FFF2-40B4-BE49-F238E27FC236}">
                <a16:creationId xmlns:a16="http://schemas.microsoft.com/office/drawing/2014/main" id="{4F868AB8-CDB3-4D40-8924-692EFAC1CEA0}"/>
              </a:ext>
            </a:extLst>
          </p:cNvPr>
          <p:cNvSpPr>
            <a:spLocks xmlns:a="http://schemas.openxmlformats.org/drawingml/2006/main" noGrp="1"/>
          </p:cNvSpPr>
          <p:nvPr/>
        </p:nvSpPr>
        <p:spPr>
          <a:xfrm xmlns:a="http://schemas.openxmlformats.org/drawingml/2006/main">
            <a:off x="10477500" y="52768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Header dan detail order tersimpan bersama</a:t>
            </a:r>
          </a:p>
        </p:txBody>
      </p:sp>
      <p:sp>
        <p:nvSpPr>
          <p:cNvPr id="9" name="point-number-3">
            <a:extLst xmlns:a="http://schemas.openxmlformats.org/drawingml/2006/main">
              <a:ext uri="{FF2B5EF4-FFF2-40B4-BE49-F238E27FC236}">
                <a16:creationId xmlns:a16="http://schemas.microsoft.com/office/drawing/2014/main" id="{F985F984-516F-4890-B124-743B2FC51053}"/>
              </a:ext>
            </a:extLst>
          </p:cNvPr>
          <p:cNvSpPr>
            <a:spLocks xmlns:a="http://schemas.openxmlformats.org/drawingml/2006/main" noGrp="1"/>
          </p:cNvSpPr>
          <p:nvPr/>
        </p:nvSpPr>
        <p:spPr>
          <a:xfrm xmlns:a="http://schemas.openxmlformats.org/drawingml/2006/main">
            <a:off x="10477500" y="63246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04</a:t>
            </a:r>
          </a:p>
        </p:txBody>
      </p:sp>
      <p:sp>
        <p:nvSpPr>
          <p:cNvPr id="10" name="point-3">
            <a:extLst xmlns:a="http://schemas.openxmlformats.org/drawingml/2006/main">
              <a:ext uri="{FF2B5EF4-FFF2-40B4-BE49-F238E27FC236}">
                <a16:creationId xmlns:a16="http://schemas.microsoft.com/office/drawing/2014/main" id="{A44E6254-10E8-498E-8680-D4F6A45FD47F}"/>
              </a:ext>
            </a:extLst>
          </p:cNvPr>
          <p:cNvSpPr>
            <a:spLocks xmlns:a="http://schemas.openxmlformats.org/drawingml/2006/main" noGrp="1"/>
          </p:cNvSpPr>
          <p:nvPr/>
        </p:nvSpPr>
        <p:spPr>
          <a:xfrm xmlns:a="http://schemas.openxmlformats.org/drawingml/2006/main">
            <a:off x="10477500" y="67056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Kegagalan memanggil rollBack</a:t>
            </a:r>
          </a:p>
        </p:txBody>
      </p:sp>
      <p:sp>
        <p:nvSpPr>
          <p:cNvPr id="11" name="code-disclosure">
            <a:extLst xmlns:a="http://schemas.openxmlformats.org/drawingml/2006/main">
              <a:ext uri="{FF2B5EF4-FFF2-40B4-BE49-F238E27FC236}">
                <a16:creationId xmlns:a16="http://schemas.microsoft.com/office/drawing/2014/main" id="{109F6E1B-00BC-4388-959D-4BF263BC45BB}"/>
              </a:ext>
            </a:extLst>
          </p:cNvPr>
          <p:cNvSpPr>
            <a:spLocks xmlns:a="http://schemas.openxmlformats.org/drawingml/2006/main" noGrp="1"/>
          </p:cNvSpPr>
          <p:nvPr/>
        </p:nvSpPr>
        <p:spPr>
          <a:xfrm xmlns:a="http://schemas.openxmlformats.org/drawingml/2006/main">
            <a:off x="762000" y="7534275"/>
            <a:ext cx="1295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Cuplikan dirapikan atau dipadatkan. Lokasi source tercantum di bawah.</a:t>
            </a:r>
          </a:p>
        </p:txBody>
      </p:sp>
      <p:sp>
        <p:nvSpPr>
          <p:cNvPr id="12" name="source-label">
            <a:extLst xmlns:a="http://schemas.openxmlformats.org/drawingml/2006/main">
              <a:ext uri="{FF2B5EF4-FFF2-40B4-BE49-F238E27FC236}">
                <a16:creationId xmlns:a16="http://schemas.microsoft.com/office/drawing/2014/main" id="{74CA1129-C342-4419-AF47-5B082A03837B}"/>
              </a:ext>
            </a:extLst>
          </p:cNvPr>
          <p:cNvSpPr>
            <a:spLocks xmlns:a="http://schemas.openxmlformats.org/drawingml/2006/main" noGrp="1"/>
          </p:cNvSpPr>
          <p:nvPr/>
        </p:nvSpPr>
        <p:spPr>
          <a:xfrm xmlns:a="http://schemas.openxmlformats.org/drawingml/2006/main">
            <a:off x="762000" y="7981950"/>
            <a:ext cx="1266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Source: includes/database.php; includes/actions.php; SQL</a:t>
            </a:r>
          </a:p>
        </p:txBody>
      </p:sp>
      <p:sp>
        <p:nvSpPr>
          <p:cNvPr id="13" name="page-number">
            <a:extLst xmlns:a="http://schemas.openxmlformats.org/drawingml/2006/main">
              <a:ext uri="{FF2B5EF4-FFF2-40B4-BE49-F238E27FC236}">
                <a16:creationId xmlns:a16="http://schemas.microsoft.com/office/drawing/2014/main" id="{5CD4F867-784C-4C5B-B59F-7CCBC34ED03D}"/>
              </a:ext>
            </a:extLst>
          </p:cNvPr>
          <p:cNvSpPr>
            <a:spLocks xmlns:a="http://schemas.openxmlformats.org/drawingml/2006/main" noGrp="1"/>
          </p:cNvSpPr>
          <p:nvPr/>
        </p:nvSpPr>
        <p:spPr>
          <a:xfrm xmlns:a="http://schemas.openxmlformats.org/drawingml/2006/main">
            <a:off x="14097000" y="79819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888888"/>
                </a:solidFill>
                <a:latin typeface="DejaVu Sans"/>
                <a:ea typeface="DejaVu Sans"/>
                <a:cs typeface="DejaVu Sans"/>
              </a:defRPr>
            </a:defPPr>
          </a:lstStyle>
          <a:p xmlns:a="http://schemas.openxmlformats.org/drawingml/2006/main">
            <a:pPr>
              <a:defRPr sz="1350" b="0">
                <a:solidFill>
                  <a:srgbClr val="888888"/>
                </a:solidFill>
                <a:latin typeface="DejaVu Sans"/>
                <a:ea typeface="DejaVu Sans"/>
                <a:cs typeface="DejaVu Sans"/>
              </a:defRPr>
            </a:pPr>
            <a:r>
              <a:rPr sz="1350" b="0">
                <a:solidFill>
                  <a:srgbClr val="888888"/>
                </a:solidFill>
                <a:latin typeface="DejaVu Sans"/>
                <a:ea typeface="DejaVu Sans"/>
                <a:cs typeface="DejaVu Sans"/>
              </a:rPr>
              <a:t>23</a:t>
            </a:r>
          </a:p>
        </p:txBody>
      </p:sp>
    </p:spTree>
    <p:extLst>
      <p:ext uri="{BB962C8B-B14F-4D97-AF65-F5344CB8AC3E}">
        <p14:creationId xmlns:p14="http://schemas.microsoft.com/office/powerpoint/2010/main" val="233444769"/>
      </p:ext>
    </p:extLst>
  </p:cSld>
</p:sld>
</file>

<file path=ppt/slides/slide24.xml><?xml version="1.0" encoding="utf-8"?>
<p:sld xmlns:p="http://schemas.openxmlformats.org/presentationml/2006/main">
  <p:cSld>
    <p:bg>
      <p:bgPr>
        <a:solidFill xmlns:a="http://schemas.openxmlformats.org/drawingml/2006/main">
          <a:srgbClr val="101112"/>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87FE5E4D-E2BB-46D2-8A43-10B9C8A4AF15}"/>
              </a:ext>
            </a:extLst>
          </p:cNvPr>
          <p:cNvSpPr>
            <a:spLocks xmlns:a="http://schemas.openxmlformats.org/drawingml/2006/main" noGrp="1"/>
          </p:cNvSpPr>
          <p:nvPr/>
        </p:nvSpPr>
        <p:spPr>
          <a:xfrm xmlns:a="http://schemas.openxmlformats.org/drawingml/2006/main">
            <a:off x="762000" y="609600"/>
            <a:ext cx="1371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CSRF dan escaping output</a:t>
            </a:r>
          </a:p>
        </p:txBody>
      </p:sp>
      <p:sp>
        <p:nvSpPr>
          <p:cNvPr id="2" name="code">
            <a:extLst xmlns:a="http://schemas.openxmlformats.org/drawingml/2006/main">
              <a:ext uri="{FF2B5EF4-FFF2-40B4-BE49-F238E27FC236}">
                <a16:creationId xmlns:a16="http://schemas.microsoft.com/office/drawing/2014/main" id="{859FCFA4-F0D6-49A4-A43A-6AFF7D3CE495}"/>
              </a:ext>
            </a:extLst>
          </p:cNvPr>
          <p:cNvSpPr>
            <a:spLocks xmlns:a="http://schemas.openxmlformats.org/drawingml/2006/main" noGrp="1"/>
          </p:cNvSpPr>
          <p:nvPr/>
        </p:nvSpPr>
        <p:spPr>
          <a:xfrm xmlns:a="http://schemas.openxmlformats.org/drawingml/2006/main">
            <a:off x="762000" y="1971675"/>
            <a:ext cx="9286875" cy="533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E3E8EF"/>
                </a:solidFill>
                <a:latin typeface="DejaVu Sans Mono"/>
                <a:ea typeface="DejaVu Sans Mono"/>
                <a:cs typeface="DejaVu Sans Mono"/>
              </a:defRPr>
            </a:defPPr>
          </a:lstStyle>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function validCsrf(): bool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return is_string($_POST['csrf'] ?? null)</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&amp;&amp; hash_equals(csrf(), $_POST['csrf']);</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a:t>
            </a:r>
          </a:p>
          <a:p xmlns:a="http://schemas.openxmlformats.org/drawingml/2006/main">
            <a:r>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function e($text): string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return htmlspecialchars(</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(string)$text, ENT_QUOTES, 'UTF-8'</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a:t>
            </a:r>
          </a:p>
        </p:txBody>
      </p:sp>
      <p:sp>
        <p:nvSpPr>
          <p:cNvPr id="3" name="point-number-0">
            <a:extLst xmlns:a="http://schemas.openxmlformats.org/drawingml/2006/main">
              <a:ext uri="{FF2B5EF4-FFF2-40B4-BE49-F238E27FC236}">
                <a16:creationId xmlns:a16="http://schemas.microsoft.com/office/drawing/2014/main" id="{D59D6B1C-3682-43DB-AD0A-9FEDEBC71298}"/>
              </a:ext>
            </a:extLst>
          </p:cNvPr>
          <p:cNvSpPr>
            <a:spLocks xmlns:a="http://schemas.openxmlformats.org/drawingml/2006/main" noGrp="1"/>
          </p:cNvSpPr>
          <p:nvPr/>
        </p:nvSpPr>
        <p:spPr>
          <a:xfrm xmlns:a="http://schemas.openxmlformats.org/drawingml/2006/main">
            <a:off x="10477500" y="20383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01</a:t>
            </a:r>
          </a:p>
        </p:txBody>
      </p:sp>
      <p:sp>
        <p:nvSpPr>
          <p:cNvPr id="4" name="point-0">
            <a:extLst xmlns:a="http://schemas.openxmlformats.org/drawingml/2006/main">
              <a:ext uri="{FF2B5EF4-FFF2-40B4-BE49-F238E27FC236}">
                <a16:creationId xmlns:a16="http://schemas.microsoft.com/office/drawing/2014/main" id="{BEDE066D-67E4-48BB-82A1-FB6AC5ABDB60}"/>
              </a:ext>
            </a:extLst>
          </p:cNvPr>
          <p:cNvSpPr>
            <a:spLocks xmlns:a="http://schemas.openxmlformats.org/drawingml/2006/main" noGrp="1"/>
          </p:cNvSpPr>
          <p:nvPr/>
        </p:nvSpPr>
        <p:spPr>
          <a:xfrm xmlns:a="http://schemas.openxmlformats.org/drawingml/2006/main">
            <a:off x="10477500" y="24193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Token acak disimpan dalam session</a:t>
            </a:r>
          </a:p>
        </p:txBody>
      </p:sp>
      <p:sp>
        <p:nvSpPr>
          <p:cNvPr id="5" name="point-number-1">
            <a:extLst xmlns:a="http://schemas.openxmlformats.org/drawingml/2006/main">
              <a:ext uri="{FF2B5EF4-FFF2-40B4-BE49-F238E27FC236}">
                <a16:creationId xmlns:a16="http://schemas.microsoft.com/office/drawing/2014/main" id="{06C0397B-507A-4D69-8916-81017A9E69B6}"/>
              </a:ext>
            </a:extLst>
          </p:cNvPr>
          <p:cNvSpPr>
            <a:spLocks xmlns:a="http://schemas.openxmlformats.org/drawingml/2006/main" noGrp="1"/>
          </p:cNvSpPr>
          <p:nvPr/>
        </p:nvSpPr>
        <p:spPr>
          <a:xfrm xmlns:a="http://schemas.openxmlformats.org/drawingml/2006/main">
            <a:off x="10477500" y="34671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02</a:t>
            </a:r>
          </a:p>
        </p:txBody>
      </p:sp>
      <p:sp>
        <p:nvSpPr>
          <p:cNvPr id="6" name="point-1">
            <a:extLst xmlns:a="http://schemas.openxmlformats.org/drawingml/2006/main">
              <a:ext uri="{FF2B5EF4-FFF2-40B4-BE49-F238E27FC236}">
                <a16:creationId xmlns:a16="http://schemas.microsoft.com/office/drawing/2014/main" id="{1F8FA8D0-099A-4805-9FE7-5FF76B0025E7}"/>
              </a:ext>
            </a:extLst>
          </p:cNvPr>
          <p:cNvSpPr>
            <a:spLocks xmlns:a="http://schemas.openxmlformats.org/drawingml/2006/main" noGrp="1"/>
          </p:cNvSpPr>
          <p:nvPr/>
        </p:nvSpPr>
        <p:spPr>
          <a:xfrm xmlns:a="http://schemas.openxmlformats.org/drawingml/2006/main">
            <a:off x="10477500" y="38481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Setiap POST memverifikasi token dengan hash_equals</a:t>
            </a:r>
          </a:p>
        </p:txBody>
      </p:sp>
      <p:sp>
        <p:nvSpPr>
          <p:cNvPr id="7" name="point-number-2">
            <a:extLst xmlns:a="http://schemas.openxmlformats.org/drawingml/2006/main">
              <a:ext uri="{FF2B5EF4-FFF2-40B4-BE49-F238E27FC236}">
                <a16:creationId xmlns:a16="http://schemas.microsoft.com/office/drawing/2014/main" id="{9C81FE94-2797-4CC6-9F65-FA41BF121A0C}"/>
              </a:ext>
            </a:extLst>
          </p:cNvPr>
          <p:cNvSpPr>
            <a:spLocks xmlns:a="http://schemas.openxmlformats.org/drawingml/2006/main" noGrp="1"/>
          </p:cNvSpPr>
          <p:nvPr/>
        </p:nvSpPr>
        <p:spPr>
          <a:xfrm xmlns:a="http://schemas.openxmlformats.org/drawingml/2006/main">
            <a:off x="10477500" y="48958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03</a:t>
            </a:r>
          </a:p>
        </p:txBody>
      </p:sp>
      <p:sp>
        <p:nvSpPr>
          <p:cNvPr id="8" name="point-2">
            <a:extLst xmlns:a="http://schemas.openxmlformats.org/drawingml/2006/main">
              <a:ext uri="{FF2B5EF4-FFF2-40B4-BE49-F238E27FC236}">
                <a16:creationId xmlns:a16="http://schemas.microsoft.com/office/drawing/2014/main" id="{D14D48E9-E852-443A-B0C1-0C4C22E81267}"/>
              </a:ext>
            </a:extLst>
          </p:cNvPr>
          <p:cNvSpPr>
            <a:spLocks xmlns:a="http://schemas.openxmlformats.org/drawingml/2006/main" noGrp="1"/>
          </p:cNvSpPr>
          <p:nvPr/>
        </p:nvSpPr>
        <p:spPr>
          <a:xfrm xmlns:a="http://schemas.openxmlformats.org/drawingml/2006/main">
            <a:off x="10477500" y="52768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htmlspecialchars menampilkan input sebagai teks</a:t>
            </a:r>
          </a:p>
        </p:txBody>
      </p:sp>
      <p:sp>
        <p:nvSpPr>
          <p:cNvPr id="9" name="point-number-3">
            <a:extLst xmlns:a="http://schemas.openxmlformats.org/drawingml/2006/main">
              <a:ext uri="{FF2B5EF4-FFF2-40B4-BE49-F238E27FC236}">
                <a16:creationId xmlns:a16="http://schemas.microsoft.com/office/drawing/2014/main" id="{93760972-7640-4460-BB12-C4980CA09F59}"/>
              </a:ext>
            </a:extLst>
          </p:cNvPr>
          <p:cNvSpPr>
            <a:spLocks xmlns:a="http://schemas.openxmlformats.org/drawingml/2006/main" noGrp="1"/>
          </p:cNvSpPr>
          <p:nvPr/>
        </p:nvSpPr>
        <p:spPr>
          <a:xfrm xmlns:a="http://schemas.openxmlformats.org/drawingml/2006/main">
            <a:off x="10477500" y="63246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04</a:t>
            </a:r>
          </a:p>
        </p:txBody>
      </p:sp>
      <p:sp>
        <p:nvSpPr>
          <p:cNvPr id="10" name="point-3">
            <a:extLst xmlns:a="http://schemas.openxmlformats.org/drawingml/2006/main">
              <a:ext uri="{FF2B5EF4-FFF2-40B4-BE49-F238E27FC236}">
                <a16:creationId xmlns:a16="http://schemas.microsoft.com/office/drawing/2014/main" id="{D927AC6A-D4D9-4784-83E9-01EBF6CF853D}"/>
              </a:ext>
            </a:extLst>
          </p:cNvPr>
          <p:cNvSpPr>
            <a:spLocks xmlns:a="http://schemas.openxmlformats.org/drawingml/2006/main" noGrp="1"/>
          </p:cNvSpPr>
          <p:nvPr/>
        </p:nvSpPr>
        <p:spPr>
          <a:xfrm xmlns:a="http://schemas.openxmlformats.org/drawingml/2006/main">
            <a:off x="10477500" y="67056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Validasi server tetap menjadi acuan</a:t>
            </a:r>
          </a:p>
        </p:txBody>
      </p:sp>
      <p:sp>
        <p:nvSpPr>
          <p:cNvPr id="11" name="code-disclosure">
            <a:extLst xmlns:a="http://schemas.openxmlformats.org/drawingml/2006/main">
              <a:ext uri="{FF2B5EF4-FFF2-40B4-BE49-F238E27FC236}">
                <a16:creationId xmlns:a16="http://schemas.microsoft.com/office/drawing/2014/main" id="{4831F896-27D0-4D31-ACB2-A5696F388C7D}"/>
              </a:ext>
            </a:extLst>
          </p:cNvPr>
          <p:cNvSpPr>
            <a:spLocks xmlns:a="http://schemas.openxmlformats.org/drawingml/2006/main" noGrp="1"/>
          </p:cNvSpPr>
          <p:nvPr/>
        </p:nvSpPr>
        <p:spPr>
          <a:xfrm xmlns:a="http://schemas.openxmlformats.org/drawingml/2006/main">
            <a:off x="762000" y="7534275"/>
            <a:ext cx="1295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Cuplikan dirapikan atau dipadatkan. Lokasi source tercantum di bawah.</a:t>
            </a:r>
          </a:p>
        </p:txBody>
      </p:sp>
      <p:sp>
        <p:nvSpPr>
          <p:cNvPr id="12" name="source-label">
            <a:extLst xmlns:a="http://schemas.openxmlformats.org/drawingml/2006/main">
              <a:ext uri="{FF2B5EF4-FFF2-40B4-BE49-F238E27FC236}">
                <a16:creationId xmlns:a16="http://schemas.microsoft.com/office/drawing/2014/main" id="{24D33891-FA91-4959-AC05-0B273F64F553}"/>
              </a:ext>
            </a:extLst>
          </p:cNvPr>
          <p:cNvSpPr>
            <a:spLocks xmlns:a="http://schemas.openxmlformats.org/drawingml/2006/main" noGrp="1"/>
          </p:cNvSpPr>
          <p:nvPr/>
        </p:nvSpPr>
        <p:spPr>
          <a:xfrm xmlns:a="http://schemas.openxmlformats.org/drawingml/2006/main">
            <a:off x="762000" y="7981950"/>
            <a:ext cx="1266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Source: includes/bootstrap.php; includes/actions.php</a:t>
            </a:r>
          </a:p>
        </p:txBody>
      </p:sp>
      <p:sp>
        <p:nvSpPr>
          <p:cNvPr id="13" name="page-number">
            <a:extLst xmlns:a="http://schemas.openxmlformats.org/drawingml/2006/main">
              <a:ext uri="{FF2B5EF4-FFF2-40B4-BE49-F238E27FC236}">
                <a16:creationId xmlns:a16="http://schemas.microsoft.com/office/drawing/2014/main" id="{228194B3-DE06-4CC2-88C4-8E8FC078684E}"/>
              </a:ext>
            </a:extLst>
          </p:cNvPr>
          <p:cNvSpPr>
            <a:spLocks xmlns:a="http://schemas.openxmlformats.org/drawingml/2006/main" noGrp="1"/>
          </p:cNvSpPr>
          <p:nvPr/>
        </p:nvSpPr>
        <p:spPr>
          <a:xfrm xmlns:a="http://schemas.openxmlformats.org/drawingml/2006/main">
            <a:off x="14097000" y="79819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888888"/>
                </a:solidFill>
                <a:latin typeface="DejaVu Sans"/>
                <a:ea typeface="DejaVu Sans"/>
                <a:cs typeface="DejaVu Sans"/>
              </a:defRPr>
            </a:defPPr>
          </a:lstStyle>
          <a:p xmlns:a="http://schemas.openxmlformats.org/drawingml/2006/main">
            <a:pPr>
              <a:defRPr sz="1350" b="0">
                <a:solidFill>
                  <a:srgbClr val="888888"/>
                </a:solidFill>
                <a:latin typeface="DejaVu Sans"/>
                <a:ea typeface="DejaVu Sans"/>
                <a:cs typeface="DejaVu Sans"/>
              </a:defRPr>
            </a:pPr>
            <a:r>
              <a:rPr sz="1350" b="0">
                <a:solidFill>
                  <a:srgbClr val="888888"/>
                </a:solidFill>
                <a:latin typeface="DejaVu Sans"/>
                <a:ea typeface="DejaVu Sans"/>
                <a:cs typeface="DejaVu Sans"/>
              </a:rPr>
              <a:t>24</a:t>
            </a:r>
          </a:p>
        </p:txBody>
      </p:sp>
    </p:spTree>
    <p:extLst>
      <p:ext uri="{BB962C8B-B14F-4D97-AF65-F5344CB8AC3E}">
        <p14:creationId xmlns:p14="http://schemas.microsoft.com/office/powerpoint/2010/main" val="2079779342"/>
      </p:ext>
    </p:extLst>
  </p:cSld>
</p:sld>
</file>

<file path=ppt/slides/slide25.xml><?xml version="1.0" encoding="utf-8"?>
<p:sld xmlns:p="http://schemas.openxmlformats.org/presentationml/2006/main">
  <p:cSld>
    <p:bg>
      <p:bgPr>
        <a:solidFill xmlns:a="http://schemas.openxmlformats.org/drawingml/2006/main">
          <a:srgbClr val="101112"/>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F2435880-5BE1-4F5C-AFFC-E6803131A8B4}"/>
              </a:ext>
            </a:extLst>
          </p:cNvPr>
          <p:cNvSpPr>
            <a:spLocks xmlns:a="http://schemas.openxmlformats.org/drawingml/2006/main" noGrp="1"/>
          </p:cNvSpPr>
          <p:nvPr/>
        </p:nvSpPr>
        <p:spPr>
          <a:xfrm xmlns:a="http://schemas.openxmlformats.org/drawingml/2006/main">
            <a:off x="762000" y="609600"/>
            <a:ext cx="1371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FFFFFF"/>
                </a:solidFill>
                <a:latin typeface="DejaVu Sans"/>
                <a:ea typeface="DejaVu Sans"/>
                <a:cs typeface="DejaVu Sans"/>
              </a:defRPr>
            </a:defPPr>
          </a:lstStyle>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CSS responsif dan JavaScript</a:t>
            </a:r>
          </a:p>
        </p:txBody>
      </p:sp>
      <p:sp>
        <p:nvSpPr>
          <p:cNvPr id="2" name="code">
            <a:extLst xmlns:a="http://schemas.openxmlformats.org/drawingml/2006/main">
              <a:ext uri="{FF2B5EF4-FFF2-40B4-BE49-F238E27FC236}">
                <a16:creationId xmlns:a16="http://schemas.microsoft.com/office/drawing/2014/main" id="{2FB9F198-88DA-406C-A68C-210F1C675864}"/>
              </a:ext>
            </a:extLst>
          </p:cNvPr>
          <p:cNvSpPr>
            <a:spLocks xmlns:a="http://schemas.openxmlformats.org/drawingml/2006/main" noGrp="1"/>
          </p:cNvSpPr>
          <p:nvPr/>
        </p:nvSpPr>
        <p:spPr>
          <a:xfrm xmlns:a="http://schemas.openxmlformats.org/drawingml/2006/main">
            <a:off x="762000" y="1971675"/>
            <a:ext cx="9286875" cy="533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E3E8EF"/>
                </a:solidFill>
                <a:latin typeface="DejaVu Sans Mono"/>
                <a:ea typeface="DejaVu Sans Mono"/>
                <a:cs typeface="DejaVu Sans Mono"/>
              </a:defRPr>
            </a:defPPr>
          </a:lstStyle>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.grid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display: grid;</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grid-template-columns: repeat(3, minmax(0,1fr));</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@media(max-width:650px)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.grid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grid-template-columns: repeat(2,minmax(0,1fr));</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.product-layout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grid-template-columns: 1fr;</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  }</a:t>
            </a:r>
          </a:p>
          <a:p xmlns:a="http://schemas.openxmlformats.org/drawingml/2006/main">
            <a:pPr>
              <a:defRPr sz="1875" b="0">
                <a:solidFill>
                  <a:srgbClr val="E3E8EF"/>
                </a:solidFill>
                <a:latin typeface="DejaVu Sans Mono"/>
                <a:ea typeface="DejaVu Sans Mono"/>
                <a:cs typeface="DejaVu Sans Mono"/>
              </a:defRPr>
            </a:pPr>
            <a:r>
              <a:rPr sz="1875" b="0">
                <a:solidFill>
                  <a:srgbClr val="E3E8EF"/>
                </a:solidFill>
                <a:latin typeface="DejaVu Sans Mono"/>
                <a:ea typeface="DejaVu Sans Mono"/>
                <a:cs typeface="DejaVu Sans Mono"/>
              </a:rPr>
              <a:t>}</a:t>
            </a:r>
          </a:p>
        </p:txBody>
      </p:sp>
      <p:sp>
        <p:nvSpPr>
          <p:cNvPr id="3" name="point-number-0">
            <a:extLst xmlns:a="http://schemas.openxmlformats.org/drawingml/2006/main">
              <a:ext uri="{FF2B5EF4-FFF2-40B4-BE49-F238E27FC236}">
                <a16:creationId xmlns:a16="http://schemas.microsoft.com/office/drawing/2014/main" id="{8F3F9BE8-ECFB-4C19-A857-DC55B12741A2}"/>
              </a:ext>
            </a:extLst>
          </p:cNvPr>
          <p:cNvSpPr>
            <a:spLocks xmlns:a="http://schemas.openxmlformats.org/drawingml/2006/main" noGrp="1"/>
          </p:cNvSpPr>
          <p:nvPr/>
        </p:nvSpPr>
        <p:spPr>
          <a:xfrm xmlns:a="http://schemas.openxmlformats.org/drawingml/2006/main">
            <a:off x="10477500" y="20383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01</a:t>
            </a:r>
          </a:p>
        </p:txBody>
      </p:sp>
      <p:sp>
        <p:nvSpPr>
          <p:cNvPr id="4" name="point-0">
            <a:extLst xmlns:a="http://schemas.openxmlformats.org/drawingml/2006/main">
              <a:ext uri="{FF2B5EF4-FFF2-40B4-BE49-F238E27FC236}">
                <a16:creationId xmlns:a16="http://schemas.microsoft.com/office/drawing/2014/main" id="{2B38B419-6F1D-406D-AACB-6FCC731B901E}"/>
              </a:ext>
            </a:extLst>
          </p:cNvPr>
          <p:cNvSpPr>
            <a:spLocks xmlns:a="http://schemas.openxmlformats.org/drawingml/2006/main" noGrp="1"/>
          </p:cNvSpPr>
          <p:nvPr/>
        </p:nvSpPr>
        <p:spPr>
          <a:xfrm xmlns:a="http://schemas.openxmlformats.org/drawingml/2006/main">
            <a:off x="10477500" y="24193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CSS Grid mengatur katalog serta detail produk</a:t>
            </a:r>
          </a:p>
        </p:txBody>
      </p:sp>
      <p:sp>
        <p:nvSpPr>
          <p:cNvPr id="5" name="point-number-1">
            <a:extLst xmlns:a="http://schemas.openxmlformats.org/drawingml/2006/main">
              <a:ext uri="{FF2B5EF4-FFF2-40B4-BE49-F238E27FC236}">
                <a16:creationId xmlns:a16="http://schemas.microsoft.com/office/drawing/2014/main" id="{BAD19292-77D0-4D70-8F59-41B4784D3549}"/>
              </a:ext>
            </a:extLst>
          </p:cNvPr>
          <p:cNvSpPr>
            <a:spLocks xmlns:a="http://schemas.openxmlformats.org/drawingml/2006/main" noGrp="1"/>
          </p:cNvSpPr>
          <p:nvPr/>
        </p:nvSpPr>
        <p:spPr>
          <a:xfrm xmlns:a="http://schemas.openxmlformats.org/drawingml/2006/main">
            <a:off x="10477500" y="34671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02</a:t>
            </a:r>
          </a:p>
        </p:txBody>
      </p:sp>
      <p:sp>
        <p:nvSpPr>
          <p:cNvPr id="6" name="point-1">
            <a:extLst xmlns:a="http://schemas.openxmlformats.org/drawingml/2006/main">
              <a:ext uri="{FF2B5EF4-FFF2-40B4-BE49-F238E27FC236}">
                <a16:creationId xmlns:a16="http://schemas.microsoft.com/office/drawing/2014/main" id="{FE540F1B-25E5-406A-BFBD-E08FF6E01C81}"/>
              </a:ext>
            </a:extLst>
          </p:cNvPr>
          <p:cNvSpPr>
            <a:spLocks xmlns:a="http://schemas.openxmlformats.org/drawingml/2006/main" noGrp="1"/>
          </p:cNvSpPr>
          <p:nvPr/>
        </p:nvSpPr>
        <p:spPr>
          <a:xfrm xmlns:a="http://schemas.openxmlformats.org/drawingml/2006/main">
            <a:off x="10477500" y="38481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Media query mengubah layout pada layar kecil</a:t>
            </a:r>
          </a:p>
        </p:txBody>
      </p:sp>
      <p:sp>
        <p:nvSpPr>
          <p:cNvPr id="7" name="point-number-2">
            <a:extLst xmlns:a="http://schemas.openxmlformats.org/drawingml/2006/main">
              <a:ext uri="{FF2B5EF4-FFF2-40B4-BE49-F238E27FC236}">
                <a16:creationId xmlns:a16="http://schemas.microsoft.com/office/drawing/2014/main" id="{F8241FFB-5B1C-4250-9CC6-20CC9C144B2E}"/>
              </a:ext>
            </a:extLst>
          </p:cNvPr>
          <p:cNvSpPr>
            <a:spLocks xmlns:a="http://schemas.openxmlformats.org/drawingml/2006/main" noGrp="1"/>
          </p:cNvSpPr>
          <p:nvPr/>
        </p:nvSpPr>
        <p:spPr>
          <a:xfrm xmlns:a="http://schemas.openxmlformats.org/drawingml/2006/main">
            <a:off x="10477500" y="48958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03</a:t>
            </a:r>
          </a:p>
        </p:txBody>
      </p:sp>
      <p:sp>
        <p:nvSpPr>
          <p:cNvPr id="8" name="point-2">
            <a:extLst xmlns:a="http://schemas.openxmlformats.org/drawingml/2006/main">
              <a:ext uri="{FF2B5EF4-FFF2-40B4-BE49-F238E27FC236}">
                <a16:creationId xmlns:a16="http://schemas.microsoft.com/office/drawing/2014/main" id="{BD05745C-1359-4224-8695-4D1F7E3BE925}"/>
              </a:ext>
            </a:extLst>
          </p:cNvPr>
          <p:cNvSpPr>
            <a:spLocks xmlns:a="http://schemas.openxmlformats.org/drawingml/2006/main" noGrp="1"/>
          </p:cNvSpPr>
          <p:nvPr/>
        </p:nvSpPr>
        <p:spPr>
          <a:xfrm xmlns:a="http://schemas.openxmlformats.org/drawingml/2006/main">
            <a:off x="10477500" y="527685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Focus-visible membantu navigasi keyboard</a:t>
            </a:r>
          </a:p>
        </p:txBody>
      </p:sp>
      <p:sp>
        <p:nvSpPr>
          <p:cNvPr id="9" name="point-number-3">
            <a:extLst xmlns:a="http://schemas.openxmlformats.org/drawingml/2006/main">
              <a:ext uri="{FF2B5EF4-FFF2-40B4-BE49-F238E27FC236}">
                <a16:creationId xmlns:a16="http://schemas.microsoft.com/office/drawing/2014/main" id="{D9472C2F-2148-4A7A-808A-33A116181B09}"/>
              </a:ext>
            </a:extLst>
          </p:cNvPr>
          <p:cNvSpPr>
            <a:spLocks xmlns:a="http://schemas.openxmlformats.org/drawingml/2006/main" noGrp="1"/>
          </p:cNvSpPr>
          <p:nvPr/>
        </p:nvSpPr>
        <p:spPr>
          <a:xfrm xmlns:a="http://schemas.openxmlformats.org/drawingml/2006/main">
            <a:off x="10477500" y="63246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E35050"/>
                </a:solidFill>
                <a:latin typeface="DejaVu Sans"/>
                <a:ea typeface="DejaVu Sans"/>
                <a:cs typeface="DejaVu Sans"/>
              </a:defRPr>
            </a:defPPr>
          </a:lstStyle>
          <a:p xmlns:a="http://schemas.openxmlformats.org/drawingml/2006/main">
            <a:pPr>
              <a:defRPr sz="1500" b="1">
                <a:solidFill>
                  <a:srgbClr val="E35050"/>
                </a:solidFill>
                <a:latin typeface="DejaVu Sans"/>
                <a:ea typeface="DejaVu Sans"/>
                <a:cs typeface="DejaVu Sans"/>
              </a:defRPr>
            </a:pPr>
            <a:r>
              <a:rPr sz="1500" b="1">
                <a:solidFill>
                  <a:srgbClr val="E35050"/>
                </a:solidFill>
                <a:latin typeface="DejaVu Sans"/>
                <a:ea typeface="DejaVu Sans"/>
                <a:cs typeface="DejaVu Sans"/>
              </a:rPr>
              <a:t>04</a:t>
            </a:r>
          </a:p>
        </p:txBody>
      </p:sp>
      <p:sp>
        <p:nvSpPr>
          <p:cNvPr id="10" name="point-3">
            <a:extLst xmlns:a="http://schemas.openxmlformats.org/drawingml/2006/main">
              <a:ext uri="{FF2B5EF4-FFF2-40B4-BE49-F238E27FC236}">
                <a16:creationId xmlns:a16="http://schemas.microsoft.com/office/drawing/2014/main" id="{64EB38B6-2FAE-443F-A29B-5BC35E781970}"/>
              </a:ext>
            </a:extLst>
          </p:cNvPr>
          <p:cNvSpPr>
            <a:spLocks xmlns:a="http://schemas.openxmlformats.org/drawingml/2006/main" noGrp="1"/>
          </p:cNvSpPr>
          <p:nvPr/>
        </p:nvSpPr>
        <p:spPr>
          <a:xfrm xmlns:a="http://schemas.openxmlformats.org/drawingml/2006/main">
            <a:off x="10477500" y="6705600"/>
            <a:ext cx="4000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D8DADD"/>
                </a:solidFill>
                <a:latin typeface="DejaVu Sans"/>
                <a:ea typeface="DejaVu Sans"/>
                <a:cs typeface="DejaVu Sans"/>
              </a:defRPr>
            </a:defPPr>
          </a:lstStyle>
          <a:p xmlns:a="http://schemas.openxmlformats.org/drawingml/2006/main">
            <a:pPr>
              <a:defRPr sz="2025" b="0">
                <a:solidFill>
                  <a:srgbClr val="D8DADD"/>
                </a:solidFill>
                <a:latin typeface="DejaVu Sans"/>
                <a:ea typeface="DejaVu Sans"/>
                <a:cs typeface="DejaVu Sans"/>
              </a:defRPr>
            </a:pPr>
            <a:r>
              <a:rPr sz="2025" b="0">
                <a:solidFill>
                  <a:srgbClr val="D8DADD"/>
                </a:solidFill>
                <a:latin typeface="DejaVu Sans"/>
                <a:ea typeface="DejaVu Sans"/>
                <a:cs typeface="DejaVu Sans"/>
              </a:rPr>
              <a:t>JavaScript hanya mengubah tampilan password</a:t>
            </a:r>
          </a:p>
        </p:txBody>
      </p:sp>
      <p:sp>
        <p:nvSpPr>
          <p:cNvPr id="11" name="code-disclosure">
            <a:extLst xmlns:a="http://schemas.openxmlformats.org/drawingml/2006/main">
              <a:ext uri="{FF2B5EF4-FFF2-40B4-BE49-F238E27FC236}">
                <a16:creationId xmlns:a16="http://schemas.microsoft.com/office/drawing/2014/main" id="{E572B3C7-F296-4506-B429-DCDEF3D085BB}"/>
              </a:ext>
            </a:extLst>
          </p:cNvPr>
          <p:cNvSpPr>
            <a:spLocks xmlns:a="http://schemas.openxmlformats.org/drawingml/2006/main" noGrp="1"/>
          </p:cNvSpPr>
          <p:nvPr/>
        </p:nvSpPr>
        <p:spPr>
          <a:xfrm xmlns:a="http://schemas.openxmlformats.org/drawingml/2006/main">
            <a:off x="762000" y="7534275"/>
            <a:ext cx="1295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Cuplikan dirapikan atau dipadatkan. Lokasi source tercantum di bawah.</a:t>
            </a:r>
          </a:p>
        </p:txBody>
      </p:sp>
      <p:sp>
        <p:nvSpPr>
          <p:cNvPr id="12" name="source-label">
            <a:extLst xmlns:a="http://schemas.openxmlformats.org/drawingml/2006/main">
              <a:ext uri="{FF2B5EF4-FFF2-40B4-BE49-F238E27FC236}">
                <a16:creationId xmlns:a16="http://schemas.microsoft.com/office/drawing/2014/main" id="{4CAEB7B0-E2D3-412B-A61B-2F7C9EDC2F45}"/>
              </a:ext>
            </a:extLst>
          </p:cNvPr>
          <p:cNvSpPr>
            <a:spLocks xmlns:a="http://schemas.openxmlformats.org/drawingml/2006/main" noGrp="1"/>
          </p:cNvSpPr>
          <p:nvPr/>
        </p:nvSpPr>
        <p:spPr>
          <a:xfrm xmlns:a="http://schemas.openxmlformats.org/drawingml/2006/main">
            <a:off x="762000" y="7981950"/>
            <a:ext cx="1266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5B7BB"/>
                </a:solidFill>
                <a:latin typeface="DejaVu Sans"/>
                <a:ea typeface="DejaVu Sans"/>
                <a:cs typeface="DejaVu Sans"/>
              </a:defRPr>
            </a:defPPr>
          </a:lstStyle>
          <a:p xmlns:a="http://schemas.openxmlformats.org/drawingml/2006/main">
            <a:pPr>
              <a:defRPr sz="1275" b="0">
                <a:solidFill>
                  <a:srgbClr val="B5B7BB"/>
                </a:solidFill>
                <a:latin typeface="DejaVu Sans"/>
                <a:ea typeface="DejaVu Sans"/>
                <a:cs typeface="DejaVu Sans"/>
              </a:defRPr>
            </a:pPr>
            <a:r>
              <a:rPr sz="1275" b="0">
                <a:solidFill>
                  <a:srgbClr val="B5B7BB"/>
                </a:solidFill>
                <a:latin typeface="DejaVu Sans"/>
                <a:ea typeface="DejaVu Sans"/>
                <a:cs typeface="DejaVu Sans"/>
              </a:rPr>
              <a:t>Source: assets/style.css; assets/app.js</a:t>
            </a:r>
          </a:p>
        </p:txBody>
      </p:sp>
      <p:sp>
        <p:nvSpPr>
          <p:cNvPr id="13" name="page-number">
            <a:extLst xmlns:a="http://schemas.openxmlformats.org/drawingml/2006/main">
              <a:ext uri="{FF2B5EF4-FFF2-40B4-BE49-F238E27FC236}">
                <a16:creationId xmlns:a16="http://schemas.microsoft.com/office/drawing/2014/main" id="{E9FDC2EB-FF7E-4947-8A44-C92A8C90DDC6}"/>
              </a:ext>
            </a:extLst>
          </p:cNvPr>
          <p:cNvSpPr>
            <a:spLocks xmlns:a="http://schemas.openxmlformats.org/drawingml/2006/main" noGrp="1"/>
          </p:cNvSpPr>
          <p:nvPr/>
        </p:nvSpPr>
        <p:spPr>
          <a:xfrm xmlns:a="http://schemas.openxmlformats.org/drawingml/2006/main">
            <a:off x="14097000" y="79819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888888"/>
                </a:solidFill>
                <a:latin typeface="DejaVu Sans"/>
                <a:ea typeface="DejaVu Sans"/>
                <a:cs typeface="DejaVu Sans"/>
              </a:defRPr>
            </a:defPPr>
          </a:lstStyle>
          <a:p xmlns:a="http://schemas.openxmlformats.org/drawingml/2006/main">
            <a:pPr>
              <a:defRPr sz="1350" b="0">
                <a:solidFill>
                  <a:srgbClr val="888888"/>
                </a:solidFill>
                <a:latin typeface="DejaVu Sans"/>
                <a:ea typeface="DejaVu Sans"/>
                <a:cs typeface="DejaVu Sans"/>
              </a:defRPr>
            </a:pPr>
            <a:r>
              <a:rPr sz="1350" b="0">
                <a:solidFill>
                  <a:srgbClr val="888888"/>
                </a:solidFill>
                <a:latin typeface="DejaVu Sans"/>
                <a:ea typeface="DejaVu Sans"/>
                <a:cs typeface="DejaVu Sans"/>
              </a:rPr>
              <a:t>25</a:t>
            </a:r>
          </a:p>
        </p:txBody>
      </p:sp>
    </p:spTree>
    <p:extLst>
      <p:ext uri="{BB962C8B-B14F-4D97-AF65-F5344CB8AC3E}">
        <p14:creationId xmlns:p14="http://schemas.microsoft.com/office/powerpoint/2010/main" val="143471111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AA5848B-4FED-4B4D-A642-43643D422CB8}"/>
              </a:ext>
            </a:extLst>
          </p:cNvPr>
          <p:cNvSpPr>
            <a:spLocks xmlns:a="http://schemas.openxmlformats.org/drawingml/2006/main" noGrp="1"/>
          </p:cNvSpPr>
          <p:nvPr/>
        </p:nvSpPr>
        <p:spPr>
          <a:xfrm xmlns:a="http://schemas.openxmlformats.org/drawingml/2006/main">
            <a:off x="762000" y="609600"/>
            <a:ext cx="1371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111111"/>
                </a:solidFill>
                <a:latin typeface="DejaVu Sans"/>
                <a:ea typeface="DejaVu Sans"/>
                <a:cs typeface="DejaVu Sans"/>
              </a:defRPr>
            </a:defPPr>
          </a:lstStyle>
          <a:p xmlns:a="http://schemas.openxmlformats.org/drawingml/2006/main">
            <a:pPr>
              <a:defRPr sz="3600" b="1">
                <a:solidFill>
                  <a:srgbClr val="111111"/>
                </a:solidFill>
                <a:latin typeface="DejaVu Sans"/>
                <a:ea typeface="DejaVu Sans"/>
                <a:cs typeface="DejaVu Sans"/>
              </a:defRPr>
            </a:pPr>
            <a:r>
              <a:rPr sz="3600" b="1">
                <a:solidFill>
                  <a:srgbClr val="111111"/>
                </a:solidFill>
                <a:latin typeface="DejaVu Sans"/>
                <a:ea typeface="DejaVu Sans"/>
                <a:cs typeface="DejaVu Sans"/>
              </a:rPr>
              <a:t>Penerapan materi pertemuan 1-7</a:t>
            </a:r>
          </a:p>
        </p:txBody>
      </p:sp>
      <p:graphicFrame>
        <p:nvGraphicFramePr>
          <p:cNvPr id="2" name="">
            <a:extLst xmlns:a="http://schemas.openxmlformats.org/drawingml/2006/main">
              <a:ext uri="{FF2B5EF4-FFF2-40B4-BE49-F238E27FC236}">
                <a16:creationId xmlns:a16="http://schemas.microsoft.com/office/drawing/2014/main" id="{EDCB9DB5-B1F2-4672-A6D6-A6CF8AE7EC0C}"/>
              </a:ext>
            </a:extLst>
          </p:cNvPr>
          <p:cNvGraphicFramePr/>
          <p:nvPr/>
        </p:nvGraphicFramePr>
        <p:xfrm>
          <a:off xmlns:a="http://schemas.openxmlformats.org/drawingml/2006/main" x="762000" y="1857375"/>
          <a:ext xmlns:a="http://schemas.openxmlformats.org/drawingml/2006/main" cx="13716000" cy="6096000"/>
        </p:xfrm>
        <a:graphic xmlns:a="http://schemas.openxmlformats.org/drawingml/2006/main">
          <a:graphicData uri="http://schemas.openxmlformats.org/drawingml/2006/table">
            <a:tbl>
              <a:tblPr/>
              <a:tblGrid>
                <a:gridCol w="4476750"/>
                <a:gridCol w="9239250"/>
              </a:tblGrid>
              <a:tr h="762000">
                <a:tc>
                  <a:txBody>
                    <a:bodyPr wrap="square" lIns="133350" tIns="133350" rIns="133350" bIns="133350"/>
                    <a:lstStyle/>
                    <a:p>
                      <a:r>
                        <a:rPr sz="1725" b="1">
                          <a:solidFill>
                            <a:srgbClr val="FFFFFF"/>
                          </a:solidFill>
                          <a:latin typeface="DejaVu Sans"/>
                          <a:ea typeface="DejaVu Sans"/>
                          <a:cs typeface="DejaVu Sans"/>
                        </a:rPr>
                        <a:t>Pertemuan</a:t>
                      </a:r>
                    </a:p>
                  </a:txBody>
                  <a:tcPr marL="91440" marR="91440" marT="45720" marB="45720" anchor="ctr">
                    <a:lnL w="9525">
                      <a:solidFill>
                        <a:srgbClr val="DEDEDE"/>
                      </a:solidFill>
                      <a:prstDash val="solid"/>
                    </a:lnL>
                    <a:lnR w="9525">
                      <a:solidFill>
                        <a:srgbClr val="DEDEDE"/>
                      </a:solidFill>
                      <a:prstDash val="solid"/>
                    </a:lnR>
                    <a:lnT w="9525">
                      <a:solidFill>
                        <a:srgbClr val="DEDEDE"/>
                      </a:solidFill>
                      <a:prstDash val="solid"/>
                    </a:lnT>
                    <a:lnB w="9525">
                      <a:solidFill>
                        <a:srgbClr val="DEDEDE"/>
                      </a:solidFill>
                      <a:prstDash val="solid"/>
                    </a:lnB>
                    <a:solidFill>
                      <a:srgbClr val="111111"/>
                    </a:solidFill>
                  </a:tcPr>
                </a:tc>
                <a:tc>
                  <a:txBody>
                    <a:bodyPr wrap="square" lIns="133350" tIns="133350" rIns="133350" bIns="133350"/>
                    <a:lstStyle/>
                    <a:p>
                      <a:r>
                        <a:rPr sz="1725" b="1">
                          <a:solidFill>
                            <a:srgbClr val="FFFFFF"/>
                          </a:solidFill>
                          <a:latin typeface="DejaVu Sans"/>
                          <a:ea typeface="DejaVu Sans"/>
                          <a:cs typeface="DejaVu Sans"/>
                        </a:rPr>
                        <a:t>Implementasi</a:t>
                      </a:r>
                    </a:p>
                  </a:txBody>
                  <a:tcPr marL="91440" marR="91440" marT="45720" marB="45720" anchor="ctr">
                    <a:lnR w="9525">
                      <a:solidFill>
                        <a:srgbClr val="DEDEDE"/>
                      </a:solidFill>
                      <a:prstDash val="solid"/>
                    </a:lnR>
                    <a:lnT w="9525">
                      <a:solidFill>
                        <a:srgbClr val="DEDEDE"/>
                      </a:solidFill>
                      <a:prstDash val="solid"/>
                    </a:lnT>
                    <a:lnB w="9525">
                      <a:solidFill>
                        <a:srgbClr val="DEDEDE"/>
                      </a:solidFill>
                      <a:prstDash val="solid"/>
                    </a:lnB>
                    <a:solidFill>
                      <a:srgbClr val="111111"/>
                    </a:solidFill>
                  </a:tcPr>
                </a:tc>
              </a:tr>
              <a:tr h="762000">
                <a:tc>
                  <a:txBody>
                    <a:bodyPr wrap="square" lIns="133350" tIns="133350" rIns="133350" bIns="133350"/>
                    <a:lstStyle/>
                    <a:p>
                      <a:r>
                        <a:rPr sz="1725" b="0">
                          <a:solidFill>
                            <a:srgbClr val="222222"/>
                          </a:solidFill>
                          <a:latin typeface="DejaVu Sans"/>
                          <a:ea typeface="DejaVu Sans"/>
                          <a:cs typeface="DejaVu Sans"/>
                        </a:rPr>
                        <a:t>1. Paradigma PHP</a:t>
                      </a:r>
                    </a:p>
                  </a:txBody>
                  <a:tcPr marL="91440" marR="91440" marT="45720" marB="45720" anchor="ctr">
                    <a:lnL w="9525">
                      <a:solidFill>
                        <a:srgbClr val="DEDEDE"/>
                      </a:solidFill>
                      <a:prstDash val="solid"/>
                    </a:lnL>
                    <a:lnR w="9525">
                      <a:solidFill>
                        <a:srgbClr val="DEDEDE"/>
                      </a:solidFill>
                      <a:prstDash val="solid"/>
                    </a:lnR>
                    <a:lnB w="9525">
                      <a:solidFill>
                        <a:srgbClr val="DEDEDE"/>
                      </a:solidFill>
                      <a:prstDash val="solid"/>
                    </a:lnB>
                    <a:solidFill>
                      <a:srgbClr val="FFFFFF"/>
                    </a:solidFill>
                  </a:tcPr>
                </a:tc>
                <a:tc>
                  <a:txBody>
                    <a:bodyPr wrap="square" lIns="133350" tIns="133350" rIns="133350" bIns="133350"/>
                    <a:lstStyle/>
                    <a:p>
                      <a:r>
                        <a:rPr sz="1725" b="0">
                          <a:solidFill>
                            <a:srgbClr val="222222"/>
                          </a:solidFill>
                          <a:latin typeface="DejaVu Sans"/>
                          <a:ea typeface="DejaVu Sans"/>
                          <a:cs typeface="DejaVu Sans"/>
                        </a:rPr>
                        <a:t>PHP server-side dan HTML dinamis</a:t>
                      </a:r>
                    </a:p>
                  </a:txBody>
                  <a:tcPr marL="91440" marR="91440" marT="45720" marB="45720" anchor="ctr">
                    <a:lnR w="9525">
                      <a:solidFill>
                        <a:srgbClr val="DEDEDE"/>
                      </a:solidFill>
                      <a:prstDash val="solid"/>
                    </a:lnR>
                    <a:lnB w="9525">
                      <a:solidFill>
                        <a:srgbClr val="DEDEDE"/>
                      </a:solidFill>
                      <a:prstDash val="solid"/>
                    </a:lnB>
                    <a:solidFill>
                      <a:srgbClr val="FFFFFF"/>
                    </a:solidFill>
                  </a:tcPr>
                </a:tc>
              </a:tr>
              <a:tr h="762000">
                <a:tc>
                  <a:txBody>
                    <a:bodyPr wrap="square" lIns="133350" tIns="133350" rIns="133350" bIns="133350"/>
                    <a:lstStyle/>
                    <a:p>
                      <a:r>
                        <a:rPr sz="1725" b="0">
                          <a:solidFill>
                            <a:srgbClr val="222222"/>
                          </a:solidFill>
                          <a:latin typeface="DejaVu Sans"/>
                          <a:ea typeface="DejaVu Sans"/>
                          <a:cs typeface="DejaVu Sans"/>
                        </a:rPr>
                        <a:t>2. Procedural / OOP</a:t>
                      </a:r>
                    </a:p>
                  </a:txBody>
                  <a:tcPr marL="91440" marR="91440" marT="45720" marB="45720" anchor="ctr">
                    <a:lnL w="9525">
                      <a:solidFill>
                        <a:srgbClr val="DEDEDE"/>
                      </a:solidFill>
                      <a:prstDash val="solid"/>
                    </a:lnL>
                    <a:lnR w="9525">
                      <a:solidFill>
                        <a:srgbClr val="DEDEDE"/>
                      </a:solidFill>
                      <a:prstDash val="solid"/>
                    </a:lnR>
                    <a:lnB w="9525">
                      <a:solidFill>
                        <a:srgbClr val="DEDEDE"/>
                      </a:solidFill>
                      <a:prstDash val="solid"/>
                    </a:lnB>
                    <a:solidFill>
                      <a:srgbClr val="F4F4F2"/>
                    </a:solidFill>
                  </a:tcPr>
                </a:tc>
                <a:tc>
                  <a:txBody>
                    <a:bodyPr wrap="square" lIns="133350" tIns="133350" rIns="133350" bIns="133350"/>
                    <a:lstStyle/>
                    <a:p>
                      <a:r>
                        <a:rPr sz="1725" b="0">
                          <a:solidFill>
                            <a:srgbClr val="222222"/>
                          </a:solidFill>
                          <a:latin typeface="DejaVu Sans"/>
                          <a:ea typeface="DejaVu Sans"/>
                          <a:cs typeface="DejaVu Sans"/>
                        </a:rPr>
                        <a:t>Fungsi prosedural dan include modular</a:t>
                      </a:r>
                    </a:p>
                  </a:txBody>
                  <a:tcPr marL="91440" marR="91440" marT="45720" marB="45720" anchor="ctr">
                    <a:lnR w="9525">
                      <a:solidFill>
                        <a:srgbClr val="DEDEDE"/>
                      </a:solidFill>
                      <a:prstDash val="solid"/>
                    </a:lnR>
                    <a:lnB w="9525">
                      <a:solidFill>
                        <a:srgbClr val="DEDEDE"/>
                      </a:solidFill>
                      <a:prstDash val="solid"/>
                    </a:lnB>
                    <a:solidFill>
                      <a:srgbClr val="F4F4F2"/>
                    </a:solidFill>
                  </a:tcPr>
                </a:tc>
              </a:tr>
              <a:tr h="762000">
                <a:tc>
                  <a:txBody>
                    <a:bodyPr wrap="square" lIns="133350" tIns="133350" rIns="133350" bIns="133350"/>
                    <a:lstStyle/>
                    <a:p>
                      <a:r>
                        <a:rPr sz="1725" b="0">
                          <a:solidFill>
                            <a:srgbClr val="222222"/>
                          </a:solidFill>
                          <a:latin typeface="DejaVu Sans"/>
                          <a:ea typeface="DejaVu Sans"/>
                          <a:cs typeface="DejaVu Sans"/>
                        </a:rPr>
                        <a:t>3. Tipe data / variabel</a:t>
                      </a:r>
                    </a:p>
                  </a:txBody>
                  <a:tcPr marL="91440" marR="91440" marT="45720" marB="45720" anchor="ctr">
                    <a:lnL w="9525">
                      <a:solidFill>
                        <a:srgbClr val="DEDEDE"/>
                      </a:solidFill>
                      <a:prstDash val="solid"/>
                    </a:lnL>
                    <a:lnR w="9525">
                      <a:solidFill>
                        <a:srgbClr val="DEDEDE"/>
                      </a:solidFill>
                      <a:prstDash val="solid"/>
                    </a:lnR>
                    <a:lnB w="9525">
                      <a:solidFill>
                        <a:srgbClr val="DEDEDE"/>
                      </a:solidFill>
                      <a:prstDash val="solid"/>
                    </a:lnB>
                    <a:solidFill>
                      <a:srgbClr val="FFFFFF"/>
                    </a:solidFill>
                  </a:tcPr>
                </a:tc>
                <a:tc>
                  <a:txBody>
                    <a:bodyPr wrap="square" lIns="133350" tIns="133350" rIns="133350" bIns="133350"/>
                    <a:lstStyle/>
                    <a:p>
                      <a:r>
                        <a:rPr sz="1725" b="0">
                          <a:solidFill>
                            <a:srgbClr val="222222"/>
                          </a:solidFill>
                          <a:latin typeface="DejaVu Sans"/>
                          <a:ea typeface="DejaVu Sans"/>
                          <a:cs typeface="DejaVu Sans"/>
                        </a:rPr>
                        <a:t>Array produk, boolean, integer, konstanta</a:t>
                      </a:r>
                    </a:p>
                  </a:txBody>
                  <a:tcPr marL="91440" marR="91440" marT="45720" marB="45720" anchor="ctr">
                    <a:lnR w="9525">
                      <a:solidFill>
                        <a:srgbClr val="DEDEDE"/>
                      </a:solidFill>
                      <a:prstDash val="solid"/>
                    </a:lnR>
                    <a:lnB w="9525">
                      <a:solidFill>
                        <a:srgbClr val="DEDEDE"/>
                      </a:solidFill>
                      <a:prstDash val="solid"/>
                    </a:lnB>
                    <a:solidFill>
                      <a:srgbClr val="FFFFFF"/>
                    </a:solidFill>
                  </a:tcPr>
                </a:tc>
              </a:tr>
              <a:tr h="762000">
                <a:tc>
                  <a:txBody>
                    <a:bodyPr wrap="square" lIns="133350" tIns="133350" rIns="133350" bIns="133350"/>
                    <a:lstStyle/>
                    <a:p>
                      <a:r>
                        <a:rPr sz="1725" b="0">
                          <a:solidFill>
                            <a:srgbClr val="222222"/>
                          </a:solidFill>
                          <a:latin typeface="DejaVu Sans"/>
                          <a:ea typeface="DejaVu Sans"/>
                          <a:cs typeface="DejaVu Sans"/>
                        </a:rPr>
                        <a:t>4. Operator / string</a:t>
                      </a:r>
                    </a:p>
                  </a:txBody>
                  <a:tcPr marL="91440" marR="91440" marT="45720" marB="45720" anchor="ctr">
                    <a:lnL w="9525">
                      <a:solidFill>
                        <a:srgbClr val="DEDEDE"/>
                      </a:solidFill>
                      <a:prstDash val="solid"/>
                    </a:lnL>
                    <a:lnR w="9525">
                      <a:solidFill>
                        <a:srgbClr val="DEDEDE"/>
                      </a:solidFill>
                      <a:prstDash val="solid"/>
                    </a:lnR>
                    <a:lnB w="9525">
                      <a:solidFill>
                        <a:srgbClr val="DEDEDE"/>
                      </a:solidFill>
                      <a:prstDash val="solid"/>
                    </a:lnB>
                    <a:solidFill>
                      <a:srgbClr val="F4F4F2"/>
                    </a:solidFill>
                  </a:tcPr>
                </a:tc>
                <a:tc>
                  <a:txBody>
                    <a:bodyPr wrap="square" lIns="133350" tIns="133350" rIns="133350" bIns="133350"/>
                    <a:lstStyle/>
                    <a:p>
                      <a:r>
                        <a:rPr sz="1725" b="0">
                          <a:solidFill>
                            <a:srgbClr val="222222"/>
                          </a:solidFill>
                          <a:latin typeface="DejaVu Sans"/>
                          <a:ea typeface="DejaVu Sans"/>
                          <a:cs typeface="DejaVu Sans"/>
                        </a:rPr>
                        <a:t>Subtotal, diskon, trim, stripos, escaping</a:t>
                      </a:r>
                    </a:p>
                  </a:txBody>
                  <a:tcPr marL="91440" marR="91440" marT="45720" marB="45720" anchor="ctr">
                    <a:lnR w="9525">
                      <a:solidFill>
                        <a:srgbClr val="DEDEDE"/>
                      </a:solidFill>
                      <a:prstDash val="solid"/>
                    </a:lnR>
                    <a:lnB w="9525">
                      <a:solidFill>
                        <a:srgbClr val="DEDEDE"/>
                      </a:solidFill>
                      <a:prstDash val="solid"/>
                    </a:lnB>
                    <a:solidFill>
                      <a:srgbClr val="F4F4F2"/>
                    </a:solidFill>
                  </a:tcPr>
                </a:tc>
              </a:tr>
              <a:tr h="762000">
                <a:tc>
                  <a:txBody>
                    <a:bodyPr wrap="square" lIns="133350" tIns="133350" rIns="133350" bIns="133350"/>
                    <a:lstStyle/>
                    <a:p>
                      <a:r>
                        <a:rPr sz="1725" b="0">
                          <a:solidFill>
                            <a:srgbClr val="222222"/>
                          </a:solidFill>
                          <a:latin typeface="DejaVu Sans"/>
                          <a:ea typeface="DejaVu Sans"/>
                          <a:cs typeface="DejaVu Sans"/>
                        </a:rPr>
                        <a:t>5. WHILE</a:t>
                      </a:r>
                    </a:p>
                  </a:txBody>
                  <a:tcPr marL="91440" marR="91440" marT="45720" marB="45720" anchor="ctr">
                    <a:lnL w="9525">
                      <a:solidFill>
                        <a:srgbClr val="DEDEDE"/>
                      </a:solidFill>
                      <a:prstDash val="solid"/>
                    </a:lnL>
                    <a:lnR w="9525">
                      <a:solidFill>
                        <a:srgbClr val="DEDEDE"/>
                      </a:solidFill>
                      <a:prstDash val="solid"/>
                    </a:lnR>
                    <a:lnB w="9525">
                      <a:solidFill>
                        <a:srgbClr val="DEDEDE"/>
                      </a:solidFill>
                      <a:prstDash val="solid"/>
                    </a:lnB>
                    <a:solidFill>
                      <a:srgbClr val="FFFFFF"/>
                    </a:solidFill>
                  </a:tcPr>
                </a:tc>
                <a:tc>
                  <a:txBody>
                    <a:bodyPr wrap="square" lIns="133350" tIns="133350" rIns="133350" bIns="133350"/>
                    <a:lstStyle/>
                    <a:p>
                      <a:r>
                        <a:rPr sz="1725" b="0">
                          <a:solidFill>
                            <a:srgbClr val="222222"/>
                          </a:solidFill>
                          <a:latin typeface="DejaVu Sans"/>
                          <a:ea typeface="DejaVu Sans"/>
                          <a:cs typeface="DejaVu Sans"/>
                        </a:rPr>
                        <a:t>cartRows membaca varian keranjang</a:t>
                      </a:r>
                    </a:p>
                  </a:txBody>
                  <a:tcPr marL="91440" marR="91440" marT="45720" marB="45720" anchor="ctr">
                    <a:lnR w="9525">
                      <a:solidFill>
                        <a:srgbClr val="DEDEDE"/>
                      </a:solidFill>
                      <a:prstDash val="solid"/>
                    </a:lnR>
                    <a:lnB w="9525">
                      <a:solidFill>
                        <a:srgbClr val="DEDEDE"/>
                      </a:solidFill>
                      <a:prstDash val="solid"/>
                    </a:lnB>
                    <a:solidFill>
                      <a:srgbClr val="FFFFFF"/>
                    </a:solidFill>
                  </a:tcPr>
                </a:tc>
              </a:tr>
              <a:tr h="762000">
                <a:tc>
                  <a:txBody>
                    <a:bodyPr wrap="square" lIns="133350" tIns="133350" rIns="133350" bIns="133350"/>
                    <a:lstStyle/>
                    <a:p>
                      <a:r>
                        <a:rPr sz="1725" b="0">
                          <a:solidFill>
                            <a:srgbClr val="222222"/>
                          </a:solidFill>
                          <a:latin typeface="DejaVu Sans"/>
                          <a:ea typeface="DejaVu Sans"/>
                          <a:cs typeface="DejaVu Sans"/>
                        </a:rPr>
                        <a:t>6. DO-WHILE</a:t>
                      </a:r>
                    </a:p>
                  </a:txBody>
                  <a:tcPr marL="91440" marR="91440" marT="45720" marB="45720" anchor="ctr">
                    <a:lnL w="9525">
                      <a:solidFill>
                        <a:srgbClr val="DEDEDE"/>
                      </a:solidFill>
                      <a:prstDash val="solid"/>
                    </a:lnL>
                    <a:lnR w="9525">
                      <a:solidFill>
                        <a:srgbClr val="DEDEDE"/>
                      </a:solidFill>
                      <a:prstDash val="solid"/>
                    </a:lnR>
                    <a:lnB w="9525">
                      <a:solidFill>
                        <a:srgbClr val="DEDEDE"/>
                      </a:solidFill>
                      <a:prstDash val="solid"/>
                    </a:lnB>
                    <a:solidFill>
                      <a:srgbClr val="F4F4F2"/>
                    </a:solidFill>
                  </a:tcPr>
                </a:tc>
                <a:tc>
                  <a:txBody>
                    <a:bodyPr wrap="square" lIns="133350" tIns="133350" rIns="133350" bIns="133350"/>
                    <a:lstStyle/>
                    <a:p>
                      <a:r>
                        <a:rPr sz="1725" b="0">
                          <a:solidFill>
                            <a:srgbClr val="222222"/>
                          </a:solidFill>
                          <a:latin typeface="DejaVu Sans"/>
                          <a:ea typeface="DejaVu Sans"/>
                          <a:cs typeface="DejaVu Sans"/>
                        </a:rPr>
                        <a:t>Pembuatan ulang kode order bila bentrok</a:t>
                      </a:r>
                    </a:p>
                  </a:txBody>
                  <a:tcPr marL="91440" marR="91440" marT="45720" marB="45720" anchor="ctr">
                    <a:lnR w="9525">
                      <a:solidFill>
                        <a:srgbClr val="DEDEDE"/>
                      </a:solidFill>
                      <a:prstDash val="solid"/>
                    </a:lnR>
                    <a:lnB w="9525">
                      <a:solidFill>
                        <a:srgbClr val="DEDEDE"/>
                      </a:solidFill>
                      <a:prstDash val="solid"/>
                    </a:lnB>
                    <a:solidFill>
                      <a:srgbClr val="F4F4F2"/>
                    </a:solidFill>
                  </a:tcPr>
                </a:tc>
              </a:tr>
              <a:tr h="762000">
                <a:tc>
                  <a:txBody>
                    <a:bodyPr wrap="square" lIns="133350" tIns="133350" rIns="133350" bIns="133350"/>
                    <a:lstStyle/>
                    <a:p>
                      <a:r>
                        <a:rPr sz="1725" b="0">
                          <a:solidFill>
                            <a:srgbClr val="222222"/>
                          </a:solidFill>
                          <a:latin typeface="DejaVu Sans"/>
                          <a:ea typeface="DejaVu Sans"/>
                          <a:cs typeface="DejaVu Sans"/>
                        </a:rPr>
                        <a:t>7. FOR</a:t>
                      </a:r>
                    </a:p>
                  </a:txBody>
                  <a:tcPr marL="91440" marR="91440" marT="45720" marB="45720" anchor="ctr">
                    <a:lnL w="9525">
                      <a:solidFill>
                        <a:srgbClr val="DEDEDE"/>
                      </a:solidFill>
                      <a:prstDash val="solid"/>
                    </a:lnL>
                    <a:lnR w="9525">
                      <a:solidFill>
                        <a:srgbClr val="DEDEDE"/>
                      </a:solidFill>
                      <a:prstDash val="solid"/>
                    </a:lnR>
                    <a:lnB w="9525">
                      <a:solidFill>
                        <a:srgbClr val="DEDEDE"/>
                      </a:solidFill>
                      <a:prstDash val="solid"/>
                    </a:lnB>
                    <a:solidFill>
                      <a:srgbClr val="FFFFFF"/>
                    </a:solidFill>
                  </a:tcPr>
                </a:tc>
                <a:tc>
                  <a:txBody>
                    <a:bodyPr wrap="square" lIns="133350" tIns="133350" rIns="133350" bIns="133350"/>
                    <a:lstStyle/>
                    <a:p>
                      <a:r>
                        <a:rPr sz="1725" b="0">
                          <a:solidFill>
                            <a:srgbClr val="222222"/>
                          </a:solidFill>
                          <a:latin typeface="DejaVu Sans"/>
                          <a:ea typeface="DejaVu Sans"/>
                          <a:cs typeface="DejaVu Sans"/>
                        </a:rPr>
                        <a:t>Katalog, total, laporan, nested loop</a:t>
                      </a:r>
                    </a:p>
                  </a:txBody>
                  <a:tcPr marL="91440" marR="91440" marT="45720" marB="45720" anchor="ctr">
                    <a:lnR w="9525">
                      <a:solidFill>
                        <a:srgbClr val="DEDEDE"/>
                      </a:solidFill>
                      <a:prstDash val="solid"/>
                    </a:lnR>
                    <a:lnB w="9525">
                      <a:solidFill>
                        <a:srgbClr val="DEDEDE"/>
                      </a:solidFill>
                      <a:prstDash val="solid"/>
                    </a:lnB>
                    <a:solidFill>
                      <a:srgbClr val="FFFFFF"/>
                    </a:solidFill>
                  </a:tcPr>
                </a:tc>
              </a:tr>
            </a:tbl>
          </a:graphicData>
        </a:graphic>
      </p:graphicFrame>
      <p:sp>
        <p:nvSpPr>
          <p:cNvPr id="3" name="source-label">
            <a:extLst xmlns:a="http://schemas.openxmlformats.org/drawingml/2006/main">
              <a:ext uri="{FF2B5EF4-FFF2-40B4-BE49-F238E27FC236}">
                <a16:creationId xmlns:a16="http://schemas.microsoft.com/office/drawing/2014/main" id="{8942AC6A-7832-4DE8-88E8-E08E48E4E9E0}"/>
              </a:ext>
            </a:extLst>
          </p:cNvPr>
          <p:cNvSpPr>
            <a:spLocks xmlns:a="http://schemas.openxmlformats.org/drawingml/2006/main" noGrp="1"/>
          </p:cNvSpPr>
          <p:nvPr/>
        </p:nvSpPr>
        <p:spPr>
          <a:xfrm xmlns:a="http://schemas.openxmlformats.org/drawingml/2006/main">
            <a:off x="762000" y="7981950"/>
            <a:ext cx="1266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62656A"/>
                </a:solidFill>
                <a:latin typeface="DejaVu Sans"/>
                <a:ea typeface="DejaVu Sans"/>
                <a:cs typeface="DejaVu Sans"/>
              </a:defRPr>
            </a:defPPr>
          </a:lstStyle>
          <a:p xmlns:a="http://schemas.openxmlformats.org/drawingml/2006/main">
            <a:pPr>
              <a:defRPr sz="1275" b="0">
                <a:solidFill>
                  <a:srgbClr val="62656A"/>
                </a:solidFill>
                <a:latin typeface="DejaVu Sans"/>
                <a:ea typeface="DejaVu Sans"/>
                <a:cs typeface="DejaVu Sans"/>
              </a:defRPr>
            </a:pPr>
            <a:r>
              <a:rPr sz="1275" b="0">
                <a:solidFill>
                  <a:srgbClr val="62656A"/>
                </a:solidFill>
                <a:latin typeface="DejaVu Sans"/>
                <a:ea typeface="DejaVu Sans"/>
                <a:cs typeface="DejaVu Sans"/>
              </a:rPr>
              <a:t>Source: Tujuh PDF PBW pengguna; source aplikasi</a:t>
            </a:r>
          </a:p>
        </p:txBody>
      </p:sp>
      <p:sp>
        <p:nvSpPr>
          <p:cNvPr id="4" name="page-number">
            <a:extLst xmlns:a="http://schemas.openxmlformats.org/drawingml/2006/main">
              <a:ext uri="{FF2B5EF4-FFF2-40B4-BE49-F238E27FC236}">
                <a16:creationId xmlns:a16="http://schemas.microsoft.com/office/drawing/2014/main" id="{912AA26F-3805-4AF3-83E7-EA090C902564}"/>
              </a:ext>
            </a:extLst>
          </p:cNvPr>
          <p:cNvSpPr>
            <a:spLocks xmlns:a="http://schemas.openxmlformats.org/drawingml/2006/main" noGrp="1"/>
          </p:cNvSpPr>
          <p:nvPr/>
        </p:nvSpPr>
        <p:spPr>
          <a:xfrm xmlns:a="http://schemas.openxmlformats.org/drawingml/2006/main">
            <a:off x="14097000" y="79819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777777"/>
                </a:solidFill>
                <a:latin typeface="DejaVu Sans"/>
                <a:ea typeface="DejaVu Sans"/>
                <a:cs typeface="DejaVu Sans"/>
              </a:defRPr>
            </a:defPPr>
          </a:lstStyle>
          <a:p xmlns:a="http://schemas.openxmlformats.org/drawingml/2006/main">
            <a:pPr>
              <a:defRPr sz="1350" b="0">
                <a:solidFill>
                  <a:srgbClr val="777777"/>
                </a:solidFill>
                <a:latin typeface="DejaVu Sans"/>
                <a:ea typeface="DejaVu Sans"/>
                <a:cs typeface="DejaVu Sans"/>
              </a:defRPr>
            </a:pPr>
            <a:r>
              <a:rPr sz="1350" b="0">
                <a:solidFill>
                  <a:srgbClr val="777777"/>
                </a:solidFill>
                <a:latin typeface="DejaVu Sans"/>
                <a:ea typeface="DejaVu Sans"/>
                <a:cs typeface="DejaVu Sans"/>
              </a:rPr>
              <a:t>26</a:t>
            </a:r>
          </a:p>
        </p:txBody>
      </p:sp>
    </p:spTree>
    <p:extLst>
      <p:ext uri="{BB962C8B-B14F-4D97-AF65-F5344CB8AC3E}">
        <p14:creationId xmlns:p14="http://schemas.microsoft.com/office/powerpoint/2010/main" val="165445468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0AB5926E-CFA5-4A46-A46F-9A6C63D5C049}"/>
              </a:ext>
            </a:extLst>
          </p:cNvPr>
          <p:cNvSpPr>
            <a:spLocks xmlns:a="http://schemas.openxmlformats.org/drawingml/2006/main" noGrp="1"/>
          </p:cNvSpPr>
          <p:nvPr/>
        </p:nvSpPr>
        <p:spPr>
          <a:xfrm xmlns:a="http://schemas.openxmlformats.org/drawingml/2006/main">
            <a:off x="762000" y="609600"/>
            <a:ext cx="1371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111111"/>
                </a:solidFill>
                <a:latin typeface="DejaVu Sans"/>
                <a:ea typeface="DejaVu Sans"/>
                <a:cs typeface="DejaVu Sans"/>
              </a:defRPr>
            </a:defPPr>
          </a:lstStyle>
          <a:p xmlns:a="http://schemas.openxmlformats.org/drawingml/2006/main">
            <a:pPr>
              <a:defRPr sz="3600" b="1">
                <a:solidFill>
                  <a:srgbClr val="111111"/>
                </a:solidFill>
                <a:latin typeface="DejaVu Sans"/>
                <a:ea typeface="DejaVu Sans"/>
                <a:cs typeface="DejaVu Sans"/>
              </a:defRPr>
            </a:pPr>
            <a:r>
              <a:rPr sz="3600" b="1">
                <a:solidFill>
                  <a:srgbClr val="111111"/>
                </a:solidFill>
                <a:latin typeface="DejaVu Sans"/>
                <a:ea typeface="DejaVu Sans"/>
                <a:cs typeface="DejaVu Sans"/>
              </a:rPr>
              <a:t>Instalasi dan alur demo</a:t>
            </a:r>
          </a:p>
        </p:txBody>
      </p:sp>
      <p:sp>
        <p:nvSpPr>
          <p:cNvPr id="2" name="index-0">
            <a:extLst xmlns:a="http://schemas.openxmlformats.org/drawingml/2006/main">
              <a:ext uri="{FF2B5EF4-FFF2-40B4-BE49-F238E27FC236}">
                <a16:creationId xmlns:a16="http://schemas.microsoft.com/office/drawing/2014/main" id="{4BE97EBE-D0E7-481D-8CDE-A9A1B0522609}"/>
              </a:ext>
            </a:extLst>
          </p:cNvPr>
          <p:cNvSpPr>
            <a:spLocks xmlns:a="http://schemas.openxmlformats.org/drawingml/2006/main" noGrp="1"/>
          </p:cNvSpPr>
          <p:nvPr/>
        </p:nvSpPr>
        <p:spPr>
          <a:xfrm xmlns:a="http://schemas.openxmlformats.org/drawingml/2006/main">
            <a:off x="762000" y="2114550"/>
            <a:ext cx="781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D82929"/>
                </a:solidFill>
                <a:latin typeface="DejaVu Sans"/>
                <a:ea typeface="DejaVu Sans"/>
                <a:cs typeface="DejaVu Sans"/>
              </a:defRPr>
            </a:defPPr>
          </a:lstStyle>
          <a:p xmlns:a="http://schemas.openxmlformats.org/drawingml/2006/main">
            <a:pPr>
              <a:defRPr sz="1875" b="1">
                <a:solidFill>
                  <a:srgbClr val="D82929"/>
                </a:solidFill>
                <a:latin typeface="DejaVu Sans"/>
                <a:ea typeface="DejaVu Sans"/>
                <a:cs typeface="DejaVu Sans"/>
              </a:defRPr>
            </a:pPr>
            <a:r>
              <a:rPr sz="1875" b="1">
                <a:solidFill>
                  <a:srgbClr val="D82929"/>
                </a:solidFill>
                <a:latin typeface="DejaVu Sans"/>
                <a:ea typeface="DejaVu Sans"/>
                <a:cs typeface="DejaVu Sans"/>
              </a:rPr>
              <a:t>01</a:t>
            </a:r>
          </a:p>
        </p:txBody>
      </p:sp>
      <p:sp>
        <p:nvSpPr>
          <p:cNvPr id="3" name="point-0">
            <a:extLst xmlns:a="http://schemas.openxmlformats.org/drawingml/2006/main">
              <a:ext uri="{FF2B5EF4-FFF2-40B4-BE49-F238E27FC236}">
                <a16:creationId xmlns:a16="http://schemas.microsoft.com/office/drawing/2014/main" id="{F3069F40-0B59-4FAD-A9D0-5DB6BDD7E85B}"/>
              </a:ext>
            </a:extLst>
          </p:cNvPr>
          <p:cNvSpPr>
            <a:spLocks xmlns:a="http://schemas.openxmlformats.org/drawingml/2006/main" noGrp="1"/>
          </p:cNvSpPr>
          <p:nvPr/>
        </p:nvSpPr>
        <p:spPr>
          <a:xfrm xmlns:a="http://schemas.openxmlformats.org/drawingml/2006/main">
            <a:off x="1809750" y="2076450"/>
            <a:ext cx="12192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111111"/>
                </a:solidFill>
                <a:latin typeface="DejaVu Sans"/>
                <a:ea typeface="DejaVu Sans"/>
                <a:cs typeface="DejaVu Sans"/>
              </a:defRPr>
            </a:defPPr>
          </a:lstStyle>
          <a:p xmlns:a="http://schemas.openxmlformats.org/drawingml/2006/main">
            <a:pPr>
              <a:defRPr sz="2550" b="0">
                <a:solidFill>
                  <a:srgbClr val="111111"/>
                </a:solidFill>
                <a:latin typeface="DejaVu Sans"/>
                <a:ea typeface="DejaVu Sans"/>
                <a:cs typeface="DejaVu Sans"/>
              </a:defRPr>
            </a:pPr>
            <a:r>
              <a:rPr sz="2550" b="0">
                <a:solidFill>
                  <a:srgbClr val="111111"/>
                </a:solidFill>
                <a:latin typeface="DejaVu Sans"/>
                <a:ea typeface="DejaVu Sans"/>
                <a:cs typeface="DejaVu Sans"/>
              </a:rPr>
              <a:t>Nyalakan Apache dan MySQL/MariaDB</a:t>
            </a:r>
          </a:p>
        </p:txBody>
      </p:sp>
      <p:sp>
        <p:nvSpPr>
          <p:cNvPr id="4" name="index-1">
            <a:extLst xmlns:a="http://schemas.openxmlformats.org/drawingml/2006/main">
              <a:ext uri="{FF2B5EF4-FFF2-40B4-BE49-F238E27FC236}">
                <a16:creationId xmlns:a16="http://schemas.microsoft.com/office/drawing/2014/main" id="{5DF0631F-C079-4F09-A0E3-F781032D788B}"/>
              </a:ext>
            </a:extLst>
          </p:cNvPr>
          <p:cNvSpPr>
            <a:spLocks xmlns:a="http://schemas.openxmlformats.org/drawingml/2006/main" noGrp="1"/>
          </p:cNvSpPr>
          <p:nvPr/>
        </p:nvSpPr>
        <p:spPr>
          <a:xfrm xmlns:a="http://schemas.openxmlformats.org/drawingml/2006/main">
            <a:off x="762000" y="3495675"/>
            <a:ext cx="781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D82929"/>
                </a:solidFill>
                <a:latin typeface="DejaVu Sans"/>
                <a:ea typeface="DejaVu Sans"/>
                <a:cs typeface="DejaVu Sans"/>
              </a:defRPr>
            </a:defPPr>
          </a:lstStyle>
          <a:p xmlns:a="http://schemas.openxmlformats.org/drawingml/2006/main">
            <a:pPr>
              <a:defRPr sz="1875" b="1">
                <a:solidFill>
                  <a:srgbClr val="D82929"/>
                </a:solidFill>
                <a:latin typeface="DejaVu Sans"/>
                <a:ea typeface="DejaVu Sans"/>
                <a:cs typeface="DejaVu Sans"/>
              </a:defRPr>
            </a:pPr>
            <a:r>
              <a:rPr sz="1875" b="1">
                <a:solidFill>
                  <a:srgbClr val="D82929"/>
                </a:solidFill>
                <a:latin typeface="DejaVu Sans"/>
                <a:ea typeface="DejaVu Sans"/>
                <a:cs typeface="DejaVu Sans"/>
              </a:rPr>
              <a:t>02</a:t>
            </a:r>
          </a:p>
        </p:txBody>
      </p:sp>
      <p:sp>
        <p:nvSpPr>
          <p:cNvPr id="5" name="point-1">
            <a:extLst xmlns:a="http://schemas.openxmlformats.org/drawingml/2006/main">
              <a:ext uri="{FF2B5EF4-FFF2-40B4-BE49-F238E27FC236}">
                <a16:creationId xmlns:a16="http://schemas.microsoft.com/office/drawing/2014/main" id="{E767DA82-DE77-4FB2-B091-CC45EAF6C807}"/>
              </a:ext>
            </a:extLst>
          </p:cNvPr>
          <p:cNvSpPr>
            <a:spLocks xmlns:a="http://schemas.openxmlformats.org/drawingml/2006/main" noGrp="1"/>
          </p:cNvSpPr>
          <p:nvPr/>
        </p:nvSpPr>
        <p:spPr>
          <a:xfrm xmlns:a="http://schemas.openxmlformats.org/drawingml/2006/main">
            <a:off x="1809750" y="3457575"/>
            <a:ext cx="12192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111111"/>
                </a:solidFill>
                <a:latin typeface="DejaVu Sans"/>
                <a:ea typeface="DejaVu Sans"/>
                <a:cs typeface="DejaVu Sans"/>
              </a:defRPr>
            </a:defPPr>
          </a:lstStyle>
          <a:p xmlns:a="http://schemas.openxmlformats.org/drawingml/2006/main">
            <a:pPr>
              <a:defRPr sz="2550" b="0">
                <a:solidFill>
                  <a:srgbClr val="111111"/>
                </a:solidFill>
                <a:latin typeface="DejaVu Sans"/>
                <a:ea typeface="DejaVu Sans"/>
                <a:cs typeface="DejaVu Sans"/>
              </a:defRPr>
            </a:pPr>
            <a:r>
              <a:rPr sz="2550" b="0">
                <a:solidFill>
                  <a:srgbClr val="111111"/>
                </a:solidFill>
                <a:latin typeface="DejaVu Sans"/>
                <a:ea typeface="DejaVu Sans"/>
                <a:cs typeface="DejaVu Sans"/>
              </a:rPr>
              <a:t>Import database/doom_reversal.sql lewat phpMyAdmin</a:t>
            </a:r>
          </a:p>
        </p:txBody>
      </p:sp>
      <p:sp>
        <p:nvSpPr>
          <p:cNvPr id="6" name="index-2">
            <a:extLst xmlns:a="http://schemas.openxmlformats.org/drawingml/2006/main">
              <a:ext uri="{FF2B5EF4-FFF2-40B4-BE49-F238E27FC236}">
                <a16:creationId xmlns:a16="http://schemas.microsoft.com/office/drawing/2014/main" id="{53BA7E5D-1B95-4E1C-B7B7-2C1CCF854739}"/>
              </a:ext>
            </a:extLst>
          </p:cNvPr>
          <p:cNvSpPr>
            <a:spLocks xmlns:a="http://schemas.openxmlformats.org/drawingml/2006/main" noGrp="1"/>
          </p:cNvSpPr>
          <p:nvPr/>
        </p:nvSpPr>
        <p:spPr>
          <a:xfrm xmlns:a="http://schemas.openxmlformats.org/drawingml/2006/main">
            <a:off x="762000" y="4876800"/>
            <a:ext cx="781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D82929"/>
                </a:solidFill>
                <a:latin typeface="DejaVu Sans"/>
                <a:ea typeface="DejaVu Sans"/>
                <a:cs typeface="DejaVu Sans"/>
              </a:defRPr>
            </a:defPPr>
          </a:lstStyle>
          <a:p xmlns:a="http://schemas.openxmlformats.org/drawingml/2006/main">
            <a:pPr>
              <a:defRPr sz="1875" b="1">
                <a:solidFill>
                  <a:srgbClr val="D82929"/>
                </a:solidFill>
                <a:latin typeface="DejaVu Sans"/>
                <a:ea typeface="DejaVu Sans"/>
                <a:cs typeface="DejaVu Sans"/>
              </a:defRPr>
            </a:pPr>
            <a:r>
              <a:rPr sz="1875" b="1">
                <a:solidFill>
                  <a:srgbClr val="D82929"/>
                </a:solidFill>
                <a:latin typeface="DejaVu Sans"/>
                <a:ea typeface="DejaVu Sans"/>
                <a:cs typeface="DejaVu Sans"/>
              </a:rPr>
              <a:t>03</a:t>
            </a:r>
          </a:p>
        </p:txBody>
      </p:sp>
      <p:sp>
        <p:nvSpPr>
          <p:cNvPr id="7" name="point-2">
            <a:extLst xmlns:a="http://schemas.openxmlformats.org/drawingml/2006/main">
              <a:ext uri="{FF2B5EF4-FFF2-40B4-BE49-F238E27FC236}">
                <a16:creationId xmlns:a16="http://schemas.microsoft.com/office/drawing/2014/main" id="{F636668C-731F-4DCE-9873-E5CA20AD0809}"/>
              </a:ext>
            </a:extLst>
          </p:cNvPr>
          <p:cNvSpPr>
            <a:spLocks xmlns:a="http://schemas.openxmlformats.org/drawingml/2006/main" noGrp="1"/>
          </p:cNvSpPr>
          <p:nvPr/>
        </p:nvSpPr>
        <p:spPr>
          <a:xfrm xmlns:a="http://schemas.openxmlformats.org/drawingml/2006/main">
            <a:off x="1809750" y="4838700"/>
            <a:ext cx="12192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111111"/>
                </a:solidFill>
                <a:latin typeface="DejaVu Sans"/>
                <a:ea typeface="DejaVu Sans"/>
                <a:cs typeface="DejaVu Sans"/>
              </a:defRPr>
            </a:defPPr>
          </a:lstStyle>
          <a:p xmlns:a="http://schemas.openxmlformats.org/drawingml/2006/main">
            <a:pPr>
              <a:defRPr sz="2550" b="0">
                <a:solidFill>
                  <a:srgbClr val="111111"/>
                </a:solidFill>
                <a:latin typeface="DejaVu Sans"/>
                <a:ea typeface="DejaVu Sans"/>
                <a:cs typeface="DejaVu Sans"/>
              </a:defRPr>
            </a:pPr>
            <a:r>
              <a:rPr sz="2550" b="0">
                <a:solidFill>
                  <a:srgbClr val="111111"/>
                </a:solidFill>
                <a:latin typeface="DejaVu Sans"/>
                <a:ea typeface="DejaVu Sans"/>
                <a:cs typeface="DejaVu Sans"/>
              </a:rPr>
              <a:t>Periksa config/database.php lalu buka localhost</a:t>
            </a:r>
          </a:p>
        </p:txBody>
      </p:sp>
      <p:sp>
        <p:nvSpPr>
          <p:cNvPr id="8" name="index-3">
            <a:extLst xmlns:a="http://schemas.openxmlformats.org/drawingml/2006/main">
              <a:ext uri="{FF2B5EF4-FFF2-40B4-BE49-F238E27FC236}">
                <a16:creationId xmlns:a16="http://schemas.microsoft.com/office/drawing/2014/main" id="{2961575A-FFB9-4CB9-962B-D1A44F9C8DB2}"/>
              </a:ext>
            </a:extLst>
          </p:cNvPr>
          <p:cNvSpPr>
            <a:spLocks xmlns:a="http://schemas.openxmlformats.org/drawingml/2006/main" noGrp="1"/>
          </p:cNvSpPr>
          <p:nvPr/>
        </p:nvSpPr>
        <p:spPr>
          <a:xfrm xmlns:a="http://schemas.openxmlformats.org/drawingml/2006/main">
            <a:off x="762000" y="6257925"/>
            <a:ext cx="781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D82929"/>
                </a:solidFill>
                <a:latin typeface="DejaVu Sans"/>
                <a:ea typeface="DejaVu Sans"/>
                <a:cs typeface="DejaVu Sans"/>
              </a:defRPr>
            </a:defPPr>
          </a:lstStyle>
          <a:p xmlns:a="http://schemas.openxmlformats.org/drawingml/2006/main">
            <a:pPr>
              <a:defRPr sz="1875" b="1">
                <a:solidFill>
                  <a:srgbClr val="D82929"/>
                </a:solidFill>
                <a:latin typeface="DejaVu Sans"/>
                <a:ea typeface="DejaVu Sans"/>
                <a:cs typeface="DejaVu Sans"/>
              </a:defRPr>
            </a:pPr>
            <a:r>
              <a:rPr sz="1875" b="1">
                <a:solidFill>
                  <a:srgbClr val="D82929"/>
                </a:solidFill>
                <a:latin typeface="DejaVu Sans"/>
                <a:ea typeface="DejaVu Sans"/>
                <a:cs typeface="DejaVu Sans"/>
              </a:rPr>
              <a:t>04</a:t>
            </a:r>
          </a:p>
        </p:txBody>
      </p:sp>
      <p:sp>
        <p:nvSpPr>
          <p:cNvPr id="9" name="point-3">
            <a:extLst xmlns:a="http://schemas.openxmlformats.org/drawingml/2006/main">
              <a:ext uri="{FF2B5EF4-FFF2-40B4-BE49-F238E27FC236}">
                <a16:creationId xmlns:a16="http://schemas.microsoft.com/office/drawing/2014/main" id="{00337415-DEEB-469C-9B32-4E20376BE45C}"/>
              </a:ext>
            </a:extLst>
          </p:cNvPr>
          <p:cNvSpPr>
            <a:spLocks xmlns:a="http://schemas.openxmlformats.org/drawingml/2006/main" noGrp="1"/>
          </p:cNvSpPr>
          <p:nvPr/>
        </p:nvSpPr>
        <p:spPr>
          <a:xfrm xmlns:a="http://schemas.openxmlformats.org/drawingml/2006/main">
            <a:off x="1809750" y="6219825"/>
            <a:ext cx="12192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111111"/>
                </a:solidFill>
                <a:latin typeface="DejaVu Sans"/>
                <a:ea typeface="DejaVu Sans"/>
                <a:cs typeface="DejaVu Sans"/>
              </a:defRPr>
            </a:defPPr>
          </a:lstStyle>
          <a:p xmlns:a="http://schemas.openxmlformats.org/drawingml/2006/main">
            <a:pPr>
              <a:defRPr sz="2550" b="0">
                <a:solidFill>
                  <a:srgbClr val="111111"/>
                </a:solidFill>
                <a:latin typeface="DejaVu Sans"/>
                <a:ea typeface="DejaVu Sans"/>
                <a:cs typeface="DejaVu Sans"/>
              </a:defRPr>
            </a:pPr>
            <a:r>
              <a:rPr sz="2550" b="0">
                <a:solidFill>
                  <a:srgbClr val="111111"/>
                </a:solidFill>
                <a:latin typeface="DejaVu Sans"/>
                <a:ea typeface="DejaVu Sans"/>
                <a:cs typeface="DejaVu Sans"/>
              </a:rPr>
              <a:t>Demo register, cart, checkout, lalu lihat tabel</a:t>
            </a:r>
          </a:p>
        </p:txBody>
      </p:sp>
      <p:sp>
        <p:nvSpPr>
          <p:cNvPr id="10" name="source-label">
            <a:extLst xmlns:a="http://schemas.openxmlformats.org/drawingml/2006/main">
              <a:ext uri="{FF2B5EF4-FFF2-40B4-BE49-F238E27FC236}">
                <a16:creationId xmlns:a16="http://schemas.microsoft.com/office/drawing/2014/main" id="{368A3A9B-9A3F-46E3-A498-965DB563668F}"/>
              </a:ext>
            </a:extLst>
          </p:cNvPr>
          <p:cNvSpPr>
            <a:spLocks xmlns:a="http://schemas.openxmlformats.org/drawingml/2006/main" noGrp="1"/>
          </p:cNvSpPr>
          <p:nvPr/>
        </p:nvSpPr>
        <p:spPr>
          <a:xfrm xmlns:a="http://schemas.openxmlformats.org/drawingml/2006/main">
            <a:off x="762000" y="7981950"/>
            <a:ext cx="1266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62656A"/>
                </a:solidFill>
                <a:latin typeface="DejaVu Sans"/>
                <a:ea typeface="DejaVu Sans"/>
                <a:cs typeface="DejaVu Sans"/>
              </a:defRPr>
            </a:defPPr>
          </a:lstStyle>
          <a:p xmlns:a="http://schemas.openxmlformats.org/drawingml/2006/main">
            <a:pPr>
              <a:defRPr sz="1275" b="0">
                <a:solidFill>
                  <a:srgbClr val="62656A"/>
                </a:solidFill>
                <a:latin typeface="DejaVu Sans"/>
                <a:ea typeface="DejaVu Sans"/>
                <a:cs typeface="DejaVu Sans"/>
              </a:defRPr>
            </a:pPr>
            <a:r>
              <a:rPr sz="1275" b="0">
                <a:solidFill>
                  <a:srgbClr val="62656A"/>
                </a:solidFill>
                <a:latin typeface="DejaVu Sans"/>
                <a:ea typeface="DejaVu Sans"/>
                <a:cs typeface="DejaVu Sans"/>
              </a:rPr>
              <a:t>Source: README.md; config/database.php; database/doom_reversal.sql</a:t>
            </a:r>
          </a:p>
        </p:txBody>
      </p:sp>
      <p:sp>
        <p:nvSpPr>
          <p:cNvPr id="11" name="page-number">
            <a:extLst xmlns:a="http://schemas.openxmlformats.org/drawingml/2006/main">
              <a:ext uri="{FF2B5EF4-FFF2-40B4-BE49-F238E27FC236}">
                <a16:creationId xmlns:a16="http://schemas.microsoft.com/office/drawing/2014/main" id="{DD02C66A-2D4A-4E65-AB9A-3C738EF0DFEB}"/>
              </a:ext>
            </a:extLst>
          </p:cNvPr>
          <p:cNvSpPr>
            <a:spLocks xmlns:a="http://schemas.openxmlformats.org/drawingml/2006/main" noGrp="1"/>
          </p:cNvSpPr>
          <p:nvPr/>
        </p:nvSpPr>
        <p:spPr>
          <a:xfrm xmlns:a="http://schemas.openxmlformats.org/drawingml/2006/main">
            <a:off x="14097000" y="79819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777777"/>
                </a:solidFill>
                <a:latin typeface="DejaVu Sans"/>
                <a:ea typeface="DejaVu Sans"/>
                <a:cs typeface="DejaVu Sans"/>
              </a:defRPr>
            </a:defPPr>
          </a:lstStyle>
          <a:p xmlns:a="http://schemas.openxmlformats.org/drawingml/2006/main">
            <a:pPr>
              <a:defRPr sz="1350" b="0">
                <a:solidFill>
                  <a:srgbClr val="777777"/>
                </a:solidFill>
                <a:latin typeface="DejaVu Sans"/>
                <a:ea typeface="DejaVu Sans"/>
                <a:cs typeface="DejaVu Sans"/>
              </a:defRPr>
            </a:pPr>
            <a:r>
              <a:rPr sz="1350" b="0">
                <a:solidFill>
                  <a:srgbClr val="777777"/>
                </a:solidFill>
                <a:latin typeface="DejaVu Sans"/>
                <a:ea typeface="DejaVu Sans"/>
                <a:cs typeface="DejaVu Sans"/>
              </a:rPr>
              <a:t>27</a:t>
            </a:r>
          </a:p>
        </p:txBody>
      </p:sp>
    </p:spTree>
    <p:extLst>
      <p:ext uri="{BB962C8B-B14F-4D97-AF65-F5344CB8AC3E}">
        <p14:creationId xmlns:p14="http://schemas.microsoft.com/office/powerpoint/2010/main" val="83806490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5CE54AB8-58D5-4A6E-845E-A838788BFD56}"/>
              </a:ext>
            </a:extLst>
          </p:cNvPr>
          <p:cNvSpPr>
            <a:spLocks xmlns:a="http://schemas.openxmlformats.org/drawingml/2006/main" noGrp="1"/>
          </p:cNvSpPr>
          <p:nvPr/>
        </p:nvSpPr>
        <p:spPr>
          <a:xfrm xmlns:a="http://schemas.openxmlformats.org/drawingml/2006/main">
            <a:off x="762000" y="609600"/>
            <a:ext cx="1371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111111"/>
                </a:solidFill>
                <a:latin typeface="DejaVu Sans"/>
                <a:ea typeface="DejaVu Sans"/>
                <a:cs typeface="DejaVu Sans"/>
              </a:defRPr>
            </a:defPPr>
          </a:lstStyle>
          <a:p xmlns:a="http://schemas.openxmlformats.org/drawingml/2006/main">
            <a:pPr>
              <a:defRPr sz="3600" b="1">
                <a:solidFill>
                  <a:srgbClr val="111111"/>
                </a:solidFill>
                <a:latin typeface="DejaVu Sans"/>
                <a:ea typeface="DejaVu Sans"/>
                <a:cs typeface="DejaVu Sans"/>
              </a:defRPr>
            </a:pPr>
            <a:r>
              <a:rPr sz="3600" b="1">
                <a:solidFill>
                  <a:srgbClr val="111111"/>
                </a:solidFill>
                <a:latin typeface="DejaVu Sans"/>
                <a:ea typeface="DejaVu Sans"/>
                <a:cs typeface="DejaVu Sans"/>
              </a:rPr>
              <a:t>Batas fungsi dan pengembangan</a:t>
            </a:r>
          </a:p>
        </p:txBody>
      </p:sp>
      <p:sp>
        <p:nvSpPr>
          <p:cNvPr id="2" name="index-0">
            <a:extLst xmlns:a="http://schemas.openxmlformats.org/drawingml/2006/main">
              <a:ext uri="{FF2B5EF4-FFF2-40B4-BE49-F238E27FC236}">
                <a16:creationId xmlns:a16="http://schemas.microsoft.com/office/drawing/2014/main" id="{1AFA0C4E-B85C-4617-801B-3E554764FE19}"/>
              </a:ext>
            </a:extLst>
          </p:cNvPr>
          <p:cNvSpPr>
            <a:spLocks xmlns:a="http://schemas.openxmlformats.org/drawingml/2006/main" noGrp="1"/>
          </p:cNvSpPr>
          <p:nvPr/>
        </p:nvSpPr>
        <p:spPr>
          <a:xfrm xmlns:a="http://schemas.openxmlformats.org/drawingml/2006/main">
            <a:off x="762000" y="2114550"/>
            <a:ext cx="781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D82929"/>
                </a:solidFill>
                <a:latin typeface="DejaVu Sans"/>
                <a:ea typeface="DejaVu Sans"/>
                <a:cs typeface="DejaVu Sans"/>
              </a:defRPr>
            </a:defPPr>
          </a:lstStyle>
          <a:p xmlns:a="http://schemas.openxmlformats.org/drawingml/2006/main">
            <a:pPr>
              <a:defRPr sz="1875" b="1">
                <a:solidFill>
                  <a:srgbClr val="D82929"/>
                </a:solidFill>
                <a:latin typeface="DejaVu Sans"/>
                <a:ea typeface="DejaVu Sans"/>
                <a:cs typeface="DejaVu Sans"/>
              </a:defRPr>
            </a:pPr>
            <a:r>
              <a:rPr sz="1875" b="1">
                <a:solidFill>
                  <a:srgbClr val="D82929"/>
                </a:solidFill>
                <a:latin typeface="DejaVu Sans"/>
                <a:ea typeface="DejaVu Sans"/>
                <a:cs typeface="DejaVu Sans"/>
              </a:rPr>
              <a:t>01</a:t>
            </a:r>
          </a:p>
        </p:txBody>
      </p:sp>
      <p:sp>
        <p:nvSpPr>
          <p:cNvPr id="3" name="point-0">
            <a:extLst xmlns:a="http://schemas.openxmlformats.org/drawingml/2006/main">
              <a:ext uri="{FF2B5EF4-FFF2-40B4-BE49-F238E27FC236}">
                <a16:creationId xmlns:a16="http://schemas.microsoft.com/office/drawing/2014/main" id="{50F47F26-DFE8-4574-BB56-8CE4B777C5B9}"/>
              </a:ext>
            </a:extLst>
          </p:cNvPr>
          <p:cNvSpPr>
            <a:spLocks xmlns:a="http://schemas.openxmlformats.org/drawingml/2006/main" noGrp="1"/>
          </p:cNvSpPr>
          <p:nvPr/>
        </p:nvSpPr>
        <p:spPr>
          <a:xfrm xmlns:a="http://schemas.openxmlformats.org/drawingml/2006/main">
            <a:off x="1809750" y="2076450"/>
            <a:ext cx="12192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111111"/>
                </a:solidFill>
                <a:latin typeface="DejaVu Sans"/>
                <a:ea typeface="DejaVu Sans"/>
                <a:cs typeface="DejaVu Sans"/>
              </a:defRPr>
            </a:defPPr>
          </a:lstStyle>
          <a:p xmlns:a="http://schemas.openxmlformats.org/drawingml/2006/main">
            <a:pPr>
              <a:defRPr sz="2550" b="0">
                <a:solidFill>
                  <a:srgbClr val="111111"/>
                </a:solidFill>
                <a:latin typeface="DejaVu Sans"/>
                <a:ea typeface="DejaVu Sans"/>
                <a:cs typeface="DejaVu Sans"/>
              </a:defRPr>
            </a:pPr>
            <a:r>
              <a:rPr sz="2550" b="0">
                <a:solidFill>
                  <a:srgbClr val="111111"/>
                </a:solidFill>
                <a:latin typeface="DejaVu Sans"/>
                <a:ea typeface="DejaVu Sans"/>
                <a:cs typeface="DejaVu Sans"/>
              </a:rPr>
              <a:t>Pembayaran hanya demo, tanpa uang nyata</a:t>
            </a:r>
          </a:p>
        </p:txBody>
      </p:sp>
      <p:sp>
        <p:nvSpPr>
          <p:cNvPr id="4" name="index-1">
            <a:extLst xmlns:a="http://schemas.openxmlformats.org/drawingml/2006/main">
              <a:ext uri="{FF2B5EF4-FFF2-40B4-BE49-F238E27FC236}">
                <a16:creationId xmlns:a16="http://schemas.microsoft.com/office/drawing/2014/main" id="{EE9E2108-A638-492A-9858-E8C5645E482B}"/>
              </a:ext>
            </a:extLst>
          </p:cNvPr>
          <p:cNvSpPr>
            <a:spLocks xmlns:a="http://schemas.openxmlformats.org/drawingml/2006/main" noGrp="1"/>
          </p:cNvSpPr>
          <p:nvPr/>
        </p:nvSpPr>
        <p:spPr>
          <a:xfrm xmlns:a="http://schemas.openxmlformats.org/drawingml/2006/main">
            <a:off x="762000" y="3495675"/>
            <a:ext cx="781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D82929"/>
                </a:solidFill>
                <a:latin typeface="DejaVu Sans"/>
                <a:ea typeface="DejaVu Sans"/>
                <a:cs typeface="DejaVu Sans"/>
              </a:defRPr>
            </a:defPPr>
          </a:lstStyle>
          <a:p xmlns:a="http://schemas.openxmlformats.org/drawingml/2006/main">
            <a:pPr>
              <a:defRPr sz="1875" b="1">
                <a:solidFill>
                  <a:srgbClr val="D82929"/>
                </a:solidFill>
                <a:latin typeface="DejaVu Sans"/>
                <a:ea typeface="DejaVu Sans"/>
                <a:cs typeface="DejaVu Sans"/>
              </a:defRPr>
            </a:pPr>
            <a:r>
              <a:rPr sz="1875" b="1">
                <a:solidFill>
                  <a:srgbClr val="D82929"/>
                </a:solidFill>
                <a:latin typeface="DejaVu Sans"/>
                <a:ea typeface="DejaVu Sans"/>
                <a:cs typeface="DejaVu Sans"/>
              </a:rPr>
              <a:t>02</a:t>
            </a:r>
          </a:p>
        </p:txBody>
      </p:sp>
      <p:sp>
        <p:nvSpPr>
          <p:cNvPr id="5" name="point-1">
            <a:extLst xmlns:a="http://schemas.openxmlformats.org/drawingml/2006/main">
              <a:ext uri="{FF2B5EF4-FFF2-40B4-BE49-F238E27FC236}">
                <a16:creationId xmlns:a16="http://schemas.microsoft.com/office/drawing/2014/main" id="{7D81B644-A8C0-466D-A7CF-ACF1173EB1D2}"/>
              </a:ext>
            </a:extLst>
          </p:cNvPr>
          <p:cNvSpPr>
            <a:spLocks xmlns:a="http://schemas.openxmlformats.org/drawingml/2006/main" noGrp="1"/>
          </p:cNvSpPr>
          <p:nvPr/>
        </p:nvSpPr>
        <p:spPr>
          <a:xfrm xmlns:a="http://schemas.openxmlformats.org/drawingml/2006/main">
            <a:off x="1809750" y="3457575"/>
            <a:ext cx="12192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111111"/>
                </a:solidFill>
                <a:latin typeface="DejaVu Sans"/>
                <a:ea typeface="DejaVu Sans"/>
                <a:cs typeface="DejaVu Sans"/>
              </a:defRPr>
            </a:defPPr>
          </a:lstStyle>
          <a:p xmlns:a="http://schemas.openxmlformats.org/drawingml/2006/main">
            <a:pPr>
              <a:defRPr sz="2550" b="0">
                <a:solidFill>
                  <a:srgbClr val="111111"/>
                </a:solidFill>
                <a:latin typeface="DejaVu Sans"/>
                <a:ea typeface="DejaVu Sans"/>
                <a:cs typeface="DejaVu Sans"/>
              </a:defRPr>
            </a:pPr>
            <a:r>
              <a:rPr sz="2550" b="0">
                <a:solidFill>
                  <a:srgbClr val="111111"/>
                </a:solidFill>
                <a:latin typeface="DejaVu Sans"/>
                <a:ea typeface="DejaVu Sans"/>
                <a:cs typeface="DejaVu Sans"/>
              </a:rPr>
              <a:t>Reset email, stok, serta admin belum tersedia</a:t>
            </a:r>
          </a:p>
        </p:txBody>
      </p:sp>
      <p:sp>
        <p:nvSpPr>
          <p:cNvPr id="6" name="index-2">
            <a:extLst xmlns:a="http://schemas.openxmlformats.org/drawingml/2006/main">
              <a:ext uri="{FF2B5EF4-FFF2-40B4-BE49-F238E27FC236}">
                <a16:creationId xmlns:a16="http://schemas.microsoft.com/office/drawing/2014/main" id="{8FA52190-D638-49C7-8937-60063EAC6442}"/>
              </a:ext>
            </a:extLst>
          </p:cNvPr>
          <p:cNvSpPr>
            <a:spLocks xmlns:a="http://schemas.openxmlformats.org/drawingml/2006/main" noGrp="1"/>
          </p:cNvSpPr>
          <p:nvPr/>
        </p:nvSpPr>
        <p:spPr>
          <a:xfrm xmlns:a="http://schemas.openxmlformats.org/drawingml/2006/main">
            <a:off x="762000" y="4876800"/>
            <a:ext cx="781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D82929"/>
                </a:solidFill>
                <a:latin typeface="DejaVu Sans"/>
                <a:ea typeface="DejaVu Sans"/>
                <a:cs typeface="DejaVu Sans"/>
              </a:defRPr>
            </a:defPPr>
          </a:lstStyle>
          <a:p xmlns:a="http://schemas.openxmlformats.org/drawingml/2006/main">
            <a:pPr>
              <a:defRPr sz="1875" b="1">
                <a:solidFill>
                  <a:srgbClr val="D82929"/>
                </a:solidFill>
                <a:latin typeface="DejaVu Sans"/>
                <a:ea typeface="DejaVu Sans"/>
                <a:cs typeface="DejaVu Sans"/>
              </a:defRPr>
            </a:pPr>
            <a:r>
              <a:rPr sz="1875" b="1">
                <a:solidFill>
                  <a:srgbClr val="D82929"/>
                </a:solidFill>
                <a:latin typeface="DejaVu Sans"/>
                <a:ea typeface="DejaVu Sans"/>
                <a:cs typeface="DejaVu Sans"/>
              </a:rPr>
              <a:t>03</a:t>
            </a:r>
          </a:p>
        </p:txBody>
      </p:sp>
      <p:sp>
        <p:nvSpPr>
          <p:cNvPr id="7" name="point-2">
            <a:extLst xmlns:a="http://schemas.openxmlformats.org/drawingml/2006/main">
              <a:ext uri="{FF2B5EF4-FFF2-40B4-BE49-F238E27FC236}">
                <a16:creationId xmlns:a16="http://schemas.microsoft.com/office/drawing/2014/main" id="{C87BDAED-27BC-48C8-A76C-EE5065E6B28E}"/>
              </a:ext>
            </a:extLst>
          </p:cNvPr>
          <p:cNvSpPr>
            <a:spLocks xmlns:a="http://schemas.openxmlformats.org/drawingml/2006/main" noGrp="1"/>
          </p:cNvSpPr>
          <p:nvPr/>
        </p:nvSpPr>
        <p:spPr>
          <a:xfrm xmlns:a="http://schemas.openxmlformats.org/drawingml/2006/main">
            <a:off x="1809750" y="4838700"/>
            <a:ext cx="12192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111111"/>
                </a:solidFill>
                <a:latin typeface="DejaVu Sans"/>
                <a:ea typeface="DejaVu Sans"/>
                <a:cs typeface="DejaVu Sans"/>
              </a:defRPr>
            </a:defPPr>
          </a:lstStyle>
          <a:p xmlns:a="http://schemas.openxmlformats.org/drawingml/2006/main">
            <a:pPr>
              <a:defRPr sz="2550" b="0">
                <a:solidFill>
                  <a:srgbClr val="111111"/>
                </a:solidFill>
                <a:latin typeface="DejaVu Sans"/>
                <a:ea typeface="DejaVu Sans"/>
                <a:cs typeface="DejaVu Sans"/>
              </a:defRPr>
            </a:pPr>
            <a:r>
              <a:rPr sz="2550" b="0">
                <a:solidFill>
                  <a:srgbClr val="111111"/>
                </a:solidFill>
                <a:latin typeface="DejaVu Sans"/>
                <a:ea typeface="DejaVu Sans"/>
                <a:cs typeface="DejaVu Sans"/>
              </a:rPr>
              <a:t>Keranjang belum persisten lintas sesi</a:t>
            </a:r>
          </a:p>
        </p:txBody>
      </p:sp>
      <p:sp>
        <p:nvSpPr>
          <p:cNvPr id="8" name="index-3">
            <a:extLst xmlns:a="http://schemas.openxmlformats.org/drawingml/2006/main">
              <a:ext uri="{FF2B5EF4-FFF2-40B4-BE49-F238E27FC236}">
                <a16:creationId xmlns:a16="http://schemas.microsoft.com/office/drawing/2014/main" id="{86A950B2-96A4-42F9-BCD2-34F67E2CFB6D}"/>
              </a:ext>
            </a:extLst>
          </p:cNvPr>
          <p:cNvSpPr>
            <a:spLocks xmlns:a="http://schemas.openxmlformats.org/drawingml/2006/main" noGrp="1"/>
          </p:cNvSpPr>
          <p:nvPr/>
        </p:nvSpPr>
        <p:spPr>
          <a:xfrm xmlns:a="http://schemas.openxmlformats.org/drawingml/2006/main">
            <a:off x="762000" y="6257925"/>
            <a:ext cx="781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D82929"/>
                </a:solidFill>
                <a:latin typeface="DejaVu Sans"/>
                <a:ea typeface="DejaVu Sans"/>
                <a:cs typeface="DejaVu Sans"/>
              </a:defRPr>
            </a:defPPr>
          </a:lstStyle>
          <a:p xmlns:a="http://schemas.openxmlformats.org/drawingml/2006/main">
            <a:pPr>
              <a:defRPr sz="1875" b="1">
                <a:solidFill>
                  <a:srgbClr val="D82929"/>
                </a:solidFill>
                <a:latin typeface="DejaVu Sans"/>
                <a:ea typeface="DejaVu Sans"/>
                <a:cs typeface="DejaVu Sans"/>
              </a:defRPr>
            </a:pPr>
            <a:r>
              <a:rPr sz="1875" b="1">
                <a:solidFill>
                  <a:srgbClr val="D82929"/>
                </a:solidFill>
                <a:latin typeface="DejaVu Sans"/>
                <a:ea typeface="DejaVu Sans"/>
                <a:cs typeface="DejaVu Sans"/>
              </a:rPr>
              <a:t>04</a:t>
            </a:r>
          </a:p>
        </p:txBody>
      </p:sp>
      <p:sp>
        <p:nvSpPr>
          <p:cNvPr id="9" name="point-3">
            <a:extLst xmlns:a="http://schemas.openxmlformats.org/drawingml/2006/main">
              <a:ext uri="{FF2B5EF4-FFF2-40B4-BE49-F238E27FC236}">
                <a16:creationId xmlns:a16="http://schemas.microsoft.com/office/drawing/2014/main" id="{E3A9253F-EBA8-404D-8D9B-F1851B32823B}"/>
              </a:ext>
            </a:extLst>
          </p:cNvPr>
          <p:cNvSpPr>
            <a:spLocks xmlns:a="http://schemas.openxmlformats.org/drawingml/2006/main" noGrp="1"/>
          </p:cNvSpPr>
          <p:nvPr/>
        </p:nvSpPr>
        <p:spPr>
          <a:xfrm xmlns:a="http://schemas.openxmlformats.org/drawingml/2006/main">
            <a:off x="1809750" y="6219825"/>
            <a:ext cx="12192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111111"/>
                </a:solidFill>
                <a:latin typeface="DejaVu Sans"/>
                <a:ea typeface="DejaVu Sans"/>
                <a:cs typeface="DejaVu Sans"/>
              </a:defRPr>
            </a:defPPr>
          </a:lstStyle>
          <a:p xmlns:a="http://schemas.openxmlformats.org/drawingml/2006/main">
            <a:pPr>
              <a:defRPr sz="2550" b="0">
                <a:solidFill>
                  <a:srgbClr val="111111"/>
                </a:solidFill>
                <a:latin typeface="DejaVu Sans"/>
                <a:ea typeface="DejaVu Sans"/>
                <a:cs typeface="DejaVu Sans"/>
              </a:defRPr>
            </a:pPr>
            <a:r>
              <a:rPr sz="2550" b="0">
                <a:solidFill>
                  <a:srgbClr val="111111"/>
                </a:solidFill>
                <a:latin typeface="DejaVu Sans"/>
                <a:ea typeface="DejaVu Sans"/>
                <a:cs typeface="DejaVu Sans"/>
              </a:rPr>
              <a:t>Produksi memerlukan backup dan hardening</a:t>
            </a:r>
          </a:p>
        </p:txBody>
      </p:sp>
      <p:sp>
        <p:nvSpPr>
          <p:cNvPr id="10" name="source-label">
            <a:extLst xmlns:a="http://schemas.openxmlformats.org/drawingml/2006/main">
              <a:ext uri="{FF2B5EF4-FFF2-40B4-BE49-F238E27FC236}">
                <a16:creationId xmlns:a16="http://schemas.microsoft.com/office/drawing/2014/main" id="{44249360-57DB-48AA-8744-9B90D3FCEFC6}"/>
              </a:ext>
            </a:extLst>
          </p:cNvPr>
          <p:cNvSpPr>
            <a:spLocks xmlns:a="http://schemas.openxmlformats.org/drawingml/2006/main" noGrp="1"/>
          </p:cNvSpPr>
          <p:nvPr/>
        </p:nvSpPr>
        <p:spPr>
          <a:xfrm xmlns:a="http://schemas.openxmlformats.org/drawingml/2006/main">
            <a:off x="762000" y="7981950"/>
            <a:ext cx="1266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62656A"/>
                </a:solidFill>
                <a:latin typeface="DejaVu Sans"/>
                <a:ea typeface="DejaVu Sans"/>
                <a:cs typeface="DejaVu Sans"/>
              </a:defRPr>
            </a:defPPr>
          </a:lstStyle>
          <a:p xmlns:a="http://schemas.openxmlformats.org/drawingml/2006/main">
            <a:pPr>
              <a:defRPr sz="1275" b="0">
                <a:solidFill>
                  <a:srgbClr val="62656A"/>
                </a:solidFill>
                <a:latin typeface="DejaVu Sans"/>
                <a:ea typeface="DejaVu Sans"/>
                <a:cs typeface="DejaVu Sans"/>
              </a:defRPr>
            </a:pPr>
            <a:r>
              <a:rPr sz="1275" b="0">
                <a:solidFill>
                  <a:srgbClr val="62656A"/>
                </a:solidFill>
                <a:latin typeface="DejaVu Sans"/>
                <a:ea typeface="DejaVu Sans"/>
                <a:cs typeface="DejaVu Sans"/>
              </a:rPr>
              <a:t>Source: README.md; SQL; includes/actions.php</a:t>
            </a:r>
          </a:p>
        </p:txBody>
      </p:sp>
      <p:sp>
        <p:nvSpPr>
          <p:cNvPr id="11" name="page-number">
            <a:extLst xmlns:a="http://schemas.openxmlformats.org/drawingml/2006/main">
              <a:ext uri="{FF2B5EF4-FFF2-40B4-BE49-F238E27FC236}">
                <a16:creationId xmlns:a16="http://schemas.microsoft.com/office/drawing/2014/main" id="{C723CF42-8981-4EB8-A7C0-009CE9A7B813}"/>
              </a:ext>
            </a:extLst>
          </p:cNvPr>
          <p:cNvSpPr>
            <a:spLocks xmlns:a="http://schemas.openxmlformats.org/drawingml/2006/main" noGrp="1"/>
          </p:cNvSpPr>
          <p:nvPr/>
        </p:nvSpPr>
        <p:spPr>
          <a:xfrm xmlns:a="http://schemas.openxmlformats.org/drawingml/2006/main">
            <a:off x="14097000" y="79819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777777"/>
                </a:solidFill>
                <a:latin typeface="DejaVu Sans"/>
                <a:ea typeface="DejaVu Sans"/>
                <a:cs typeface="DejaVu Sans"/>
              </a:defRPr>
            </a:defPPr>
          </a:lstStyle>
          <a:p xmlns:a="http://schemas.openxmlformats.org/drawingml/2006/main">
            <a:pPr>
              <a:defRPr sz="1350" b="0">
                <a:solidFill>
                  <a:srgbClr val="777777"/>
                </a:solidFill>
                <a:latin typeface="DejaVu Sans"/>
                <a:ea typeface="DejaVu Sans"/>
                <a:cs typeface="DejaVu Sans"/>
              </a:defRPr>
            </a:pPr>
            <a:r>
              <a:rPr sz="1350" b="0">
                <a:solidFill>
                  <a:srgbClr val="777777"/>
                </a:solidFill>
                <a:latin typeface="DejaVu Sans"/>
                <a:ea typeface="DejaVu Sans"/>
                <a:cs typeface="DejaVu Sans"/>
              </a:rPr>
              <a:t>28</a:t>
            </a:r>
          </a:p>
        </p:txBody>
      </p:sp>
    </p:spTree>
    <p:extLst>
      <p:ext uri="{BB962C8B-B14F-4D97-AF65-F5344CB8AC3E}">
        <p14:creationId xmlns:p14="http://schemas.microsoft.com/office/powerpoint/2010/main" val="146680371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3F7E591A-4E18-4ABB-A7B0-5897E3ACC1ED}"/>
              </a:ext>
            </a:extLst>
          </p:cNvPr>
          <p:cNvSpPr>
            <a:spLocks xmlns:a="http://schemas.openxmlformats.org/drawingml/2006/main" noGrp="1"/>
          </p:cNvSpPr>
          <p:nvPr/>
        </p:nvSpPr>
        <p:spPr>
          <a:xfrm xmlns:a="http://schemas.openxmlformats.org/drawingml/2006/main">
            <a:off x="762000" y="609600"/>
            <a:ext cx="1371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111111"/>
                </a:solidFill>
                <a:latin typeface="DejaVu Sans"/>
                <a:ea typeface="DejaVu Sans"/>
                <a:cs typeface="DejaVu Sans"/>
              </a:defRPr>
            </a:defPPr>
          </a:lstStyle>
          <a:p xmlns:a="http://schemas.openxmlformats.org/drawingml/2006/main">
            <a:pPr>
              <a:defRPr sz="3600" b="1">
                <a:solidFill>
                  <a:srgbClr val="111111"/>
                </a:solidFill>
                <a:latin typeface="DejaVu Sans"/>
                <a:ea typeface="DejaVu Sans"/>
                <a:cs typeface="DejaVu Sans"/>
              </a:defRPr>
            </a:pPr>
            <a:r>
              <a:rPr sz="3600" b="1">
                <a:solidFill>
                  <a:srgbClr val="111111"/>
                </a:solidFill>
                <a:latin typeface="DejaVu Sans"/>
                <a:ea typeface="DejaVu Sans"/>
                <a:cs typeface="DejaVu Sans"/>
              </a:rPr>
              <a:t>Pertanyaan yang mungkin muncul</a:t>
            </a:r>
          </a:p>
        </p:txBody>
      </p:sp>
      <p:sp>
        <p:nvSpPr>
          <p:cNvPr id="2" name="index-0">
            <a:extLst xmlns:a="http://schemas.openxmlformats.org/drawingml/2006/main">
              <a:ext uri="{FF2B5EF4-FFF2-40B4-BE49-F238E27FC236}">
                <a16:creationId xmlns:a16="http://schemas.microsoft.com/office/drawing/2014/main" id="{23052DC3-F830-4595-B1E5-16CEE294C50A}"/>
              </a:ext>
            </a:extLst>
          </p:cNvPr>
          <p:cNvSpPr>
            <a:spLocks xmlns:a="http://schemas.openxmlformats.org/drawingml/2006/main" noGrp="1"/>
          </p:cNvSpPr>
          <p:nvPr/>
        </p:nvSpPr>
        <p:spPr>
          <a:xfrm xmlns:a="http://schemas.openxmlformats.org/drawingml/2006/main">
            <a:off x="762000" y="2114550"/>
            <a:ext cx="781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D82929"/>
                </a:solidFill>
                <a:latin typeface="DejaVu Sans"/>
                <a:ea typeface="DejaVu Sans"/>
                <a:cs typeface="DejaVu Sans"/>
              </a:defRPr>
            </a:defPPr>
          </a:lstStyle>
          <a:p xmlns:a="http://schemas.openxmlformats.org/drawingml/2006/main">
            <a:pPr>
              <a:defRPr sz="1875" b="1">
                <a:solidFill>
                  <a:srgbClr val="D82929"/>
                </a:solidFill>
                <a:latin typeface="DejaVu Sans"/>
                <a:ea typeface="DejaVu Sans"/>
                <a:cs typeface="DejaVu Sans"/>
              </a:defRPr>
            </a:pPr>
            <a:r>
              <a:rPr sz="1875" b="1">
                <a:solidFill>
                  <a:srgbClr val="D82929"/>
                </a:solidFill>
                <a:latin typeface="DejaVu Sans"/>
                <a:ea typeface="DejaVu Sans"/>
                <a:cs typeface="DejaVu Sans"/>
              </a:rPr>
              <a:t>01</a:t>
            </a:r>
          </a:p>
        </p:txBody>
      </p:sp>
      <p:sp>
        <p:nvSpPr>
          <p:cNvPr id="3" name="point-0">
            <a:extLst xmlns:a="http://schemas.openxmlformats.org/drawingml/2006/main">
              <a:ext uri="{FF2B5EF4-FFF2-40B4-BE49-F238E27FC236}">
                <a16:creationId xmlns:a16="http://schemas.microsoft.com/office/drawing/2014/main" id="{C4921187-9140-4D97-8DEF-5295C5E44E67}"/>
              </a:ext>
            </a:extLst>
          </p:cNvPr>
          <p:cNvSpPr>
            <a:spLocks xmlns:a="http://schemas.openxmlformats.org/drawingml/2006/main" noGrp="1"/>
          </p:cNvSpPr>
          <p:nvPr/>
        </p:nvSpPr>
        <p:spPr>
          <a:xfrm xmlns:a="http://schemas.openxmlformats.org/drawingml/2006/main">
            <a:off x="1809750" y="2076450"/>
            <a:ext cx="12192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111111"/>
                </a:solidFill>
                <a:latin typeface="DejaVu Sans"/>
                <a:ea typeface="DejaVu Sans"/>
                <a:cs typeface="DejaVu Sans"/>
              </a:defRPr>
            </a:defPPr>
          </a:lstStyle>
          <a:p xmlns:a="http://schemas.openxmlformats.org/drawingml/2006/main">
            <a:pPr>
              <a:defRPr sz="2550" b="0">
                <a:solidFill>
                  <a:srgbClr val="111111"/>
                </a:solidFill>
                <a:latin typeface="DejaVu Sans"/>
                <a:ea typeface="DejaVu Sans"/>
                <a:cs typeface="DejaVu Sans"/>
              </a:defRPr>
            </a:pPr>
            <a:r>
              <a:rPr sz="2550" b="0">
                <a:solidFill>
                  <a:srgbClr val="111111"/>
                </a:solidFill>
                <a:latin typeface="DejaVu Sans"/>
                <a:ea typeface="DejaVu Sans"/>
                <a:cs typeface="DejaVu Sans"/>
              </a:rPr>
              <a:t>Mengapa PHP native? Sesuai materi dan setup sederhana</a:t>
            </a:r>
          </a:p>
        </p:txBody>
      </p:sp>
      <p:sp>
        <p:nvSpPr>
          <p:cNvPr id="4" name="index-1">
            <a:extLst xmlns:a="http://schemas.openxmlformats.org/drawingml/2006/main">
              <a:ext uri="{FF2B5EF4-FFF2-40B4-BE49-F238E27FC236}">
                <a16:creationId xmlns:a16="http://schemas.microsoft.com/office/drawing/2014/main" id="{C2D8CA89-FC19-489E-A147-49831C405D6F}"/>
              </a:ext>
            </a:extLst>
          </p:cNvPr>
          <p:cNvSpPr>
            <a:spLocks xmlns:a="http://schemas.openxmlformats.org/drawingml/2006/main" noGrp="1"/>
          </p:cNvSpPr>
          <p:nvPr/>
        </p:nvSpPr>
        <p:spPr>
          <a:xfrm xmlns:a="http://schemas.openxmlformats.org/drawingml/2006/main">
            <a:off x="762000" y="3495675"/>
            <a:ext cx="781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D82929"/>
                </a:solidFill>
                <a:latin typeface="DejaVu Sans"/>
                <a:ea typeface="DejaVu Sans"/>
                <a:cs typeface="DejaVu Sans"/>
              </a:defRPr>
            </a:defPPr>
          </a:lstStyle>
          <a:p xmlns:a="http://schemas.openxmlformats.org/drawingml/2006/main">
            <a:pPr>
              <a:defRPr sz="1875" b="1">
                <a:solidFill>
                  <a:srgbClr val="D82929"/>
                </a:solidFill>
                <a:latin typeface="DejaVu Sans"/>
                <a:ea typeface="DejaVu Sans"/>
                <a:cs typeface="DejaVu Sans"/>
              </a:defRPr>
            </a:pPr>
            <a:r>
              <a:rPr sz="1875" b="1">
                <a:solidFill>
                  <a:srgbClr val="D82929"/>
                </a:solidFill>
                <a:latin typeface="DejaVu Sans"/>
                <a:ea typeface="DejaVu Sans"/>
                <a:cs typeface="DejaVu Sans"/>
              </a:rPr>
              <a:t>02</a:t>
            </a:r>
          </a:p>
        </p:txBody>
      </p:sp>
      <p:sp>
        <p:nvSpPr>
          <p:cNvPr id="5" name="point-1">
            <a:extLst xmlns:a="http://schemas.openxmlformats.org/drawingml/2006/main">
              <a:ext uri="{FF2B5EF4-FFF2-40B4-BE49-F238E27FC236}">
                <a16:creationId xmlns:a16="http://schemas.microsoft.com/office/drawing/2014/main" id="{7C53A111-0DCD-4713-8359-769F4579E87C}"/>
              </a:ext>
            </a:extLst>
          </p:cNvPr>
          <p:cNvSpPr>
            <a:spLocks xmlns:a="http://schemas.openxmlformats.org/drawingml/2006/main" noGrp="1"/>
          </p:cNvSpPr>
          <p:nvPr/>
        </p:nvSpPr>
        <p:spPr>
          <a:xfrm xmlns:a="http://schemas.openxmlformats.org/drawingml/2006/main">
            <a:off x="1809750" y="3457575"/>
            <a:ext cx="12192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111111"/>
                </a:solidFill>
                <a:latin typeface="DejaVu Sans"/>
                <a:ea typeface="DejaVu Sans"/>
                <a:cs typeface="DejaVu Sans"/>
              </a:defRPr>
            </a:defPPr>
          </a:lstStyle>
          <a:p xmlns:a="http://schemas.openxmlformats.org/drawingml/2006/main">
            <a:pPr>
              <a:defRPr sz="2550" b="0">
                <a:solidFill>
                  <a:srgbClr val="111111"/>
                </a:solidFill>
                <a:latin typeface="DejaVu Sans"/>
                <a:ea typeface="DejaVu Sans"/>
                <a:cs typeface="DejaVu Sans"/>
              </a:defRPr>
            </a:pPr>
            <a:r>
              <a:rPr sz="2550" b="0">
                <a:solidFill>
                  <a:srgbClr val="111111"/>
                </a:solidFill>
                <a:latin typeface="DejaVu Sans"/>
                <a:ea typeface="DejaVu Sans"/>
                <a:cs typeface="DejaVu Sans"/>
              </a:rPr>
              <a:t>Data persisten memakai 5 tabel MySQL</a:t>
            </a:r>
          </a:p>
        </p:txBody>
      </p:sp>
      <p:sp>
        <p:nvSpPr>
          <p:cNvPr id="6" name="index-2">
            <a:extLst xmlns:a="http://schemas.openxmlformats.org/drawingml/2006/main">
              <a:ext uri="{FF2B5EF4-FFF2-40B4-BE49-F238E27FC236}">
                <a16:creationId xmlns:a16="http://schemas.microsoft.com/office/drawing/2014/main" id="{DA4695A9-9AFC-48CD-A413-AAA344BA5A08}"/>
              </a:ext>
            </a:extLst>
          </p:cNvPr>
          <p:cNvSpPr>
            <a:spLocks xmlns:a="http://schemas.openxmlformats.org/drawingml/2006/main" noGrp="1"/>
          </p:cNvSpPr>
          <p:nvPr/>
        </p:nvSpPr>
        <p:spPr>
          <a:xfrm xmlns:a="http://schemas.openxmlformats.org/drawingml/2006/main">
            <a:off x="762000" y="4876800"/>
            <a:ext cx="781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D82929"/>
                </a:solidFill>
                <a:latin typeface="DejaVu Sans"/>
                <a:ea typeface="DejaVu Sans"/>
                <a:cs typeface="DejaVu Sans"/>
              </a:defRPr>
            </a:defPPr>
          </a:lstStyle>
          <a:p xmlns:a="http://schemas.openxmlformats.org/drawingml/2006/main">
            <a:pPr>
              <a:defRPr sz="1875" b="1">
                <a:solidFill>
                  <a:srgbClr val="D82929"/>
                </a:solidFill>
                <a:latin typeface="DejaVu Sans"/>
                <a:ea typeface="DejaVu Sans"/>
                <a:cs typeface="DejaVu Sans"/>
              </a:defRPr>
            </a:pPr>
            <a:r>
              <a:rPr sz="1875" b="1">
                <a:solidFill>
                  <a:srgbClr val="D82929"/>
                </a:solidFill>
                <a:latin typeface="DejaVu Sans"/>
                <a:ea typeface="DejaVu Sans"/>
                <a:cs typeface="DejaVu Sans"/>
              </a:rPr>
              <a:t>03</a:t>
            </a:r>
          </a:p>
        </p:txBody>
      </p:sp>
      <p:sp>
        <p:nvSpPr>
          <p:cNvPr id="7" name="point-2">
            <a:extLst xmlns:a="http://schemas.openxmlformats.org/drawingml/2006/main">
              <a:ext uri="{FF2B5EF4-FFF2-40B4-BE49-F238E27FC236}">
                <a16:creationId xmlns:a16="http://schemas.microsoft.com/office/drawing/2014/main" id="{6DF14693-B48A-4675-85F6-91E3B6FD90D7}"/>
              </a:ext>
            </a:extLst>
          </p:cNvPr>
          <p:cNvSpPr>
            <a:spLocks xmlns:a="http://schemas.openxmlformats.org/drawingml/2006/main" noGrp="1"/>
          </p:cNvSpPr>
          <p:nvPr/>
        </p:nvSpPr>
        <p:spPr>
          <a:xfrm xmlns:a="http://schemas.openxmlformats.org/drawingml/2006/main">
            <a:off x="1809750" y="4838700"/>
            <a:ext cx="12192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111111"/>
                </a:solidFill>
                <a:latin typeface="DejaVu Sans"/>
                <a:ea typeface="DejaVu Sans"/>
                <a:cs typeface="DejaVu Sans"/>
              </a:defRPr>
            </a:defPPr>
          </a:lstStyle>
          <a:p xmlns:a="http://schemas.openxmlformats.org/drawingml/2006/main">
            <a:pPr>
              <a:defRPr sz="2550" b="0">
                <a:solidFill>
                  <a:srgbClr val="111111"/>
                </a:solidFill>
                <a:latin typeface="DejaVu Sans"/>
                <a:ea typeface="DejaVu Sans"/>
                <a:cs typeface="DejaVu Sans"/>
              </a:defRPr>
            </a:pPr>
            <a:r>
              <a:rPr sz="2550" b="0">
                <a:solidFill>
                  <a:srgbClr val="111111"/>
                </a:solidFill>
                <a:latin typeface="DejaVu Sans"/>
                <a:ea typeface="DejaVu Sans"/>
                <a:cs typeface="DejaVu Sans"/>
              </a:rPr>
              <a:t>Mengapa cart tetap session? Data belanja belum final</a:t>
            </a:r>
          </a:p>
        </p:txBody>
      </p:sp>
      <p:sp>
        <p:nvSpPr>
          <p:cNvPr id="8" name="index-3">
            <a:extLst xmlns:a="http://schemas.openxmlformats.org/drawingml/2006/main">
              <a:ext uri="{FF2B5EF4-FFF2-40B4-BE49-F238E27FC236}">
                <a16:creationId xmlns:a16="http://schemas.microsoft.com/office/drawing/2014/main" id="{E86E1BE7-A772-48CB-A080-9D00899133AE}"/>
              </a:ext>
            </a:extLst>
          </p:cNvPr>
          <p:cNvSpPr>
            <a:spLocks xmlns:a="http://schemas.openxmlformats.org/drawingml/2006/main" noGrp="1"/>
          </p:cNvSpPr>
          <p:nvPr/>
        </p:nvSpPr>
        <p:spPr>
          <a:xfrm xmlns:a="http://schemas.openxmlformats.org/drawingml/2006/main">
            <a:off x="762000" y="6257925"/>
            <a:ext cx="781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D82929"/>
                </a:solidFill>
                <a:latin typeface="DejaVu Sans"/>
                <a:ea typeface="DejaVu Sans"/>
                <a:cs typeface="DejaVu Sans"/>
              </a:defRPr>
            </a:defPPr>
          </a:lstStyle>
          <a:p xmlns:a="http://schemas.openxmlformats.org/drawingml/2006/main">
            <a:pPr>
              <a:defRPr sz="1875" b="1">
                <a:solidFill>
                  <a:srgbClr val="D82929"/>
                </a:solidFill>
                <a:latin typeface="DejaVu Sans"/>
                <a:ea typeface="DejaVu Sans"/>
                <a:cs typeface="DejaVu Sans"/>
              </a:defRPr>
            </a:pPr>
            <a:r>
              <a:rPr sz="1875" b="1">
                <a:solidFill>
                  <a:srgbClr val="D82929"/>
                </a:solidFill>
                <a:latin typeface="DejaVu Sans"/>
                <a:ea typeface="DejaVu Sans"/>
                <a:cs typeface="DejaVu Sans"/>
              </a:rPr>
              <a:t>04</a:t>
            </a:r>
          </a:p>
        </p:txBody>
      </p:sp>
      <p:sp>
        <p:nvSpPr>
          <p:cNvPr id="9" name="point-3">
            <a:extLst xmlns:a="http://schemas.openxmlformats.org/drawingml/2006/main">
              <a:ext uri="{FF2B5EF4-FFF2-40B4-BE49-F238E27FC236}">
                <a16:creationId xmlns:a16="http://schemas.microsoft.com/office/drawing/2014/main" id="{97857032-30BF-4C0E-8787-BB2F331B2C0D}"/>
              </a:ext>
            </a:extLst>
          </p:cNvPr>
          <p:cNvSpPr>
            <a:spLocks xmlns:a="http://schemas.openxmlformats.org/drawingml/2006/main" noGrp="1"/>
          </p:cNvSpPr>
          <p:nvPr/>
        </p:nvSpPr>
        <p:spPr>
          <a:xfrm xmlns:a="http://schemas.openxmlformats.org/drawingml/2006/main">
            <a:off x="1809750" y="6219825"/>
            <a:ext cx="12192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111111"/>
                </a:solidFill>
                <a:latin typeface="DejaVu Sans"/>
                <a:ea typeface="DejaVu Sans"/>
                <a:cs typeface="DejaVu Sans"/>
              </a:defRPr>
            </a:defPPr>
          </a:lstStyle>
          <a:p xmlns:a="http://schemas.openxmlformats.org/drawingml/2006/main">
            <a:pPr>
              <a:defRPr sz="2550" b="0">
                <a:solidFill>
                  <a:srgbClr val="111111"/>
                </a:solidFill>
                <a:latin typeface="DejaVu Sans"/>
                <a:ea typeface="DejaVu Sans"/>
                <a:cs typeface="DejaVu Sans"/>
              </a:defRPr>
            </a:pPr>
            <a:r>
              <a:rPr sz="2550" b="0">
                <a:solidFill>
                  <a:srgbClr val="111111"/>
                </a:solidFill>
                <a:latin typeface="DejaVu Sans"/>
                <a:ea typeface="DejaVu Sans"/>
                <a:cs typeface="DejaVu Sans"/>
              </a:rPr>
              <a:t>Apakah siap transaksi nyata? Checkout masih simulasi</a:t>
            </a:r>
          </a:p>
        </p:txBody>
      </p:sp>
      <p:sp>
        <p:nvSpPr>
          <p:cNvPr id="10" name="source-label">
            <a:extLst xmlns:a="http://schemas.openxmlformats.org/drawingml/2006/main">
              <a:ext uri="{FF2B5EF4-FFF2-40B4-BE49-F238E27FC236}">
                <a16:creationId xmlns:a16="http://schemas.microsoft.com/office/drawing/2014/main" id="{637F8110-1F5B-4589-B0AD-62F66F48F919}"/>
              </a:ext>
            </a:extLst>
          </p:cNvPr>
          <p:cNvSpPr>
            <a:spLocks xmlns:a="http://schemas.openxmlformats.org/drawingml/2006/main" noGrp="1"/>
          </p:cNvSpPr>
          <p:nvPr/>
        </p:nvSpPr>
        <p:spPr>
          <a:xfrm xmlns:a="http://schemas.openxmlformats.org/drawingml/2006/main">
            <a:off x="762000" y="7981950"/>
            <a:ext cx="1266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62656A"/>
                </a:solidFill>
                <a:latin typeface="DejaVu Sans"/>
                <a:ea typeface="DejaVu Sans"/>
                <a:cs typeface="DejaVu Sans"/>
              </a:defRPr>
            </a:defPPr>
          </a:lstStyle>
          <a:p xmlns:a="http://schemas.openxmlformats.org/drawingml/2006/main">
            <a:pPr>
              <a:defRPr sz="1275" b="0">
                <a:solidFill>
                  <a:srgbClr val="62656A"/>
                </a:solidFill>
                <a:latin typeface="DejaVu Sans"/>
                <a:ea typeface="DejaVu Sans"/>
                <a:cs typeface="DejaVu Sans"/>
              </a:defRPr>
            </a:pPr>
            <a:r>
              <a:rPr sz="1275" b="0">
                <a:solidFill>
                  <a:srgbClr val="62656A"/>
                </a:solidFill>
                <a:latin typeface="DejaVu Sans"/>
                <a:ea typeface="DejaVu Sans"/>
                <a:cs typeface="DejaVu Sans"/>
              </a:rPr>
              <a:t>Source: Source aplikasi; SQL</a:t>
            </a:r>
          </a:p>
        </p:txBody>
      </p:sp>
      <p:sp>
        <p:nvSpPr>
          <p:cNvPr id="11" name="page-number">
            <a:extLst xmlns:a="http://schemas.openxmlformats.org/drawingml/2006/main">
              <a:ext uri="{FF2B5EF4-FFF2-40B4-BE49-F238E27FC236}">
                <a16:creationId xmlns:a16="http://schemas.microsoft.com/office/drawing/2014/main" id="{8D630378-D4E5-491B-A9A3-CE5E8D713D42}"/>
              </a:ext>
            </a:extLst>
          </p:cNvPr>
          <p:cNvSpPr>
            <a:spLocks xmlns:a="http://schemas.openxmlformats.org/drawingml/2006/main" noGrp="1"/>
          </p:cNvSpPr>
          <p:nvPr/>
        </p:nvSpPr>
        <p:spPr>
          <a:xfrm xmlns:a="http://schemas.openxmlformats.org/drawingml/2006/main">
            <a:off x="14097000" y="79819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777777"/>
                </a:solidFill>
                <a:latin typeface="DejaVu Sans"/>
                <a:ea typeface="DejaVu Sans"/>
                <a:cs typeface="DejaVu Sans"/>
              </a:defRPr>
            </a:defPPr>
          </a:lstStyle>
          <a:p xmlns:a="http://schemas.openxmlformats.org/drawingml/2006/main">
            <a:pPr>
              <a:defRPr sz="1350" b="0">
                <a:solidFill>
                  <a:srgbClr val="777777"/>
                </a:solidFill>
                <a:latin typeface="DejaVu Sans"/>
                <a:ea typeface="DejaVu Sans"/>
                <a:cs typeface="DejaVu Sans"/>
              </a:defRPr>
            </a:pPr>
            <a:r>
              <a:rPr sz="1350" b="0">
                <a:solidFill>
                  <a:srgbClr val="777777"/>
                </a:solidFill>
                <a:latin typeface="DejaVu Sans"/>
                <a:ea typeface="DejaVu Sans"/>
                <a:cs typeface="DejaVu Sans"/>
              </a:rPr>
              <a:t>29</a:t>
            </a:r>
          </a:p>
        </p:txBody>
      </p:sp>
    </p:spTree>
    <p:extLst>
      <p:ext uri="{BB962C8B-B14F-4D97-AF65-F5344CB8AC3E}">
        <p14:creationId xmlns:p14="http://schemas.microsoft.com/office/powerpoint/2010/main" val="208730040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4D991C49-CF64-4141-AF37-34E3988D0F9C}"/>
              </a:ext>
            </a:extLst>
          </p:cNvPr>
          <p:cNvSpPr>
            <a:spLocks xmlns:a="http://schemas.openxmlformats.org/drawingml/2006/main" noGrp="1"/>
          </p:cNvSpPr>
          <p:nvPr/>
        </p:nvSpPr>
        <p:spPr>
          <a:xfrm xmlns:a="http://schemas.openxmlformats.org/drawingml/2006/main">
            <a:off x="762000" y="609600"/>
            <a:ext cx="1371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111111"/>
                </a:solidFill>
                <a:latin typeface="DejaVu Sans"/>
                <a:ea typeface="DejaVu Sans"/>
                <a:cs typeface="DejaVu Sans"/>
              </a:defRPr>
            </a:defPPr>
          </a:lstStyle>
          <a:p xmlns:a="http://schemas.openxmlformats.org/drawingml/2006/main">
            <a:pPr>
              <a:defRPr sz="3600" b="1">
                <a:solidFill>
                  <a:srgbClr val="111111"/>
                </a:solidFill>
                <a:latin typeface="DejaVu Sans"/>
                <a:ea typeface="DejaVu Sans"/>
                <a:cs typeface="DejaVu Sans"/>
              </a:defRPr>
            </a:pPr>
            <a:r>
              <a:rPr sz="3600" b="1">
                <a:solidFill>
                  <a:srgbClr val="111111"/>
                </a:solidFill>
                <a:latin typeface="DejaVu Sans"/>
                <a:ea typeface="DejaVu Sans"/>
                <a:cs typeface="DejaVu Sans"/>
              </a:rPr>
              <a:t>Referensi dan penutup</a:t>
            </a:r>
          </a:p>
        </p:txBody>
      </p:sp>
      <p:sp>
        <p:nvSpPr>
          <p:cNvPr id="2" name="index-0">
            <a:extLst xmlns:a="http://schemas.openxmlformats.org/drawingml/2006/main">
              <a:ext uri="{FF2B5EF4-FFF2-40B4-BE49-F238E27FC236}">
                <a16:creationId xmlns:a16="http://schemas.microsoft.com/office/drawing/2014/main" id="{E2BA80A8-59EE-4C78-9712-FB7D3A5C060C}"/>
              </a:ext>
            </a:extLst>
          </p:cNvPr>
          <p:cNvSpPr>
            <a:spLocks xmlns:a="http://schemas.openxmlformats.org/drawingml/2006/main" noGrp="1"/>
          </p:cNvSpPr>
          <p:nvPr/>
        </p:nvSpPr>
        <p:spPr>
          <a:xfrm xmlns:a="http://schemas.openxmlformats.org/drawingml/2006/main">
            <a:off x="762000" y="2114550"/>
            <a:ext cx="781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D82929"/>
                </a:solidFill>
                <a:latin typeface="DejaVu Sans"/>
                <a:ea typeface="DejaVu Sans"/>
                <a:cs typeface="DejaVu Sans"/>
              </a:defRPr>
            </a:defPPr>
          </a:lstStyle>
          <a:p xmlns:a="http://schemas.openxmlformats.org/drawingml/2006/main">
            <a:pPr>
              <a:defRPr sz="1875" b="1">
                <a:solidFill>
                  <a:srgbClr val="D82929"/>
                </a:solidFill>
                <a:latin typeface="DejaVu Sans"/>
                <a:ea typeface="DejaVu Sans"/>
                <a:cs typeface="DejaVu Sans"/>
              </a:defRPr>
            </a:pPr>
            <a:r>
              <a:rPr sz="1875" b="1">
                <a:solidFill>
                  <a:srgbClr val="D82929"/>
                </a:solidFill>
                <a:latin typeface="DejaVu Sans"/>
                <a:ea typeface="DejaVu Sans"/>
                <a:cs typeface="DejaVu Sans"/>
              </a:rPr>
              <a:t>01</a:t>
            </a:r>
          </a:p>
        </p:txBody>
      </p:sp>
      <p:sp>
        <p:nvSpPr>
          <p:cNvPr id="3" name="point-0">
            <a:extLst xmlns:a="http://schemas.openxmlformats.org/drawingml/2006/main">
              <a:ext uri="{FF2B5EF4-FFF2-40B4-BE49-F238E27FC236}">
                <a16:creationId xmlns:a16="http://schemas.microsoft.com/office/drawing/2014/main" id="{2BE4FFB4-999E-44B1-8DB2-3C5A7203DA9C}"/>
              </a:ext>
            </a:extLst>
          </p:cNvPr>
          <p:cNvSpPr>
            <a:spLocks xmlns:a="http://schemas.openxmlformats.org/drawingml/2006/main" noGrp="1"/>
          </p:cNvSpPr>
          <p:nvPr/>
        </p:nvSpPr>
        <p:spPr>
          <a:xfrm xmlns:a="http://schemas.openxmlformats.org/drawingml/2006/main">
            <a:off x="1809750" y="2076450"/>
            <a:ext cx="12192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111111"/>
                </a:solidFill>
                <a:latin typeface="DejaVu Sans"/>
                <a:ea typeface="DejaVu Sans"/>
                <a:cs typeface="DejaVu Sans"/>
              </a:defRPr>
            </a:defPPr>
          </a:lstStyle>
          <a:p xmlns:a="http://schemas.openxmlformats.org/drawingml/2006/main">
            <a:pPr>
              <a:defRPr sz="2550" b="0">
                <a:solidFill>
                  <a:srgbClr val="111111"/>
                </a:solidFill>
                <a:latin typeface="DejaVu Sans"/>
                <a:ea typeface="DejaVu Sans"/>
                <a:cs typeface="DejaVu Sans"/>
              </a:defRPr>
            </a:pPr>
            <a:r>
              <a:rPr sz="2550" b="0">
                <a:solidFill>
                  <a:srgbClr val="111111"/>
                </a:solidFill>
                <a:latin typeface="DejaVu Sans"/>
                <a:ea typeface="DejaVu Sans"/>
                <a:cs typeface="DejaVu Sans"/>
              </a:rPr>
              <a:t>Materi PBW pertemuan 1-7 dari pengguna</a:t>
            </a:r>
          </a:p>
        </p:txBody>
      </p:sp>
      <p:sp>
        <p:nvSpPr>
          <p:cNvPr id="4" name="index-1">
            <a:extLst xmlns:a="http://schemas.openxmlformats.org/drawingml/2006/main">
              <a:ext uri="{FF2B5EF4-FFF2-40B4-BE49-F238E27FC236}">
                <a16:creationId xmlns:a16="http://schemas.microsoft.com/office/drawing/2014/main" id="{E240CD17-7210-4CBD-BFC8-BE35247D1237}"/>
              </a:ext>
            </a:extLst>
          </p:cNvPr>
          <p:cNvSpPr>
            <a:spLocks xmlns:a="http://schemas.openxmlformats.org/drawingml/2006/main" noGrp="1"/>
          </p:cNvSpPr>
          <p:nvPr/>
        </p:nvSpPr>
        <p:spPr>
          <a:xfrm xmlns:a="http://schemas.openxmlformats.org/drawingml/2006/main">
            <a:off x="762000" y="3495675"/>
            <a:ext cx="781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D82929"/>
                </a:solidFill>
                <a:latin typeface="DejaVu Sans"/>
                <a:ea typeface="DejaVu Sans"/>
                <a:cs typeface="DejaVu Sans"/>
              </a:defRPr>
            </a:defPPr>
          </a:lstStyle>
          <a:p xmlns:a="http://schemas.openxmlformats.org/drawingml/2006/main">
            <a:pPr>
              <a:defRPr sz="1875" b="1">
                <a:solidFill>
                  <a:srgbClr val="D82929"/>
                </a:solidFill>
                <a:latin typeface="DejaVu Sans"/>
                <a:ea typeface="DejaVu Sans"/>
                <a:cs typeface="DejaVu Sans"/>
              </a:defRPr>
            </a:pPr>
            <a:r>
              <a:rPr sz="1875" b="1">
                <a:solidFill>
                  <a:srgbClr val="D82929"/>
                </a:solidFill>
                <a:latin typeface="DejaVu Sans"/>
                <a:ea typeface="DejaVu Sans"/>
                <a:cs typeface="DejaVu Sans"/>
              </a:rPr>
              <a:t>02</a:t>
            </a:r>
          </a:p>
        </p:txBody>
      </p:sp>
      <p:sp>
        <p:nvSpPr>
          <p:cNvPr id="5" name="point-1">
            <a:extLst xmlns:a="http://schemas.openxmlformats.org/drawingml/2006/main">
              <a:ext uri="{FF2B5EF4-FFF2-40B4-BE49-F238E27FC236}">
                <a16:creationId xmlns:a16="http://schemas.microsoft.com/office/drawing/2014/main" id="{FEA1F397-B81D-4B42-9682-8F316CB94325}"/>
              </a:ext>
            </a:extLst>
          </p:cNvPr>
          <p:cNvSpPr>
            <a:spLocks xmlns:a="http://schemas.openxmlformats.org/drawingml/2006/main" noGrp="1"/>
          </p:cNvSpPr>
          <p:nvPr/>
        </p:nvSpPr>
        <p:spPr>
          <a:xfrm xmlns:a="http://schemas.openxmlformats.org/drawingml/2006/main">
            <a:off x="1809750" y="3457575"/>
            <a:ext cx="12192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111111"/>
                </a:solidFill>
                <a:latin typeface="DejaVu Sans"/>
                <a:ea typeface="DejaVu Sans"/>
                <a:cs typeface="DejaVu Sans"/>
              </a:defRPr>
            </a:defPPr>
          </a:lstStyle>
          <a:p xmlns:a="http://schemas.openxmlformats.org/drawingml/2006/main">
            <a:pPr>
              <a:defRPr sz="2550" b="0">
                <a:solidFill>
                  <a:srgbClr val="111111"/>
                </a:solidFill>
                <a:latin typeface="DejaVu Sans"/>
                <a:ea typeface="DejaVu Sans"/>
                <a:cs typeface="DejaVu Sans"/>
              </a:defRPr>
            </a:pPr>
            <a:r>
              <a:rPr sz="2550" b="0">
                <a:solidFill>
                  <a:srgbClr val="111111"/>
                </a:solidFill>
                <a:latin typeface="DejaVu Sans"/>
                <a:ea typeface="DejaVu Sans"/>
                <a:cs typeface="DejaVu Sans"/>
              </a:rPr>
              <a:t>UI DOOM REVERSAL dari Downloads.zip</a:t>
            </a:r>
          </a:p>
        </p:txBody>
      </p:sp>
      <p:sp>
        <p:nvSpPr>
          <p:cNvPr id="6" name="index-2">
            <a:extLst xmlns:a="http://schemas.openxmlformats.org/drawingml/2006/main">
              <a:ext uri="{FF2B5EF4-FFF2-40B4-BE49-F238E27FC236}">
                <a16:creationId xmlns:a16="http://schemas.microsoft.com/office/drawing/2014/main" id="{32066A7E-FBBB-4884-B5CA-ACC40206FF88}"/>
              </a:ext>
            </a:extLst>
          </p:cNvPr>
          <p:cNvSpPr>
            <a:spLocks xmlns:a="http://schemas.openxmlformats.org/drawingml/2006/main" noGrp="1"/>
          </p:cNvSpPr>
          <p:nvPr/>
        </p:nvSpPr>
        <p:spPr>
          <a:xfrm xmlns:a="http://schemas.openxmlformats.org/drawingml/2006/main">
            <a:off x="762000" y="4876800"/>
            <a:ext cx="781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D82929"/>
                </a:solidFill>
                <a:latin typeface="DejaVu Sans"/>
                <a:ea typeface="DejaVu Sans"/>
                <a:cs typeface="DejaVu Sans"/>
              </a:defRPr>
            </a:defPPr>
          </a:lstStyle>
          <a:p xmlns:a="http://schemas.openxmlformats.org/drawingml/2006/main">
            <a:pPr>
              <a:defRPr sz="1875" b="1">
                <a:solidFill>
                  <a:srgbClr val="D82929"/>
                </a:solidFill>
                <a:latin typeface="DejaVu Sans"/>
                <a:ea typeface="DejaVu Sans"/>
                <a:cs typeface="DejaVu Sans"/>
              </a:defRPr>
            </a:pPr>
            <a:r>
              <a:rPr sz="1875" b="1">
                <a:solidFill>
                  <a:srgbClr val="D82929"/>
                </a:solidFill>
                <a:latin typeface="DejaVu Sans"/>
                <a:ea typeface="DejaVu Sans"/>
                <a:cs typeface="DejaVu Sans"/>
              </a:rPr>
              <a:t>03</a:t>
            </a:r>
          </a:p>
        </p:txBody>
      </p:sp>
      <p:sp>
        <p:nvSpPr>
          <p:cNvPr id="7" name="point-2">
            <a:extLst xmlns:a="http://schemas.openxmlformats.org/drawingml/2006/main">
              <a:ext uri="{FF2B5EF4-FFF2-40B4-BE49-F238E27FC236}">
                <a16:creationId xmlns:a16="http://schemas.microsoft.com/office/drawing/2014/main" id="{0FCD6FE5-9996-4887-84F4-59D9D1808FAF}"/>
              </a:ext>
            </a:extLst>
          </p:cNvPr>
          <p:cNvSpPr>
            <a:spLocks xmlns:a="http://schemas.openxmlformats.org/drawingml/2006/main" noGrp="1"/>
          </p:cNvSpPr>
          <p:nvPr/>
        </p:nvSpPr>
        <p:spPr>
          <a:xfrm xmlns:a="http://schemas.openxmlformats.org/drawingml/2006/main">
            <a:off x="1809750" y="4838700"/>
            <a:ext cx="12192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111111"/>
                </a:solidFill>
                <a:latin typeface="DejaVu Sans"/>
                <a:ea typeface="DejaVu Sans"/>
                <a:cs typeface="DejaVu Sans"/>
              </a:defRPr>
            </a:defPPr>
          </a:lstStyle>
          <a:p xmlns:a="http://schemas.openxmlformats.org/drawingml/2006/main">
            <a:pPr>
              <a:defRPr sz="2550" b="0">
                <a:solidFill>
                  <a:srgbClr val="111111"/>
                </a:solidFill>
                <a:latin typeface="DejaVu Sans"/>
                <a:ea typeface="DejaVu Sans"/>
                <a:cs typeface="DejaVu Sans"/>
              </a:defRPr>
            </a:pPr>
            <a:r>
              <a:rPr sz="2550" b="0">
                <a:solidFill>
                  <a:srgbClr val="111111"/>
                </a:solidFill>
                <a:latin typeface="DejaVu Sans"/>
                <a:ea typeface="DejaVu Sans"/>
                <a:cs typeface="DejaVu Sans"/>
              </a:rPr>
              <a:t>Source web PHP dan README proyek</a:t>
            </a:r>
          </a:p>
        </p:txBody>
      </p:sp>
      <p:sp>
        <p:nvSpPr>
          <p:cNvPr id="8" name="index-3">
            <a:extLst xmlns:a="http://schemas.openxmlformats.org/drawingml/2006/main">
              <a:ext uri="{FF2B5EF4-FFF2-40B4-BE49-F238E27FC236}">
                <a16:creationId xmlns:a16="http://schemas.microsoft.com/office/drawing/2014/main" id="{579EE764-B9D9-4DFD-B797-3EDD2EDA914D}"/>
              </a:ext>
            </a:extLst>
          </p:cNvPr>
          <p:cNvSpPr>
            <a:spLocks xmlns:a="http://schemas.openxmlformats.org/drawingml/2006/main" noGrp="1"/>
          </p:cNvSpPr>
          <p:nvPr/>
        </p:nvSpPr>
        <p:spPr>
          <a:xfrm xmlns:a="http://schemas.openxmlformats.org/drawingml/2006/main">
            <a:off x="762000" y="6257925"/>
            <a:ext cx="781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D82929"/>
                </a:solidFill>
                <a:latin typeface="DejaVu Sans"/>
                <a:ea typeface="DejaVu Sans"/>
                <a:cs typeface="DejaVu Sans"/>
              </a:defRPr>
            </a:defPPr>
          </a:lstStyle>
          <a:p xmlns:a="http://schemas.openxmlformats.org/drawingml/2006/main">
            <a:pPr>
              <a:defRPr sz="1875" b="1">
                <a:solidFill>
                  <a:srgbClr val="D82929"/>
                </a:solidFill>
                <a:latin typeface="DejaVu Sans"/>
                <a:ea typeface="DejaVu Sans"/>
                <a:cs typeface="DejaVu Sans"/>
              </a:defRPr>
            </a:pPr>
            <a:r>
              <a:rPr sz="1875" b="1">
                <a:solidFill>
                  <a:srgbClr val="D82929"/>
                </a:solidFill>
                <a:latin typeface="DejaVu Sans"/>
                <a:ea typeface="DejaVu Sans"/>
                <a:cs typeface="DejaVu Sans"/>
              </a:rPr>
              <a:t>04</a:t>
            </a:r>
          </a:p>
        </p:txBody>
      </p:sp>
      <p:sp>
        <p:nvSpPr>
          <p:cNvPr id="9" name="point-3">
            <a:extLst xmlns:a="http://schemas.openxmlformats.org/drawingml/2006/main">
              <a:ext uri="{FF2B5EF4-FFF2-40B4-BE49-F238E27FC236}">
                <a16:creationId xmlns:a16="http://schemas.microsoft.com/office/drawing/2014/main" id="{7DD32E54-C658-45FD-9D1C-7B8C4D2E8112}"/>
              </a:ext>
            </a:extLst>
          </p:cNvPr>
          <p:cNvSpPr>
            <a:spLocks xmlns:a="http://schemas.openxmlformats.org/drawingml/2006/main" noGrp="1"/>
          </p:cNvSpPr>
          <p:nvPr/>
        </p:nvSpPr>
        <p:spPr>
          <a:xfrm xmlns:a="http://schemas.openxmlformats.org/drawingml/2006/main">
            <a:off x="1809750" y="6219825"/>
            <a:ext cx="12192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111111"/>
                </a:solidFill>
                <a:latin typeface="DejaVu Sans"/>
                <a:ea typeface="DejaVu Sans"/>
                <a:cs typeface="DejaVu Sans"/>
              </a:defRPr>
            </a:defPPr>
          </a:lstStyle>
          <a:p xmlns:a="http://schemas.openxmlformats.org/drawingml/2006/main">
            <a:pPr>
              <a:defRPr sz="2550" b="0">
                <a:solidFill>
                  <a:srgbClr val="111111"/>
                </a:solidFill>
                <a:latin typeface="DejaVu Sans"/>
                <a:ea typeface="DejaVu Sans"/>
                <a:cs typeface="DejaVu Sans"/>
              </a:defRPr>
            </a:pPr>
            <a:r>
              <a:rPr sz="2550" b="0">
                <a:solidFill>
                  <a:srgbClr val="111111"/>
                </a:solidFill>
                <a:latin typeface="DejaVu Sans"/>
                <a:ea typeface="DejaVu Sans"/>
                <a:cs typeface="DejaVu Sans"/>
              </a:rPr>
              <a:t>Dokumentasi resmi PHP pada catatan tiap topik</a:t>
            </a:r>
          </a:p>
        </p:txBody>
      </p:sp>
      <p:sp>
        <p:nvSpPr>
          <p:cNvPr id="10" name="page-number">
            <a:extLst xmlns:a="http://schemas.openxmlformats.org/drawingml/2006/main">
              <a:ext uri="{FF2B5EF4-FFF2-40B4-BE49-F238E27FC236}">
                <a16:creationId xmlns:a16="http://schemas.microsoft.com/office/drawing/2014/main" id="{3CDFFF28-F270-4B39-A8B2-A431E885B580}"/>
              </a:ext>
            </a:extLst>
          </p:cNvPr>
          <p:cNvSpPr>
            <a:spLocks xmlns:a="http://schemas.openxmlformats.org/drawingml/2006/main" noGrp="1"/>
          </p:cNvSpPr>
          <p:nvPr/>
        </p:nvSpPr>
        <p:spPr>
          <a:xfrm xmlns:a="http://schemas.openxmlformats.org/drawingml/2006/main">
            <a:off x="14097000" y="79819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777777"/>
                </a:solidFill>
                <a:latin typeface="DejaVu Sans"/>
                <a:ea typeface="DejaVu Sans"/>
                <a:cs typeface="DejaVu Sans"/>
              </a:defRPr>
            </a:defPPr>
          </a:lstStyle>
          <a:p xmlns:a="http://schemas.openxmlformats.org/drawingml/2006/main">
            <a:pPr>
              <a:defRPr sz="1350" b="0">
                <a:solidFill>
                  <a:srgbClr val="777777"/>
                </a:solidFill>
                <a:latin typeface="DejaVu Sans"/>
                <a:ea typeface="DejaVu Sans"/>
                <a:cs typeface="DejaVu Sans"/>
              </a:defRPr>
            </a:pPr>
            <a:r>
              <a:rPr sz="1350" b="0">
                <a:solidFill>
                  <a:srgbClr val="777777"/>
                </a:solidFill>
                <a:latin typeface="DejaVu Sans"/>
                <a:ea typeface="DejaVu Sans"/>
                <a:cs typeface="DejaVu Sans"/>
              </a:rPr>
              <a:t>30</a:t>
            </a:r>
          </a:p>
        </p:txBody>
      </p:sp>
    </p:spTree>
    <p:extLst>
      <p:ext uri="{BB962C8B-B14F-4D97-AF65-F5344CB8AC3E}">
        <p14:creationId xmlns:p14="http://schemas.microsoft.com/office/powerpoint/2010/main" val="2902787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2026-10-14T02:26:37.7570000Z</dcterms:created>
  <dcterms:modified xsi:type="dcterms:W3CDTF">2026-10-14T02:26:37.7580000Z</dcterms:modified>
</coreProperties>
</file>